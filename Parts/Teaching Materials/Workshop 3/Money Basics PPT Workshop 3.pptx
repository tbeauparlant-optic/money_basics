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9388475" cy="7102475"/>
  <p:embeddedFontLst>
    <p:embeddedFont>
      <p:font typeface="Bebas Neu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cQ0nee7c1lcw7w8rEGlRQlNKL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6C1A67-B6E2-492B-8340-109BF001AF85}">
  <a:tblStyle styleId="{4B6C1A67-B6E2-492B-8340-109BF001AF8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8EE"/>
          </a:solidFill>
        </a:fill>
      </a:tcStyle>
    </a:wholeTbl>
    <a:band1H>
      <a:tcTxStyle/>
      <a:tcStyle>
        <a:fill>
          <a:solidFill>
            <a:srgbClr val="D0CDDB"/>
          </a:solidFill>
        </a:fill>
      </a:tcStyle>
    </a:band1H>
    <a:band2H>
      <a:tcTxStyle/>
    </a:band2H>
    <a:band1V>
      <a:tcTxStyle/>
      <a:tcStyle>
        <a:fill>
          <a:solidFill>
            <a:srgbClr val="D0CDDB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2F50F74-9505-49BA-A74A-B7596BDC844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BebasNeu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317964" y="0"/>
            <a:ext cx="4068339" cy="356357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650" lIns="93325" spcFirstLastPara="1" rIns="93325" wrap="square" tIns="466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 txBox="1"/>
          <p:nvPr>
            <p:ph idx="12" type="sldNum"/>
          </p:nvPr>
        </p:nvSpPr>
        <p:spPr>
          <a:xfrm>
            <a:off x="5317964" y="6746121"/>
            <a:ext cx="4068339" cy="356356"/>
          </a:xfrm>
          <a:prstGeom prst="rect">
            <a:avLst/>
          </a:prstGeom>
          <a:noFill/>
          <a:ln>
            <a:noFill/>
          </a:ln>
        </p:spPr>
        <p:txBody>
          <a:bodyPr anchorCtr="0" anchor="b" bIns="46650" lIns="93325" spcFirstLastPara="1" rIns="93325" wrap="square" tIns="466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938848" y="3418067"/>
            <a:ext cx="7510780" cy="2796600"/>
          </a:xfrm>
          <a:prstGeom prst="rect">
            <a:avLst/>
          </a:prstGeom>
        </p:spPr>
        <p:txBody>
          <a:bodyPr anchorCtr="0" anchor="t" bIns="46650" lIns="93325" spcFirstLastPara="1" rIns="93325" wrap="square" tIns="4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2563813" y="887413"/>
            <a:ext cx="4260850" cy="23971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7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p17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2" name="Google Shape;32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39" name="Google Shape;3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0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2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20"/>
          <p:cNvCxnSpPr/>
          <p:nvPr/>
        </p:nvCxnSpPr>
        <p:spPr>
          <a:xfrm>
            <a:off x="1207659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48" name="Google Shape;4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1"/>
          <p:cNvSpPr txBox="1"/>
          <p:nvPr>
            <p:ph idx="2" type="body"/>
          </p:nvPr>
        </p:nvSpPr>
        <p:spPr>
          <a:xfrm>
            <a:off x="109728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1"/>
          <p:cNvSpPr txBox="1"/>
          <p:nvPr>
            <p:ph idx="4" type="body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57" name="Google Shape;5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2" name="Google Shape;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3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text, clipart&#10;&#10;Description automatically generated" id="68" name="Google Shape;6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4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4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4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" type="body"/>
          </p:nvPr>
        </p:nvSpPr>
        <p:spPr>
          <a:xfrm>
            <a:off x="4613650" y="731520"/>
            <a:ext cx="6679191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65513" y="6459787"/>
            <a:ext cx="261851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rgbClr val="63705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5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5"/>
          <p:cNvSpPr txBox="1"/>
          <p:nvPr>
            <p:ph type="title"/>
          </p:nvPr>
        </p:nvSpPr>
        <p:spPr>
          <a:xfrm>
            <a:off x="1097280" y="50749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ebas Neu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25"/>
          <p:cNvPicPr preferRelativeResize="0"/>
          <p:nvPr>
            <p:ph idx="2" type="pic"/>
          </p:nvPr>
        </p:nvPicPr>
        <p:blipFill/>
        <p:spPr>
          <a:xfrm>
            <a:off x="17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1097279" y="5907024"/>
            <a:ext cx="10119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 rot="5400000">
            <a:off x="4114799" y="-1171787"/>
            <a:ext cx="4023360" cy="10058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7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7"/>
          <p:cNvSpPr txBox="1"/>
          <p:nvPr>
            <p:ph type="title"/>
          </p:nvPr>
        </p:nvSpPr>
        <p:spPr>
          <a:xfrm rot="5400000">
            <a:off x="7160640" y="1979041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7"/>
          <p:cNvSpPr txBox="1"/>
          <p:nvPr>
            <p:ph idx="1" type="body"/>
          </p:nvPr>
        </p:nvSpPr>
        <p:spPr>
          <a:xfrm rot="5400000">
            <a:off x="1826641" y="-573661"/>
            <a:ext cx="575742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/>
          <p:nvPr>
            <p:ph type="title"/>
          </p:nvPr>
        </p:nvSpPr>
        <p:spPr>
          <a:xfrm>
            <a:off x="609601" y="274638"/>
            <a:ext cx="10970684" cy="1141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Bebas Neue"/>
              <a:buNone/>
              <a:defRPr b="0" sz="3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0"/>
          <p:cNvSpPr txBox="1"/>
          <p:nvPr>
            <p:ph idx="10" type="dt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3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6"/>
          <p:cNvSpPr/>
          <p:nvPr/>
        </p:nvSpPr>
        <p:spPr>
          <a:xfrm>
            <a:off x="1" y="6334316"/>
            <a:ext cx="12192000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Bebas Neue"/>
              <a:buNone/>
              <a:defRPr b="0" i="0" sz="4800" u="none" cap="none" strike="noStrike">
                <a:solidFill>
                  <a:srgbClr val="3F3F3F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BABABA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" name="Google Shape;16;p16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picture containing text, clipart&#10;&#10;Description automatically generated" id="17" name="Google Shape;17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153108" y="6503408"/>
            <a:ext cx="1180309" cy="27147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9" y="2346773"/>
            <a:ext cx="5186983" cy="38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"/>
          <p:cNvSpPr txBox="1"/>
          <p:nvPr/>
        </p:nvSpPr>
        <p:spPr>
          <a:xfrm>
            <a:off x="-1002747" y="2172926"/>
            <a:ext cx="101139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rPr>
              <a:t>WELCOME BACK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000" u="none" cap="none" strike="noStrike">
                <a:solidFill>
                  <a:schemeClr val="accent1"/>
                </a:solidFill>
                <a:latin typeface="Bebas Neue"/>
                <a:ea typeface="Bebas Neue"/>
                <a:cs typeface="Bebas Neue"/>
                <a:sym typeface="Bebas Neue"/>
              </a:rPr>
              <a:t>MONEY BASICS</a:t>
            </a:r>
            <a:endParaRPr i="0" sz="6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625130" y="4513846"/>
            <a:ext cx="6858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Facilitated by: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1 name]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[Facilitator 2 name]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26" name="Google Shape;126;p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type="ctrTitle"/>
          </p:nvPr>
        </p:nvSpPr>
        <p:spPr>
          <a:xfrm>
            <a:off x="1068387" y="768379"/>
            <a:ext cx="10526582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ebas Neue"/>
              <a:buNone/>
            </a:pPr>
            <a:r>
              <a:rPr lang="en-US"/>
              <a:t>Creating a Budget; Resources to Save Money</a:t>
            </a:r>
            <a:endParaRPr/>
          </a:p>
        </p:txBody>
      </p:sp>
      <p:sp>
        <p:nvSpPr>
          <p:cNvPr id="132" name="Google Shape;132;p2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Workshop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400"/>
              <a:buNone/>
            </a:pPr>
            <a:r>
              <a:rPr lang="en-US"/>
              <a:t>PG. 40 IN STUDENT GUIDE</a:t>
            </a:r>
            <a:endParaRPr/>
          </a:p>
        </p:txBody>
      </p:sp>
      <p:sp>
        <p:nvSpPr>
          <p:cNvPr id="133" name="Google Shape;133;p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Welcome Back!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0" name="Google Shape;140;p3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Updates &amp; Sharing: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did the money saving homework go?</a:t>
            </a:r>
            <a:endParaRPr/>
          </a:p>
          <a:p>
            <a:pPr indent="-342900" lvl="1" marL="6355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How did creating a list of monthly expenses go?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Today’s Agenda: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Review your PDP worksheets from last class.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Learn about the different types of expenses (fixed, variable, non-monthly, unexpected).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Follow the steps for creating a personalized, working budget: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Gather all sources of income and all monthly expenses 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Separate expenses into needs vs wants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Fill out a basic budget worksheet</a:t>
            </a:r>
            <a:endParaRPr/>
          </a:p>
          <a:p>
            <a:pPr indent="-342900" lvl="2" marL="7269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Calibri"/>
              <a:buAutoNum type="alphaLcPeriod"/>
            </a:pPr>
            <a:r>
              <a:rPr lang="en-US" sz="1600"/>
              <a:t>Identify expenses to cut back</a:t>
            </a:r>
            <a:endParaRPr/>
          </a:p>
          <a:p>
            <a:pPr indent="-342900" lvl="1" marL="54406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Learn about different national, state, and local money saving resources and how to access them.</a:t>
            </a:r>
            <a:endParaRPr/>
          </a:p>
        </p:txBody>
      </p:sp>
      <p:sp>
        <p:nvSpPr>
          <p:cNvPr id="141" name="Google Shape;141;p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42" name="Google Shape;142;p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Community Agreements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0" name="Google Shape;150;p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Learning Objectives</a:t>
            </a:r>
            <a:endParaRPr/>
          </a:p>
        </p:txBody>
      </p:sp>
      <p:sp>
        <p:nvSpPr>
          <p:cNvPr id="156" name="Google Shape;156;p5"/>
          <p:cNvSpPr txBox="1"/>
          <p:nvPr>
            <p:ph idx="1" type="body"/>
          </p:nvPr>
        </p:nvSpPr>
        <p:spPr>
          <a:xfrm>
            <a:off x="1097280" y="1878764"/>
            <a:ext cx="8056147" cy="3720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 lnSpcReduction="20000"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-1143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Char char=" "/>
            </a:pPr>
            <a:r>
              <a:rPr i="1" lang="en-US" sz="1800"/>
              <a:t>Upon conclusion of Workshop 3, participants will: </a:t>
            </a:r>
            <a:endParaRPr sz="1800"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Understand the definitions of fixed expenses, variable expenses, non-monthly expenses, and unexpected expenses.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Understand the differences between needs and wants and create their own working list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Create a usable budget and commit to working with it for a week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Identify areas in their budgets in which they need to adjust their spending and make a plan to do so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 sz="1800"/>
              <a:t>Have learned at least three new resources in the community for saving money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57" name="Google Shape;157;p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58" name="Google Shape;158;p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3427" y="2295970"/>
            <a:ext cx="2337847" cy="2337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Budgeting Basics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5" name="Google Shape;165;p6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2"/>
                </a:solidFill>
              </a:rPr>
              <a:t>A budget </a:t>
            </a:r>
            <a:r>
              <a:rPr lang="en-US"/>
              <a:t>is a list of income and expenses and is a way to keep track of spending and help you save money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 Important tool for financial success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>
                <a:solidFill>
                  <a:schemeClr val="dk1"/>
                </a:solidFill>
              </a:rPr>
              <a:t>The Different Types of Expenses: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Fixed Expenses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Variable Expenses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Non-monthly Expenses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 Unexpected Expenses</a:t>
            </a:r>
            <a:endParaRPr/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9468" y="2997724"/>
            <a:ext cx="4104540" cy="182694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68" name="Google Shape;168;p6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Examples of non-monthly Expenses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174" name="Google Shape;174;p7"/>
          <p:cNvGraphicFramePr/>
          <p:nvPr/>
        </p:nvGraphicFramePr>
        <p:xfrm>
          <a:off x="1715118" y="18905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{4B6C1A67-B6E2-492B-8340-109BF001AF85}</a:tableStyleId>
              </a:tblPr>
              <a:tblGrid>
                <a:gridCol w="4743625"/>
                <a:gridCol w="4696925"/>
              </a:tblGrid>
              <a:tr h="39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Fixed Non-Monthly Expenses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Variable Non-Monthly Expenses</a:t>
                      </a:r>
                      <a:endParaRPr b="1"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937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Property taxes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AAA; Car registration renewal and tabs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Home/ </a:t>
                      </a:r>
                      <a:r>
                        <a:rPr lang="en-US">
                          <a:latin typeface="Arial"/>
                          <a:ea typeface="Arial"/>
                          <a:cs typeface="Arial"/>
                          <a:sym typeface="Arial"/>
                        </a:rPr>
                        <a:t>renters</a:t>
                      </a: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insurance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Life insurance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Disability insurance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Car insurance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Prescription medications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Child care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Tuition costs, school fees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Bank or credit card fees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Living space maintenance or repair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Car maintenance (new tires, oil change)/repair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Trash service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Water bill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Firewood or propane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Dental or eye care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 Emergency Room visit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-Books, school supplies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-After-school programs, field trips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-Vacation, gifts, entertainment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75" name="Google Shape;175;p7"/>
          <p:cNvSpPr/>
          <p:nvPr/>
        </p:nvSpPr>
        <p:spPr>
          <a:xfrm>
            <a:off x="3063875" y="1938338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77" name="Google Shape;177;p7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Reasons to Create a Budget: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3" name="Google Shape;183;p8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See more clearly where your money goes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Save money towards a particular goal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Give you peace of mind about your finances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Put you in control of your finances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Reduce stress over unpaid or late bills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Pay off debts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/>
              <a:t>Realize your full financial potential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br>
              <a:rPr lang="en-US"/>
            </a:br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6787" y="2088292"/>
            <a:ext cx="4124068" cy="329925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86" name="Google Shape;186;p8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Activity</a:t>
            </a:r>
            <a:endParaRPr>
              <a:solidFill>
                <a:schemeClr val="accent1"/>
              </a:solidFill>
            </a:endParaRPr>
          </a:p>
        </p:txBody>
      </p:sp>
      <p:graphicFrame>
        <p:nvGraphicFramePr>
          <p:cNvPr id="192" name="Google Shape;192;p9"/>
          <p:cNvGraphicFramePr/>
          <p:nvPr/>
        </p:nvGraphicFramePr>
        <p:xfrm>
          <a:off x="5350173" y="19796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{32F50F74-9505-49BA-A74A-B7596BDC844D}</a:tableStyleId>
              </a:tblPr>
              <a:tblGrid>
                <a:gridCol w="2150300"/>
                <a:gridCol w="850525"/>
                <a:gridCol w="2150300"/>
                <a:gridCol w="793750"/>
              </a:tblGrid>
              <a:tr h="1973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Archie Andrews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6D9F1"/>
                    </a:solidFill>
                  </a:tcPr>
                </a:tc>
                <a:tc hMerge="1"/>
                <a:tc hMerge="1"/>
                <a:tc hMerge="1"/>
              </a:tr>
              <a:tr h="1915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Monthly Income: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Monthly Expenses: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Paycheck (after taxes)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$2100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Rent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$800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Other Income: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Electric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$95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Tax return (March)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$600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Cable (with HBO &amp; Showtime)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$120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Christmas bonus (December)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$150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Cell phone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$77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Birthday money (October)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Credit card (minimum)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$95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Overtime 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$320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Landline phone 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Total Annual Income: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$26, 370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Car insurance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$90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Non-monthly Expenses: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High speed Internet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$48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Dog groomer (6 times a year)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$360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Car loan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$190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Annual trip to the beach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$860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Groceries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$120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Heat in winter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$420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Pet food &amp; supplies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$30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Total: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$1640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Dining out: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$140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rowSpan="7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 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Archie has one dog and lives alone in a two-bedroom apartment. He works full time, picking up a two overtime shifts a year. He owes $3960 on his credit card and $4390 on his car loan.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New clothes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Household goods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Toiletries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$70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Starbucks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$95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Gas for car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$60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Barber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$20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5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Total: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$2230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150" marL="681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3" name="Google Shape;193;p9"/>
          <p:cNvSpPr txBox="1"/>
          <p:nvPr/>
        </p:nvSpPr>
        <p:spPr>
          <a:xfrm>
            <a:off x="1097280" y="1979629"/>
            <a:ext cx="416287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Archie is spending more than he is earning.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Help him get back on track by identifying which expenses he should cut and which he should keep.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560" y="3976222"/>
            <a:ext cx="262890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196" name="Google Shape;196;p9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Steps to Create a Personalized Budget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02" name="Google Shape;202;p10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1: </a:t>
            </a:r>
            <a:r>
              <a:rPr b="1" lang="en-US">
                <a:solidFill>
                  <a:schemeClr val="dk2"/>
                </a:solidFill>
              </a:rPr>
              <a:t>Income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Gather every source of income you have coming in each month.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For example: </a:t>
            </a:r>
            <a:endParaRPr/>
          </a:p>
        </p:txBody>
      </p:sp>
      <p:graphicFrame>
        <p:nvGraphicFramePr>
          <p:cNvPr id="203" name="Google Shape;203;p10"/>
          <p:cNvGraphicFramePr/>
          <p:nvPr/>
        </p:nvGraphicFramePr>
        <p:xfrm>
          <a:off x="3060095" y="33197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{4B6C1A67-B6E2-492B-8340-109BF001AF85}</a:tableStyleId>
              </a:tblPr>
              <a:tblGrid>
                <a:gridCol w="2971800"/>
                <a:gridCol w="2971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Source:</a:t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Income:</a:t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Paycheck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$ 1500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SSI/SSDI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$ 600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Yard work for neighbor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$ 100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Pet sitting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 50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Total: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$ 2,250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204" name="Google Shape;204;p10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05" name="Google Shape;205;p10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Bebas Neue"/>
              <a:buNone/>
            </a:pPr>
            <a:r>
              <a:rPr lang="en-US" sz="4000">
                <a:solidFill>
                  <a:schemeClr val="accent1"/>
                </a:solidFill>
              </a:rPr>
              <a:t>Steps to Create a Personalized Budget (continued)</a:t>
            </a:r>
            <a:endParaRPr sz="4000"/>
          </a:p>
        </p:txBody>
      </p:sp>
      <p:sp>
        <p:nvSpPr>
          <p:cNvPr id="211" name="Google Shape;211;p11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2: </a:t>
            </a:r>
            <a:r>
              <a:rPr b="1" lang="en-US">
                <a:solidFill>
                  <a:schemeClr val="dk2"/>
                </a:solidFill>
              </a:rPr>
              <a:t>Regular expenses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Gather all of your regular expenses.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3: </a:t>
            </a:r>
            <a:r>
              <a:rPr b="1" lang="en-US">
                <a:solidFill>
                  <a:schemeClr val="dk2"/>
                </a:solidFill>
              </a:rPr>
              <a:t>Monthly expenses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Gather all of your monthly expenses.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</p:txBody>
      </p:sp>
      <p:graphicFrame>
        <p:nvGraphicFramePr>
          <p:cNvPr id="213" name="Google Shape;213;p11"/>
          <p:cNvGraphicFramePr/>
          <p:nvPr/>
        </p:nvGraphicFramePr>
        <p:xfrm>
          <a:off x="1097280" y="27499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{4B6C1A67-B6E2-492B-8340-109BF001AF85}</a:tableStyleId>
              </a:tblPr>
              <a:tblGrid>
                <a:gridCol w="2189750"/>
                <a:gridCol w="2196900"/>
              </a:tblGrid>
              <a:tr h="51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Type:</a:t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Amount:</a:t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Monthly rent payment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$ 700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Utilities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$ 100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 loan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$ 100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Credit card loan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$ 50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</a:tr>
              <a:tr h="519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Total: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$ 950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1450" marB="61450" marR="61450" marL="61450"/>
                </a:tc>
              </a:tr>
            </a:tbl>
          </a:graphicData>
        </a:graphic>
      </p:graphicFrame>
      <p:graphicFrame>
        <p:nvGraphicFramePr>
          <p:cNvPr id="214" name="Google Shape;214;p11"/>
          <p:cNvGraphicFramePr/>
          <p:nvPr/>
        </p:nvGraphicFramePr>
        <p:xfrm>
          <a:off x="6598508" y="27499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{4B6C1A67-B6E2-492B-8340-109BF001AF85}</a:tableStyleId>
              </a:tblPr>
              <a:tblGrid>
                <a:gridCol w="2516775"/>
                <a:gridCol w="2040400"/>
              </a:tblGrid>
              <a:tr h="389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Type:</a:t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Amount:</a:t>
                      </a:r>
                      <a:endParaRPr b="1"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Groceries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$ 300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Bus fare or gas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$ 75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Prescription medicine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$ 50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Dog food and supplies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$ 20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Eating out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$ 75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Household goods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$ 100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  <a:tr h="389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$ 620</a:t>
                      </a:r>
                      <a:endParaRPr sz="15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215" name="Google Shape;215;p11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16" name="Google Shape;216;p11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64191"/>
              </a:buClr>
              <a:buSzPts val="4000"/>
              <a:buFont typeface="Bebas Neue"/>
              <a:buNone/>
            </a:pPr>
            <a:r>
              <a:rPr lang="en-US" sz="4000">
                <a:solidFill>
                  <a:srgbClr val="564191"/>
                </a:solidFill>
              </a:rPr>
              <a:t>Steps to Create a Personalized Budget (continued)</a:t>
            </a:r>
            <a:endParaRPr/>
          </a:p>
        </p:txBody>
      </p:sp>
      <p:sp>
        <p:nvSpPr>
          <p:cNvPr id="222" name="Google Shape;222;p12"/>
          <p:cNvSpPr txBox="1"/>
          <p:nvPr>
            <p:ph idx="1" type="body"/>
          </p:nvPr>
        </p:nvSpPr>
        <p:spPr>
          <a:xfrm>
            <a:off x="1097280" y="1845734"/>
            <a:ext cx="548887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4: </a:t>
            </a:r>
            <a:r>
              <a:rPr b="1" lang="en-US">
                <a:solidFill>
                  <a:schemeClr val="dk2"/>
                </a:solidFill>
              </a:rPr>
              <a:t>Needs vs. Wants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Separate your list of expenses into needs and wants. Identify possible areas to cut.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b="1" lang="en-US"/>
              <a:t>Step 5: </a:t>
            </a:r>
            <a:r>
              <a:rPr b="1" lang="en-US">
                <a:solidFill>
                  <a:schemeClr val="dk2"/>
                </a:solidFill>
              </a:rPr>
              <a:t>Fill out your budget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Enter your income and expenses into the budgeting worksheet in your Student Guide.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See if you have any money left over after bills and other expenses are paid. If not, brainstorm areas to cut.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</p:txBody>
      </p:sp>
      <p:pic>
        <p:nvPicPr>
          <p:cNvPr id="223" name="Google Shape;2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649" y="1845733"/>
            <a:ext cx="5123935" cy="391251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2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25" name="Google Shape;225;p12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Resources for Saving Money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1" name="Google Shape;231;p13"/>
          <p:cNvSpPr txBox="1"/>
          <p:nvPr>
            <p:ph idx="1" type="body"/>
          </p:nvPr>
        </p:nvSpPr>
        <p:spPr>
          <a:xfrm>
            <a:off x="1097280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Federal &amp; state resources</a:t>
            </a:r>
            <a:r>
              <a:rPr lang="en-US"/>
              <a:t>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SNAP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SSI/SSDI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Medicare &amp; Medicaid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VA Benefits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Individual Development Accounts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Medication Assistance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Reduced bus fare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Reduced Internet costs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Free or reduced clinics</a:t>
            </a:r>
            <a:endParaRPr/>
          </a:p>
        </p:txBody>
      </p:sp>
      <p:sp>
        <p:nvSpPr>
          <p:cNvPr id="232" name="Google Shape;232;p13"/>
          <p:cNvSpPr txBox="1"/>
          <p:nvPr>
            <p:ph idx="2" type="body"/>
          </p:nvPr>
        </p:nvSpPr>
        <p:spPr>
          <a:xfrm>
            <a:off x="6217920" y="1845737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Local &amp; community resources:</a:t>
            </a:r>
            <a:endParaRPr b="1"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Mutual aid funds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Free food pantries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Farmer’s markets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Clothing swaps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Buy Nothing Project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Library books/movies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Community Credit Unions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Second-hand stores</a:t>
            </a:r>
            <a:endParaRPr/>
          </a:p>
        </p:txBody>
      </p:sp>
      <p:sp>
        <p:nvSpPr>
          <p:cNvPr id="233" name="Google Shape;233;p13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34" name="Google Shape;234;p13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Discussion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0" name="Google Shape;240;p14"/>
          <p:cNvSpPr txBox="1"/>
          <p:nvPr>
            <p:ph idx="1" type="body"/>
          </p:nvPr>
        </p:nvSpPr>
        <p:spPr>
          <a:xfrm>
            <a:off x="1097279" y="1845734"/>
            <a:ext cx="10058401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i="1" lang="en-US"/>
              <a:t>What are some additional resources you have used or know of that can help people save money?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6775" y="3073138"/>
            <a:ext cx="6688834" cy="250753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4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43" name="Google Shape;243;p14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 txBox="1"/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Bebas Neue"/>
              <a:buNone/>
            </a:pPr>
            <a:r>
              <a:rPr lang="en-US">
                <a:solidFill>
                  <a:schemeClr val="accent1"/>
                </a:solidFill>
              </a:rPr>
              <a:t>Wrap-Up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49" name="Google Shape;249;p15"/>
          <p:cNvSpPr txBox="1"/>
          <p:nvPr>
            <p:ph idx="1" type="body"/>
          </p:nvPr>
        </p:nvSpPr>
        <p:spPr>
          <a:xfrm>
            <a:off x="1097279" y="1845734"/>
            <a:ext cx="7366237" cy="4130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Thank you all for your participation today!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Are there any questions?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>
                <a:solidFill>
                  <a:schemeClr val="accent2"/>
                </a:solidFill>
              </a:rPr>
              <a:t>Homework: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Choose </a:t>
            </a:r>
            <a:r>
              <a:rPr b="1" lang="en-US"/>
              <a:t>one</a:t>
            </a:r>
            <a:r>
              <a:rPr lang="en-US"/>
              <a:t> </a:t>
            </a:r>
            <a:r>
              <a:rPr b="1" lang="en-US"/>
              <a:t>more </a:t>
            </a:r>
            <a:r>
              <a:rPr lang="en-US"/>
              <a:t>money saving idea and commit to it for the week. Keep track of which ideas are going well and which are not. 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Commit to using your </a:t>
            </a:r>
            <a:r>
              <a:rPr b="1" lang="en-US"/>
              <a:t>personalized budget </a:t>
            </a:r>
            <a:r>
              <a:rPr lang="en-US"/>
              <a:t>for the next week.</a:t>
            </a:r>
            <a:endParaRPr/>
          </a:p>
          <a:p>
            <a:pPr indent="-457200" lvl="1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alibri"/>
              <a:buAutoNum type="alphaLcPeriod"/>
            </a:pPr>
            <a:r>
              <a:rPr lang="en-US"/>
              <a:t>F</a:t>
            </a:r>
            <a:r>
              <a:rPr lang="en-US" sz="1800"/>
              <a:t>ind </a:t>
            </a:r>
            <a:r>
              <a:rPr b="1" lang="en-US" sz="1800"/>
              <a:t>one community resource </a:t>
            </a:r>
            <a:r>
              <a:rPr lang="en-US" sz="1800"/>
              <a:t>that could help save money and be prepared to share it </a:t>
            </a:r>
            <a:r>
              <a:rPr lang="en-US"/>
              <a:t>next class.</a:t>
            </a:r>
            <a:endParaRPr sz="1800"/>
          </a:p>
        </p:txBody>
      </p:sp>
      <p:pic>
        <p:nvPicPr>
          <p:cNvPr id="250" name="Google Shape;2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3516" y="2515069"/>
            <a:ext cx="2989521" cy="204430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5"/>
          <p:cNvSpPr txBox="1"/>
          <p:nvPr>
            <p:ph idx="11" type="ftr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MENTAL HEALTH &amp; ADDICTION ASSOCIATION OF OREGON</a:t>
            </a:r>
            <a:endParaRPr/>
          </a:p>
        </p:txBody>
      </p:sp>
      <p:sp>
        <p:nvSpPr>
          <p:cNvPr id="252" name="Google Shape;252;p15"/>
          <p:cNvSpPr txBox="1"/>
          <p:nvPr>
            <p:ph idx="12" type="sldNum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Custom 1">
      <a:dk1>
        <a:srgbClr val="000000"/>
      </a:dk1>
      <a:lt1>
        <a:srgbClr val="FFFFFF"/>
      </a:lt1>
      <a:dk2>
        <a:srgbClr val="024B73"/>
      </a:dk2>
      <a:lt2>
        <a:srgbClr val="9DC541"/>
      </a:lt2>
      <a:accent1>
        <a:srgbClr val="564191"/>
      </a:accent1>
      <a:accent2>
        <a:srgbClr val="9DC541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2021-11-09T00:18:20Z</dcterms:created>
  <dc:creator>MHAOLADMIN</dc:creator>
</cp:coreProperties>
</file>