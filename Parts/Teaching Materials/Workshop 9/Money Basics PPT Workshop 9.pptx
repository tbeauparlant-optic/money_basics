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9388475" cy="7102475"/>
  <p:embeddedFontLst>
    <p:embeddedFont>
      <p:font typeface="Bebas Neu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j/gTz6FS8dHi/r58KYvqGGi9Wv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BebasNeue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21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9" name="Google Shape;3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4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24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5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9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9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9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9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3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1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2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3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4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4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0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2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012" y="2552856"/>
            <a:ext cx="5013988" cy="376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664717" y="2494110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68387" y="768379"/>
            <a:ext cx="1052658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How to File Taxes &amp; Resources for Doing So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153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939114" y="1845734"/>
            <a:ext cx="10775091" cy="4221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Updates &amp; Sharing:</a:t>
            </a:r>
            <a:endParaRPr/>
          </a:p>
          <a:p>
            <a:pPr indent="-35198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00"/>
              <a:buFont typeface="Calibri"/>
              <a:buAutoNum type="arabicPeriod"/>
            </a:pPr>
            <a:r>
              <a:rPr lang="en-US" sz="1900"/>
              <a:t>How did the money saving homework go?</a:t>
            </a:r>
            <a:endParaRPr/>
          </a:p>
          <a:p>
            <a:pPr indent="-35198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Calibri"/>
              <a:buAutoNum type="arabicPeriod"/>
            </a:pPr>
            <a:r>
              <a:rPr lang="en-US" sz="1900"/>
              <a:t>How are your budgets going?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Today’s Agenda: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Recognize that filing taxes can be confusing and stressful for many of us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why we file taxes, where our tax dollars go, and the difference between federal and state taxes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common tax forms and tax terms, and how to file a federal income tax return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free resources available to help someone file their state and federal tax returns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common tax deductions and tax credits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IRS payment options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Learn about tax extensions and back taxes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1097275" y="2182675"/>
            <a:ext cx="8056200" cy="3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9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544"/>
          </a:p>
          <a:p>
            <a:pPr indent="-98087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Char char=" "/>
            </a:pPr>
            <a:r>
              <a:rPr i="1" lang="en-US" sz="1544"/>
              <a:t>Upon conclusion of Workshop 9, participants will: </a:t>
            </a:r>
            <a:endParaRPr sz="15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Have a basic understanding of why we file taxes and the differences between state and federal taxes</a:t>
            </a:r>
            <a:endParaRPr sz="17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Have a basic understanding of common tax forms and common tax terms</a:t>
            </a:r>
            <a:endParaRPr sz="17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Understand the process of filing federal income tax returns and the information required to do so</a:t>
            </a:r>
            <a:endParaRPr sz="17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Know new resources to help them file taxes</a:t>
            </a:r>
            <a:endParaRPr sz="17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Know the different options for paying federal income taxes</a:t>
            </a:r>
            <a:endParaRPr sz="1744"/>
          </a:p>
          <a:p>
            <a:pPr indent="-335259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45"/>
              <a:buFont typeface="Calibri"/>
              <a:buAutoNum type="arabicPeriod"/>
            </a:pPr>
            <a:r>
              <a:rPr lang="en-US" sz="1544"/>
              <a:t>Know how to get a tax extension and know the dangers of back taxes.</a:t>
            </a:r>
            <a:endParaRPr sz="1744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9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9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900"/>
          </a:p>
        </p:txBody>
      </p:sp>
      <p:sp>
        <p:nvSpPr>
          <p:cNvPr id="153" name="Google Shape;153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3427" y="2295970"/>
            <a:ext cx="2337847" cy="2337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Taxes &amp; Mental Health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1097280" y="1845734"/>
            <a:ext cx="10233866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i="1" lang="en-US"/>
              <a:t>What, if any, has your experience been with filing and paying taxes? How have taxes affected your mental health?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br>
              <a:rPr lang="en-US"/>
            </a:br>
            <a:endParaRPr/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9731" y="3246127"/>
            <a:ext cx="4651651" cy="1749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9692" y="2589253"/>
            <a:ext cx="4972522" cy="280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Tax Basics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1097281" y="1979936"/>
            <a:ext cx="662569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Why do we pay taxes?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To support local, state, and federal infrastructure and public services.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What are some examples of infrastructure and public services that tax dollars provide?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663247" y="447210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Income Taxes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There are 3 types of taxes: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Taxes on the sales of certain goods and services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Taxes on workers’ paychecks and income – what we are focusing 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Taxes on people’s property and estates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Progressive tax systems: </a:t>
            </a:r>
            <a:r>
              <a:rPr lang="en-US"/>
              <a:t>higher income brackets are taxed more than lower income brackets (the tax burden is higher for people with more money)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Flat tax systems: </a:t>
            </a:r>
            <a:r>
              <a:rPr lang="en-US"/>
              <a:t>all income levels are taxed at the same rate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Regressive tax systems: </a:t>
            </a:r>
            <a:r>
              <a:rPr lang="en-US"/>
              <a:t>higher income brackets are not taxed more, putting the tax burden on people with lower incomes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Common Tax Forms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2" name="Google Shape;182;p10"/>
          <p:cNvSpPr txBox="1"/>
          <p:nvPr>
            <p:ph idx="1" type="body"/>
          </p:nvPr>
        </p:nvSpPr>
        <p:spPr>
          <a:xfrm>
            <a:off x="1222438" y="1988988"/>
            <a:ext cx="4802803" cy="381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W-2 Form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You’ll receive your W-2 form in the mail from your employer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Shows your payroll taxes (the amount in taxes withheld from your wages) and how much your employer paid you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br>
              <a:rPr lang="en-US"/>
            </a:br>
            <a:endParaRPr/>
          </a:p>
        </p:txBody>
      </p:sp>
      <p:pic>
        <p:nvPicPr>
          <p:cNvPr descr="W-2 Form Overview: Line-by-Line Guide to Form W-2"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241" y="2335426"/>
            <a:ext cx="5827033" cy="327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Common Tax Forms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9" name="Google Shape;189;p9"/>
          <p:cNvSpPr txBox="1"/>
          <p:nvPr>
            <p:ph idx="1" type="body"/>
          </p:nvPr>
        </p:nvSpPr>
        <p:spPr>
          <a:xfrm>
            <a:off x="1097280" y="1845734"/>
            <a:ext cx="637220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Form 1040: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For filling out your federal income tax return each year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Calculates your total taxable income and determines how much should be paid to or refunded by the government</a:t>
            </a:r>
            <a:endParaRPr/>
          </a:p>
        </p:txBody>
      </p:sp>
      <p:pic>
        <p:nvPicPr>
          <p:cNvPr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9475" y="1523275"/>
            <a:ext cx="4489950" cy="420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Common Tax Forms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-2664095" y="185351"/>
            <a:ext cx="228372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1097280" y="1845734"/>
            <a:ext cx="6363908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W-4 Form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What you fill out when you start a job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You indicate the number of allowances you would like to claim and the amount of money you would like withheld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Helps your employer determine your withholding status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You also state your filing status, the number of dependents you will claim, and whether you work multiple jobs</a:t>
            </a:r>
            <a:endParaRPr/>
          </a:p>
        </p:txBody>
      </p:sp>
      <p:pic>
        <p:nvPicPr>
          <p:cNvPr id="198" name="Google Shape;1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1187" y="289811"/>
            <a:ext cx="4483678" cy="5962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Common Tax Terms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4" name="Google Shape;204;p12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Filing Status: </a:t>
            </a:r>
            <a:r>
              <a:rPr lang="en-US"/>
              <a:t>depends on your marital status and whether you are filing together or separately with your spouse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Deductions: </a:t>
            </a:r>
            <a:r>
              <a:rPr lang="en-US"/>
              <a:t>reduce the amount of taxes you owe by lowering your total income</a:t>
            </a:r>
            <a:endParaRPr/>
          </a:p>
          <a:p>
            <a:pPr indent="-182879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Standard vs itemized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Credits: </a:t>
            </a:r>
            <a:r>
              <a:rPr lang="en-US"/>
              <a:t>also reduce the amount of taxes you owe</a:t>
            </a:r>
            <a:endParaRPr b="1"/>
          </a:p>
          <a:p>
            <a:pPr indent="-182879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Earned Income Tax Credit (EITC)</a:t>
            </a:r>
            <a:endParaRPr/>
          </a:p>
          <a:p>
            <a:pPr indent="-1828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Child Tax Credit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Dependent: </a:t>
            </a:r>
            <a:r>
              <a:rPr lang="en-US"/>
              <a:t>a child or other relative a taxpayer cares for and can receive a tax exemption for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Self-employment tax: </a:t>
            </a:r>
            <a:r>
              <a:rPr lang="en-US"/>
              <a:t>the portion of your income you owe to Social Security and Medicare if you are self-employed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Payroll taxes:</a:t>
            </a:r>
            <a:r>
              <a:rPr lang="en-US"/>
              <a:t> taxes withheld by your employer from your paycheck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How to File a Federal Income Tax Return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0" name="Google Shape;210;p13"/>
          <p:cNvSpPr txBox="1"/>
          <p:nvPr>
            <p:ph idx="1" type="body"/>
          </p:nvPr>
        </p:nvSpPr>
        <p:spPr>
          <a:xfrm>
            <a:off x="1097280" y="1981658"/>
            <a:ext cx="762659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Step 1: </a:t>
            </a:r>
            <a:r>
              <a:rPr lang="en-US"/>
              <a:t>Gather required tax documents (W-2 form, receipts, other sources of income and expenses) and determine how much money you made the previous year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Step 2: </a:t>
            </a:r>
            <a:r>
              <a:rPr lang="en-US"/>
              <a:t>Choose your filing status and decide if you are standardizing or itemizing your deductions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Step 3</a:t>
            </a:r>
            <a:r>
              <a:rPr lang="en-US"/>
              <a:t>: Determine if you are claiming any dependents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Step 4: </a:t>
            </a:r>
            <a:r>
              <a:rPr lang="en-US"/>
              <a:t>Determine any tax deductions and credits you may qualify for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Step 5: </a:t>
            </a:r>
            <a:r>
              <a:rPr lang="en-US"/>
              <a:t>Decide how you’d like to file and submit your taxes (print forms and mail them, fill them out electronically, file with a tax filing service or provider, etc.)</a:t>
            </a:r>
            <a:endParaRPr/>
          </a:p>
        </p:txBody>
      </p:sp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9794" y="2866767"/>
            <a:ext cx="3025385" cy="201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Resources for Filing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 IRS Free File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 Volunteer Income Tax Assistance (VITA)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 Tax Counseling for the Elderly (TCE)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Additional resources on the IRS website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934" y="2465446"/>
            <a:ext cx="5221883" cy="287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Claiming Deductions and Credits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4" name="Google Shape;224;p15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Common Deductions &amp; Credits: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American Opportunity Tax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Student Loan Interest Deduction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Lifetime Learning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Child Tax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Child and Dependent Care Tax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Earned Income Tax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Charitable Donations Deduction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15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 startAt="8"/>
            </a:pPr>
            <a:r>
              <a:rPr lang="en-US"/>
              <a:t>Medical Expenses Deduction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rabicPeriod" startAt="8"/>
            </a:pPr>
            <a:r>
              <a:rPr lang="en-US"/>
              <a:t>Deduction for state and local taxes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rabicPeriod" startAt="8"/>
            </a:pPr>
            <a:r>
              <a:rPr lang="en-US"/>
              <a:t>Self-employment Expenses Deduction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rabicPeriod" startAt="8"/>
            </a:pPr>
            <a:r>
              <a:rPr lang="en-US"/>
              <a:t>Saver’s Credit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rabicPeriod" startAt="8"/>
            </a:pPr>
            <a:r>
              <a:rPr lang="en-US"/>
              <a:t>Educator Expenses Deduction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When to itemize vs take the standard deduction?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Choose the option that will save you the most money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Owing Taxes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Reasons for owing taxes instead of getting a tax refund: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Withholding too little from your paycheck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Filing late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Changes in tax code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Your income was higher than the previous year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Changes in deductions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Payment Options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Sign up for a payment plan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Request a temporary delay in collection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See if you qualify for an </a:t>
            </a:r>
            <a:r>
              <a:rPr i="1" lang="en-US"/>
              <a:t>offer in compromise </a:t>
            </a:r>
            <a:r>
              <a:rPr lang="en-US"/>
              <a:t>– a way to settle your debt for less than the full amount.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074" y="3561218"/>
            <a:ext cx="4050957" cy="212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Other Important Things to Note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The IRS Tax Filing Deadline: </a:t>
            </a:r>
            <a:r>
              <a:rPr lang="en-US"/>
              <a:t>April 15 or the next business day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Tax Extensions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You can request a tax extension from the IRS if you cannot file by April 15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Back Taxes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Taxes that have been partially or wholly unpaid the year they were due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Accumulate interest and penalties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0" name="Google Shape;250;p19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 today!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more </a:t>
            </a:r>
            <a:r>
              <a:rPr lang="en-US"/>
              <a:t>money saving idea and commit to it for the week. Keep track of which ideas are going well and which are not.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Commit to using your </a:t>
            </a:r>
            <a:r>
              <a:rPr b="1" lang="en-US"/>
              <a:t>personalized budget </a:t>
            </a:r>
            <a:r>
              <a:rPr lang="en-US"/>
              <a:t>for the next week. Revise if needed.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Brainstorm any achievable </a:t>
            </a:r>
            <a:r>
              <a:rPr b="1" lang="en-US"/>
              <a:t>financial goals</a:t>
            </a:r>
            <a:r>
              <a:rPr lang="en-US"/>
              <a:t> you would like to save up towards.</a:t>
            </a:r>
            <a:endParaRPr/>
          </a:p>
          <a:p>
            <a:pPr indent="-3429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1" name="Google Shape;2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3516" y="2515069"/>
            <a:ext cx="2989521" cy="204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