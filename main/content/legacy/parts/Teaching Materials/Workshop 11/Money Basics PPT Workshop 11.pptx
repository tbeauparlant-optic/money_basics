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9388475" cy="7102475"/>
  <p:embeddedFontLst>
    <p:embeddedFont>
      <p:font typeface="Bebas Neue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5" roundtripDataSignature="AMtx7miVAQ/K0xqlE3a33CdRPhH978WR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Bebas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7964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1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6" name="Google Shape;2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2" name="Google Shape;3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3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3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13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41" name="Google Shape;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48" name="Google Shape;4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5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5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57" name="Google Shape;5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2" name="Google Shape;6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8" name="Google Shape;6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4613650" y="731520"/>
            <a:ext cx="6679191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9"/>
          <p:cNvSpPr txBox="1"/>
          <p:nvPr>
            <p:ph type="title"/>
          </p:nvPr>
        </p:nvSpPr>
        <p:spPr>
          <a:xfrm>
            <a:off x="1097280" y="50749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19"/>
          <p:cNvPicPr preferRelativeResize="0"/>
          <p:nvPr>
            <p:ph idx="2" type="pic"/>
          </p:nvPr>
        </p:nvPicPr>
        <p:blipFill/>
        <p:spPr>
          <a:xfrm>
            <a:off x="17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1097279" y="5907024"/>
            <a:ext cx="10119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 rot="5400000">
            <a:off x="4114799" y="-1171787"/>
            <a:ext cx="4023360" cy="10058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1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 rot="5400000">
            <a:off x="7160640" y="1979041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 rot="5400000">
            <a:off x="1826641" y="-573661"/>
            <a:ext cx="5757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609601" y="274638"/>
            <a:ext cx="10970684" cy="1141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ebas Neue"/>
              <a:buNone/>
              <a:defRPr b="0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0"/>
          <p:cNvSpPr/>
          <p:nvPr/>
        </p:nvSpPr>
        <p:spPr>
          <a:xfrm>
            <a:off x="1" y="6334316"/>
            <a:ext cx="12192000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  <a:defRPr b="0" i="0" sz="4800" u="none" cap="none" strike="noStrike">
                <a:solidFill>
                  <a:srgbClr val="3F3F3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0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17" name="Google Shape;17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129" y="2898084"/>
            <a:ext cx="4475355" cy="335651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-817396" y="2476000"/>
            <a:ext cx="10113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WELCOME BACK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MONEY BASICS</a:t>
            </a:r>
            <a:endParaRPr i="0" sz="6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625130" y="4513846"/>
            <a:ext cx="68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Facilitated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1 name]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2 name]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ctrTitle"/>
          </p:nvPr>
        </p:nvSpPr>
        <p:spPr>
          <a:xfrm>
            <a:off x="1068387" y="768379"/>
            <a:ext cx="1052658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</a:pPr>
            <a:r>
              <a:rPr lang="en-US"/>
              <a:t>Course Graduation</a:t>
            </a:r>
            <a:endParaRPr/>
          </a:p>
        </p:txBody>
      </p:sp>
      <p:sp>
        <p:nvSpPr>
          <p:cNvPr id="132" name="Google Shape;13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Workshop 11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Reflections &amp; Graduation</a:t>
            </a:r>
            <a:endParaRPr/>
          </a:p>
        </p:txBody>
      </p:sp>
      <p:sp>
        <p:nvSpPr>
          <p:cNvPr id="133" name="Google Shape;133;p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Welcome Back!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1198605" y="1845734"/>
            <a:ext cx="7809470" cy="4221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Congratulations on finishing MHAAO’s </a:t>
            </a:r>
            <a:r>
              <a:rPr b="1" lang="en-US">
                <a:solidFill>
                  <a:schemeClr val="dk2"/>
                </a:solidFill>
              </a:rPr>
              <a:t>Money Basics!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You should feel proud of yourself for your commitment to this course and for all the hard work you put in.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Thank you </a:t>
            </a:r>
            <a:r>
              <a:rPr lang="en-US"/>
              <a:t>for your dedication, your participation, your kindness and support of one another, and for your thoughtful questions and comments.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Updates &amp; Sharing: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did the money saving homework go?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are your budgets going?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are your savings plans going?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0257" y="3855307"/>
            <a:ext cx="3900199" cy="19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Course Reflections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7" name="Google Shape;147;p4"/>
          <p:cNvSpPr txBox="1"/>
          <p:nvPr>
            <p:ph idx="1" type="body"/>
          </p:nvPr>
        </p:nvSpPr>
        <p:spPr>
          <a:xfrm>
            <a:off x="1097280" y="1845734"/>
            <a:ext cx="9480104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Please fill out these forms so we can improve future Money Basics classes: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Post-Class Questionnaire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Class Evaluation Form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br>
              <a:rPr lang="en-US"/>
            </a:br>
            <a:endParaRPr/>
          </a:p>
        </p:txBody>
      </p:sp>
      <p:pic>
        <p:nvPicPr>
          <p:cNvPr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533" y="3427399"/>
            <a:ext cx="4061072" cy="126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Thoughts &amp; Beliefs about Money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4" name="Google Shape;154;p5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65760" lvl="0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Going back to Workshop 1, what thoughts and beliefs about money did you come into this course with?</a:t>
            </a:r>
            <a:endParaRPr/>
          </a:p>
          <a:p>
            <a:pPr indent="-238759" lvl="0" marL="3657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/>
          </a:p>
          <a:p>
            <a:pPr indent="-365760" lvl="0" marL="3657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Have any of these thoughts, beliefs or emotions changed?</a:t>
            </a:r>
            <a:endParaRPr/>
          </a:p>
          <a:p>
            <a:pPr indent="-238759" lvl="0" marL="3657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/>
          </a:p>
          <a:p>
            <a:pPr indent="-365760" lvl="0" marL="3657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Looking back on what you wrote for how you would </a:t>
            </a:r>
            <a:r>
              <a:rPr i="1" lang="en-US"/>
              <a:t>like</a:t>
            </a:r>
            <a:r>
              <a:rPr lang="en-US"/>
              <a:t> to feel about money, do you feel any of these emotions today after finishing this financial empowerment course?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Course Goals &amp; Individual Goals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New knowledge &amp; skills: </a:t>
            </a:r>
            <a:r>
              <a:rPr lang="en-US"/>
              <a:t>Participants will leave the course with increased knowledge and improved skills relating to money and finances.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Confidence: </a:t>
            </a:r>
            <a:r>
              <a:rPr lang="en-US"/>
              <a:t>Participants will have greater confidence handling their finances.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Financial goals &amp; a plan to achieve them: </a:t>
            </a:r>
            <a:r>
              <a:rPr lang="en-US"/>
              <a:t>Participants will have healthy financial goals and habits and will be able to question and reflect on their current financial situation so they can strategize ways to improve it.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Reduced financial stress</a:t>
            </a:r>
            <a:r>
              <a:rPr b="1" lang="en-US"/>
              <a:t>: </a:t>
            </a:r>
            <a:r>
              <a:rPr lang="en-US"/>
              <a:t>Participants’ feelings of shame or hopelessness around money and financial situations are reduced as they learn new information and skills in a safe environment.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i="1" lang="en-US"/>
              <a:t>Do you feel you’ve achieved these course goals? What about your individual course goals from Workshop 1?</a:t>
            </a:r>
            <a:endParaRPr i="1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Discussion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1097279" y="1845734"/>
            <a:ext cx="1025857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What is at least one thing you learned in this course you found valuable or helpful?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Is there anything you particularly liked or didn’t like that you would like to share?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0909" y="3188950"/>
            <a:ext cx="7149284" cy="2680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Q&amp;A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3" name="Google Shape;173;p8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Any additional questions relating to what we covered in this course or other money and personal finance-related questions?</a:t>
            </a:r>
            <a:endParaRPr/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103" y="2747211"/>
            <a:ext cx="5630562" cy="2963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Wrap-Up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0" name="Google Shape;180;p9"/>
          <p:cNvSpPr txBox="1"/>
          <p:nvPr>
            <p:ph idx="1" type="body"/>
          </p:nvPr>
        </p:nvSpPr>
        <p:spPr>
          <a:xfrm>
            <a:off x="1097279" y="1845734"/>
            <a:ext cx="7366237" cy="41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Thank you </a:t>
            </a:r>
            <a:r>
              <a:rPr lang="en-US"/>
              <a:t>for showing up for this course and attending each workshop.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Congratulations</a:t>
            </a:r>
            <a:r>
              <a:rPr b="1" lang="en-US"/>
              <a:t> </a:t>
            </a:r>
            <a:r>
              <a:rPr lang="en-US"/>
              <a:t>on completing this course, learning and growing with your peers, and taking these positive steps towards financial resilience and improving the relationship you have with money!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3516" y="2085967"/>
            <a:ext cx="2920314" cy="3650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024B73"/>
      </a:dk2>
      <a:lt2>
        <a:srgbClr val="9DC541"/>
      </a:lt2>
      <a:accent1>
        <a:srgbClr val="564191"/>
      </a:accent1>
      <a:accent2>
        <a:srgbClr val="9DC541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2021-11-09T00:18:20Z</dcterms:created>
  <dc:creator>MHAOLADMIN</dc:creator>
</cp:coreProperties>
</file>