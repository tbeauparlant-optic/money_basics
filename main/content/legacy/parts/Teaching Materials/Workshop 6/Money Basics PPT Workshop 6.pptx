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9388475" cy="7102475"/>
  <p:embeddedFontLst>
    <p:embeddedFont>
      <p:font typeface="Bebas Neue"/>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6" roundtripDataSignature="AMtx7mgQcuHD8EszOTqVVxpss0bVId2Q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D76279-4723-4BC5-B0B3-91E51EB791F6}">
  <a:tblStyle styleId="{6FD76279-4723-4BC5-B0B3-91E51EB791F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BebasNeue-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068339" cy="356357"/>
          </a:xfrm>
          <a:prstGeom prst="rect">
            <a:avLst/>
          </a:prstGeom>
          <a:noFill/>
          <a:ln>
            <a:noFill/>
          </a:ln>
        </p:spPr>
        <p:txBody>
          <a:bodyPr anchorCtr="0" anchor="t" bIns="46650" lIns="93325" spcFirstLastPara="1" rIns="93325" wrap="square" tIns="466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317964" y="0"/>
            <a:ext cx="4068339" cy="356357"/>
          </a:xfrm>
          <a:prstGeom prst="rect">
            <a:avLst/>
          </a:prstGeom>
          <a:noFill/>
          <a:ln>
            <a:noFill/>
          </a:ln>
        </p:spPr>
        <p:txBody>
          <a:bodyPr anchorCtr="0" anchor="t" bIns="46650" lIns="93325" spcFirstLastPara="1" rIns="93325" wrap="square" tIns="466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8848" y="3418067"/>
            <a:ext cx="7510780" cy="2796600"/>
          </a:xfrm>
          <a:prstGeom prst="rect">
            <a:avLst/>
          </a:prstGeom>
          <a:noFill/>
          <a:ln>
            <a:noFill/>
          </a:ln>
        </p:spPr>
        <p:txBody>
          <a:bodyPr anchorCtr="0" anchor="t" bIns="46650" lIns="93325" spcFirstLastPara="1" rIns="93325" wrap="square" tIns="4665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121"/>
            <a:ext cx="4068339" cy="356356"/>
          </a:xfrm>
          <a:prstGeom prst="rect">
            <a:avLst/>
          </a:prstGeom>
          <a:noFill/>
          <a:ln>
            <a:noFill/>
          </a:ln>
        </p:spPr>
        <p:txBody>
          <a:bodyPr anchorCtr="0" anchor="b" bIns="46650" lIns="93325" spcFirstLastPara="1" rIns="93325" wrap="square" tIns="466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317964" y="6746121"/>
            <a:ext cx="4068339" cy="356356"/>
          </a:xfrm>
          <a:prstGeom prst="rect">
            <a:avLst/>
          </a:prstGeom>
          <a:noFill/>
          <a:ln>
            <a:noFill/>
          </a:ln>
        </p:spPr>
        <p:txBody>
          <a:bodyPr anchorCtr="0" anchor="b" bIns="46650" lIns="93325" spcFirstLastPara="1" rIns="93325" wrap="square" tIns="466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notes"/>
          <p:cNvSpPr txBox="1"/>
          <p:nvPr>
            <p:ph idx="1" type="body"/>
          </p:nvPr>
        </p:nvSpPr>
        <p:spPr>
          <a:xfrm>
            <a:off x="938848" y="3418067"/>
            <a:ext cx="7510780" cy="2796600"/>
          </a:xfrm>
          <a:prstGeom prst="rect">
            <a:avLst/>
          </a:prstGeom>
          <a:noFill/>
          <a:ln>
            <a:noFill/>
          </a:ln>
        </p:spPr>
        <p:txBody>
          <a:bodyPr anchorCtr="0" anchor="t" bIns="46650" lIns="93325" spcFirstLastPara="1" rIns="93325" wrap="square" tIns="46650">
            <a:normAutofit/>
          </a:bodyPr>
          <a:lstStyle/>
          <a:p>
            <a:pPr indent="0" lvl="0" marL="0" rtl="0" algn="l">
              <a:spcBef>
                <a:spcPts val="0"/>
              </a:spcBef>
              <a:spcAft>
                <a:spcPts val="0"/>
              </a:spcAft>
              <a:buNone/>
            </a:pPr>
            <a:r>
              <a:t/>
            </a:r>
            <a:endParaRPr/>
          </a:p>
        </p:txBody>
      </p:sp>
      <p:sp>
        <p:nvSpPr>
          <p:cNvPr id="120" name="Google Shape;120;p1:notes"/>
          <p:cNvSpPr txBox="1"/>
          <p:nvPr>
            <p:ph idx="12" type="sldNum"/>
          </p:nvPr>
        </p:nvSpPr>
        <p:spPr>
          <a:xfrm>
            <a:off x="5317964" y="6746121"/>
            <a:ext cx="4068339" cy="356356"/>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29" name="Google Shape;129;p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3:notes"/>
          <p:cNvSpPr txBox="1"/>
          <p:nvPr>
            <p:ph idx="1" type="body"/>
          </p:nvPr>
        </p:nvSpPr>
        <p:spPr>
          <a:xfrm>
            <a:off x="938848" y="3418067"/>
            <a:ext cx="7510780" cy="27966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38" name="Google Shape;138;p3:notes"/>
          <p:cNvSpPr txBox="1"/>
          <p:nvPr>
            <p:ph idx="12" type="sldNum"/>
          </p:nvPr>
        </p:nvSpPr>
        <p:spPr>
          <a:xfrm>
            <a:off x="5317964" y="6746121"/>
            <a:ext cx="4068339" cy="356356"/>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46" name="Google Shape;146;p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198" name="Google Shape;198;p10: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17" name="Google Shape;217;p12: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26" name="Google Shape;226;p13: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4: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35" name="Google Shape;235;p14: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46" name="Google Shape;246;p15: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55" name="Google Shape;255;p16: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7: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64" name="Google Shape;264;p17: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73" name="Google Shape;273;p18: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9:notes"/>
          <p:cNvSpPr txBox="1"/>
          <p:nvPr>
            <p:ph idx="1" type="body"/>
          </p:nvPr>
        </p:nvSpPr>
        <p:spPr>
          <a:xfrm>
            <a:off x="938848" y="3418067"/>
            <a:ext cx="7510780" cy="2796600"/>
          </a:xfrm>
          <a:prstGeom prst="rect">
            <a:avLst/>
          </a:prstGeom>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
        <p:nvSpPr>
          <p:cNvPr id="282" name="Google Shape;282;p19:notes"/>
          <p:cNvSpPr/>
          <p:nvPr>
            <p:ph idx="2" type="sldImg"/>
          </p:nvPr>
        </p:nvSpPr>
        <p:spPr>
          <a:xfrm>
            <a:off x="2563813" y="887413"/>
            <a:ext cx="4260850" cy="23971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1"/>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1"/>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Bebas Neue"/>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Bebas Neue"/>
                <a:ea typeface="Bebas Neue"/>
                <a:cs typeface="Bebas Neue"/>
                <a:sym typeface="Bebas Neue"/>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5" name="Google Shape;25;p21"/>
          <p:cNvCxnSpPr/>
          <p:nvPr/>
        </p:nvCxnSpPr>
        <p:spPr>
          <a:xfrm>
            <a:off x="1207659"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26" name="Google Shape;26;p21"/>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2"/>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2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32" name="Google Shape;32;p22"/>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23"/>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6" name="Google Shape;36;p23"/>
          <p:cNvSpPr txBox="1"/>
          <p:nvPr>
            <p:ph idx="2" type="body"/>
          </p:nvPr>
        </p:nvSpPr>
        <p:spPr>
          <a:xfrm>
            <a:off x="109728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7" name="Google Shape;37;p2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8" name="Google Shape;38;p23"/>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2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41" name="Google Shape;41;p23"/>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 type="body"/>
          </p:nvPr>
        </p:nvSpPr>
        <p:spPr>
          <a:xfrm>
            <a:off x="1097280"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5" name="Google Shape;45;p24"/>
          <p:cNvSpPr txBox="1"/>
          <p:nvPr>
            <p:ph idx="2" type="body"/>
          </p:nvPr>
        </p:nvSpPr>
        <p:spPr>
          <a:xfrm>
            <a:off x="6217920" y="1845737"/>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6" name="Google Shape;46;p2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48" name="Google Shape;48;p24"/>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9" name="Shape 49"/>
        <p:cNvGrpSpPr/>
        <p:nvPr/>
      </p:nvGrpSpPr>
      <p:grpSpPr>
        <a:xfrm>
          <a:off x="0" y="0"/>
          <a:ext cx="0" cy="0"/>
          <a:chOff x="0" y="0"/>
          <a:chExt cx="0" cy="0"/>
        </a:xfrm>
      </p:grpSpPr>
      <p:sp>
        <p:nvSpPr>
          <p:cNvPr id="50" name="Google Shape;50;p25"/>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5"/>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Bebas Neue"/>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Bebas Neue"/>
                <a:ea typeface="Bebas Neue"/>
                <a:cs typeface="Bebas Neue"/>
                <a:sym typeface="Bebas Neue"/>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4" name="Google Shape;54;p2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6" name="Google Shape;56;p25"/>
          <p:cNvCxnSpPr/>
          <p:nvPr/>
        </p:nvCxnSpPr>
        <p:spPr>
          <a:xfrm>
            <a:off x="1207659"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57" name="Google Shape;57;p25"/>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62" name="Google Shape;62;p26"/>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3" name="Shape 63"/>
        <p:cNvGrpSpPr/>
        <p:nvPr/>
      </p:nvGrpSpPr>
      <p:grpSpPr>
        <a:xfrm>
          <a:off x="0" y="0"/>
          <a:ext cx="0" cy="0"/>
          <a:chOff x="0" y="0"/>
          <a:chExt cx="0" cy="0"/>
        </a:xfrm>
      </p:grpSpPr>
      <p:sp>
        <p:nvSpPr>
          <p:cNvPr id="64" name="Google Shape;64;p27"/>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7"/>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clipart&#10;&#10;Description automatically generated" id="68" name="Google Shape;68;p27"/>
          <p:cNvPicPr preferRelativeResize="0"/>
          <p:nvPr/>
        </p:nvPicPr>
        <p:blipFill rotWithShape="1">
          <a:blip r:embed="rId2">
            <a:alphaModFix/>
          </a:blip>
          <a:srcRect b="0" l="0" r="0" t="0"/>
          <a:stretch/>
        </p:blipFill>
        <p:spPr>
          <a:xfrm>
            <a:off x="1153108" y="6503408"/>
            <a:ext cx="1180309" cy="27147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28"/>
          <p:cNvSpPr/>
          <p:nvPr/>
        </p:nvSpPr>
        <p:spPr>
          <a:xfrm>
            <a:off x="18"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8"/>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8"/>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Bebas Neu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8"/>
          <p:cNvSpPr txBox="1"/>
          <p:nvPr>
            <p:ph idx="1" type="body"/>
          </p:nvPr>
        </p:nvSpPr>
        <p:spPr>
          <a:xfrm>
            <a:off x="4613650" y="731520"/>
            <a:ext cx="6679191"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28"/>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28"/>
          <p:cNvSpPr txBox="1"/>
          <p:nvPr>
            <p:ph idx="10" type="dt"/>
          </p:nvPr>
        </p:nvSpPr>
        <p:spPr>
          <a:xfrm>
            <a:off x="465513" y="6459787"/>
            <a:ext cx="261851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28"/>
          <p:cNvSpPr txBox="1"/>
          <p:nvPr>
            <p:ph idx="11" type="ftr"/>
          </p:nvPr>
        </p:nvSpPr>
        <p:spPr>
          <a:xfrm>
            <a:off x="4800600" y="6459787"/>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rgbClr val="637052"/>
                </a:solidFill>
                <a:latin typeface="Arial"/>
                <a:ea typeface="Arial"/>
                <a:cs typeface="Arial"/>
                <a:sym typeface="Arial"/>
              </a:defRPr>
            </a:lvl1pPr>
            <a:lvl2pPr indent="0" lvl="1" marL="0" algn="r">
              <a:spcBef>
                <a:spcPts val="0"/>
              </a:spcBef>
              <a:buNone/>
              <a:defRPr b="0" i="0" sz="1050" u="none" cap="none" strike="noStrike">
                <a:solidFill>
                  <a:srgbClr val="637052"/>
                </a:solidFill>
                <a:latin typeface="Arial"/>
                <a:ea typeface="Arial"/>
                <a:cs typeface="Arial"/>
                <a:sym typeface="Arial"/>
              </a:defRPr>
            </a:lvl2pPr>
            <a:lvl3pPr indent="0" lvl="2" marL="0" algn="r">
              <a:spcBef>
                <a:spcPts val="0"/>
              </a:spcBef>
              <a:buNone/>
              <a:defRPr b="0" i="0" sz="1050" u="none" cap="none" strike="noStrike">
                <a:solidFill>
                  <a:srgbClr val="637052"/>
                </a:solidFill>
                <a:latin typeface="Arial"/>
                <a:ea typeface="Arial"/>
                <a:cs typeface="Arial"/>
                <a:sym typeface="Arial"/>
              </a:defRPr>
            </a:lvl3pPr>
            <a:lvl4pPr indent="0" lvl="3" marL="0" algn="r">
              <a:spcBef>
                <a:spcPts val="0"/>
              </a:spcBef>
              <a:buNone/>
              <a:defRPr b="0" i="0" sz="1050" u="none" cap="none" strike="noStrike">
                <a:solidFill>
                  <a:srgbClr val="637052"/>
                </a:solidFill>
                <a:latin typeface="Arial"/>
                <a:ea typeface="Arial"/>
                <a:cs typeface="Arial"/>
                <a:sym typeface="Arial"/>
              </a:defRPr>
            </a:lvl4pPr>
            <a:lvl5pPr indent="0" lvl="4" marL="0" algn="r">
              <a:spcBef>
                <a:spcPts val="0"/>
              </a:spcBef>
              <a:buNone/>
              <a:defRPr b="0" i="0" sz="1050" u="none" cap="none" strike="noStrike">
                <a:solidFill>
                  <a:srgbClr val="637052"/>
                </a:solidFill>
                <a:latin typeface="Arial"/>
                <a:ea typeface="Arial"/>
                <a:cs typeface="Arial"/>
                <a:sym typeface="Arial"/>
              </a:defRPr>
            </a:lvl5pPr>
            <a:lvl6pPr indent="0" lvl="5" marL="0" algn="r">
              <a:spcBef>
                <a:spcPts val="0"/>
              </a:spcBef>
              <a:buNone/>
              <a:defRPr b="0" i="0" sz="1050" u="none" cap="none" strike="noStrike">
                <a:solidFill>
                  <a:srgbClr val="637052"/>
                </a:solidFill>
                <a:latin typeface="Arial"/>
                <a:ea typeface="Arial"/>
                <a:cs typeface="Arial"/>
                <a:sym typeface="Arial"/>
              </a:defRPr>
            </a:lvl6pPr>
            <a:lvl7pPr indent="0" lvl="6" marL="0" algn="r">
              <a:spcBef>
                <a:spcPts val="0"/>
              </a:spcBef>
              <a:buNone/>
              <a:defRPr b="0" i="0" sz="1050" u="none" cap="none" strike="noStrike">
                <a:solidFill>
                  <a:srgbClr val="637052"/>
                </a:solidFill>
                <a:latin typeface="Arial"/>
                <a:ea typeface="Arial"/>
                <a:cs typeface="Arial"/>
                <a:sym typeface="Arial"/>
              </a:defRPr>
            </a:lvl7pPr>
            <a:lvl8pPr indent="0" lvl="7" marL="0" algn="r">
              <a:spcBef>
                <a:spcPts val="0"/>
              </a:spcBef>
              <a:buNone/>
              <a:defRPr b="0" i="0" sz="1050" u="none" cap="none" strike="noStrike">
                <a:solidFill>
                  <a:srgbClr val="637052"/>
                </a:solidFill>
                <a:latin typeface="Arial"/>
                <a:ea typeface="Arial"/>
                <a:cs typeface="Arial"/>
                <a:sym typeface="Arial"/>
              </a:defRPr>
            </a:lvl8pPr>
            <a:lvl9pPr indent="0" lvl="8" marL="0" algn="r">
              <a:spcBef>
                <a:spcPts val="0"/>
              </a:spcBef>
              <a:buNone/>
              <a:defRPr b="0" i="0" sz="1050" u="none" cap="none" strike="noStrike">
                <a:solidFill>
                  <a:srgbClr val="63705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29"/>
          <p:cNvSpPr/>
          <p:nvPr/>
        </p:nvSpPr>
        <p:spPr>
          <a:xfrm>
            <a:off x="1"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9"/>
          <p:cNvSpPr/>
          <p:nvPr/>
        </p:nvSpPr>
        <p:spPr>
          <a:xfrm>
            <a:off x="17"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9"/>
          <p:cNvSpPr txBox="1"/>
          <p:nvPr>
            <p:ph type="title"/>
          </p:nvPr>
        </p:nvSpPr>
        <p:spPr>
          <a:xfrm>
            <a:off x="1097280" y="5074920"/>
            <a:ext cx="10119360"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Bebas Neue"/>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29"/>
          <p:cNvPicPr preferRelativeResize="0"/>
          <p:nvPr>
            <p:ph idx="2" type="pic"/>
          </p:nvPr>
        </p:nvPicPr>
        <p:blipFill/>
        <p:spPr>
          <a:xfrm>
            <a:off x="17" y="0"/>
            <a:ext cx="12191985" cy="4915076"/>
          </a:xfrm>
          <a:prstGeom prst="rect">
            <a:avLst/>
          </a:prstGeom>
          <a:blipFill rotWithShape="1">
            <a:blip r:embed="rId2">
              <a:alphaModFix/>
            </a:blip>
            <a:stretch>
              <a:fillRect b="0" l="0" r="0" t="0"/>
            </a:stretch>
          </a:blipFill>
          <a:ln>
            <a:noFill/>
          </a:ln>
        </p:spPr>
      </p:pic>
      <p:sp>
        <p:nvSpPr>
          <p:cNvPr id="83" name="Google Shape;83;p29"/>
          <p:cNvSpPr txBox="1"/>
          <p:nvPr>
            <p:ph idx="1" type="body"/>
          </p:nvPr>
        </p:nvSpPr>
        <p:spPr>
          <a:xfrm>
            <a:off x="1097279" y="5907024"/>
            <a:ext cx="10119360"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29"/>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5" name="Google Shape;85;p2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30"/>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30"/>
          <p:cNvSpPr txBox="1"/>
          <p:nvPr>
            <p:ph idx="1" type="body"/>
          </p:nvPr>
        </p:nvSpPr>
        <p:spPr>
          <a:xfrm rot="5400000">
            <a:off x="4114799" y="-1171787"/>
            <a:ext cx="4023360" cy="10058401"/>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30"/>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3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31"/>
          <p:cNvSpPr/>
          <p:nvPr/>
        </p:nvSpPr>
        <p:spPr>
          <a:xfrm>
            <a:off x="3177"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1"/>
          <p:cNvSpPr/>
          <p:nvPr/>
        </p:nvSpPr>
        <p:spPr>
          <a:xfrm>
            <a:off x="17"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1"/>
          <p:cNvSpPr txBox="1"/>
          <p:nvPr>
            <p:ph type="title"/>
          </p:nvPr>
        </p:nvSpPr>
        <p:spPr>
          <a:xfrm rot="5400000">
            <a:off x="7160640" y="1979041"/>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31"/>
          <p:cNvSpPr txBox="1"/>
          <p:nvPr>
            <p:ph idx="1" type="body"/>
          </p:nvPr>
        </p:nvSpPr>
        <p:spPr>
          <a:xfrm rot="5400000">
            <a:off x="1826641" y="-573661"/>
            <a:ext cx="5757420"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31"/>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9" name="Google Shape;99;p3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1" name="Shape 101"/>
        <p:cNvGrpSpPr/>
        <p:nvPr/>
      </p:nvGrpSpPr>
      <p:grpSpPr>
        <a:xfrm>
          <a:off x="0" y="0"/>
          <a:ext cx="0" cy="0"/>
          <a:chOff x="0" y="0"/>
          <a:chExt cx="0" cy="0"/>
        </a:xfrm>
      </p:grpSpPr>
      <p:sp>
        <p:nvSpPr>
          <p:cNvPr id="102" name="Google Shape;102;p32"/>
          <p:cNvSpPr txBox="1"/>
          <p:nvPr>
            <p:ph type="title"/>
          </p:nvPr>
        </p:nvSpPr>
        <p:spPr>
          <a:xfrm>
            <a:off x="609601" y="274638"/>
            <a:ext cx="10970684" cy="1141412"/>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32"/>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4" name="Google Shape;104;p3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050" u="none" cap="none" strike="noStrike">
                <a:solidFill>
                  <a:srgbClr val="FFFFFF"/>
                </a:solidFill>
                <a:latin typeface="Cambria"/>
                <a:ea typeface="Cambria"/>
                <a:cs typeface="Cambria"/>
                <a:sym typeface="Cambria"/>
              </a:defRPr>
            </a:lvl1pPr>
            <a:lvl2pPr indent="0" lvl="1" marL="0" marR="0" algn="r">
              <a:spcBef>
                <a:spcPts val="0"/>
              </a:spcBef>
              <a:buNone/>
              <a:defRPr b="0" i="0" sz="1050" u="none" cap="none" strike="noStrike">
                <a:solidFill>
                  <a:srgbClr val="FFFFFF"/>
                </a:solidFill>
                <a:latin typeface="Cambria"/>
                <a:ea typeface="Cambria"/>
                <a:cs typeface="Cambria"/>
                <a:sym typeface="Cambria"/>
              </a:defRPr>
            </a:lvl2pPr>
            <a:lvl3pPr indent="0" lvl="2" marL="0" marR="0" algn="r">
              <a:spcBef>
                <a:spcPts val="0"/>
              </a:spcBef>
              <a:buNone/>
              <a:defRPr b="0" i="0" sz="1050" u="none" cap="none" strike="noStrike">
                <a:solidFill>
                  <a:srgbClr val="FFFFFF"/>
                </a:solidFill>
                <a:latin typeface="Cambria"/>
                <a:ea typeface="Cambria"/>
                <a:cs typeface="Cambria"/>
                <a:sym typeface="Cambria"/>
              </a:defRPr>
            </a:lvl3pPr>
            <a:lvl4pPr indent="0" lvl="3" marL="0" marR="0" algn="r">
              <a:spcBef>
                <a:spcPts val="0"/>
              </a:spcBef>
              <a:buNone/>
              <a:defRPr b="0" i="0" sz="1050" u="none" cap="none" strike="noStrike">
                <a:solidFill>
                  <a:srgbClr val="FFFFFF"/>
                </a:solidFill>
                <a:latin typeface="Cambria"/>
                <a:ea typeface="Cambria"/>
                <a:cs typeface="Cambria"/>
                <a:sym typeface="Cambria"/>
              </a:defRPr>
            </a:lvl4pPr>
            <a:lvl5pPr indent="0" lvl="4" marL="0" marR="0" algn="r">
              <a:spcBef>
                <a:spcPts val="0"/>
              </a:spcBef>
              <a:buNone/>
              <a:defRPr b="0" i="0" sz="1050" u="none" cap="none" strike="noStrike">
                <a:solidFill>
                  <a:srgbClr val="FFFFFF"/>
                </a:solidFill>
                <a:latin typeface="Cambria"/>
                <a:ea typeface="Cambria"/>
                <a:cs typeface="Cambria"/>
                <a:sym typeface="Cambria"/>
              </a:defRPr>
            </a:lvl5pPr>
            <a:lvl6pPr indent="0" lvl="5" marL="0" marR="0" algn="r">
              <a:spcBef>
                <a:spcPts val="0"/>
              </a:spcBef>
              <a:buNone/>
              <a:defRPr b="0" i="0" sz="1050" u="none" cap="none" strike="noStrike">
                <a:solidFill>
                  <a:srgbClr val="FFFFFF"/>
                </a:solidFill>
                <a:latin typeface="Cambria"/>
                <a:ea typeface="Cambria"/>
                <a:cs typeface="Cambria"/>
                <a:sym typeface="Cambria"/>
              </a:defRPr>
            </a:lvl6pPr>
            <a:lvl7pPr indent="0" lvl="6" marL="0" marR="0" algn="r">
              <a:spcBef>
                <a:spcPts val="0"/>
              </a:spcBef>
              <a:buNone/>
              <a:defRPr b="0" i="0" sz="1050" u="none" cap="none" strike="noStrike">
                <a:solidFill>
                  <a:srgbClr val="FFFFFF"/>
                </a:solidFill>
                <a:latin typeface="Cambria"/>
                <a:ea typeface="Cambria"/>
                <a:cs typeface="Cambria"/>
                <a:sym typeface="Cambria"/>
              </a:defRPr>
            </a:lvl7pPr>
            <a:lvl8pPr indent="0" lvl="7" marL="0" marR="0" algn="r">
              <a:spcBef>
                <a:spcPts val="0"/>
              </a:spcBef>
              <a:buNone/>
              <a:defRPr b="0" i="0" sz="1050" u="none" cap="none" strike="noStrike">
                <a:solidFill>
                  <a:srgbClr val="FFFFFF"/>
                </a:solidFill>
                <a:latin typeface="Cambria"/>
                <a:ea typeface="Cambria"/>
                <a:cs typeface="Cambria"/>
                <a:sym typeface="Cambria"/>
              </a:defRPr>
            </a:lvl8pPr>
            <a:lvl9pPr indent="0" lvl="8" marL="0" marR="0" algn="r">
              <a:spcBef>
                <a:spcPts val="0"/>
              </a:spcBef>
              <a:buNone/>
              <a:defRPr b="0" i="0" sz="1050" u="none" cap="none" strike="noStrike">
                <a:solidFill>
                  <a:srgbClr val="FFFFFF"/>
                </a:solidFill>
                <a:latin typeface="Cambria"/>
                <a:ea typeface="Cambria"/>
                <a:cs typeface="Cambria"/>
                <a:sym typeface="Cambr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06" name="Shape 106"/>
        <p:cNvGrpSpPr/>
        <p:nvPr/>
      </p:nvGrpSpPr>
      <p:grpSpPr>
        <a:xfrm>
          <a:off x="0" y="0"/>
          <a:ext cx="0" cy="0"/>
          <a:chOff x="0" y="0"/>
          <a:chExt cx="0" cy="0"/>
        </a:xfrm>
      </p:grpSpPr>
      <p:sp>
        <p:nvSpPr>
          <p:cNvPr id="107" name="Google Shape;107;p33"/>
          <p:cNvSpPr txBox="1"/>
          <p:nvPr>
            <p:ph type="title"/>
          </p:nvPr>
        </p:nvSpPr>
        <p:spPr>
          <a:xfrm>
            <a:off x="914400" y="609600"/>
            <a:ext cx="10363200" cy="1143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3"/>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 name="Google Shape;109;p3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050" u="none" cap="none" strike="noStrike">
                <a:solidFill>
                  <a:srgbClr val="FFFFFF"/>
                </a:solidFill>
                <a:latin typeface="Arial"/>
                <a:ea typeface="Arial"/>
                <a:cs typeface="Arial"/>
                <a:sym typeface="Arial"/>
              </a:defRPr>
            </a:lvl1pPr>
            <a:lvl2pPr indent="0" lvl="1" marL="0" marR="0" algn="r">
              <a:spcBef>
                <a:spcPts val="0"/>
              </a:spcBef>
              <a:buNone/>
              <a:defRPr b="0" i="0" sz="1050" u="none" cap="none" strike="noStrike">
                <a:solidFill>
                  <a:srgbClr val="FFFFFF"/>
                </a:solidFill>
                <a:latin typeface="Arial"/>
                <a:ea typeface="Arial"/>
                <a:cs typeface="Arial"/>
                <a:sym typeface="Arial"/>
              </a:defRPr>
            </a:lvl2pPr>
            <a:lvl3pPr indent="0" lvl="2" marL="0" marR="0" algn="r">
              <a:spcBef>
                <a:spcPts val="0"/>
              </a:spcBef>
              <a:buNone/>
              <a:defRPr b="0" i="0" sz="1050" u="none" cap="none" strike="noStrike">
                <a:solidFill>
                  <a:srgbClr val="FFFFFF"/>
                </a:solidFill>
                <a:latin typeface="Arial"/>
                <a:ea typeface="Arial"/>
                <a:cs typeface="Arial"/>
                <a:sym typeface="Arial"/>
              </a:defRPr>
            </a:lvl3pPr>
            <a:lvl4pPr indent="0" lvl="3" marL="0" marR="0" algn="r">
              <a:spcBef>
                <a:spcPts val="0"/>
              </a:spcBef>
              <a:buNone/>
              <a:defRPr b="0" i="0" sz="1050" u="none" cap="none" strike="noStrike">
                <a:solidFill>
                  <a:srgbClr val="FFFFFF"/>
                </a:solidFill>
                <a:latin typeface="Arial"/>
                <a:ea typeface="Arial"/>
                <a:cs typeface="Arial"/>
                <a:sym typeface="Arial"/>
              </a:defRPr>
            </a:lvl4pPr>
            <a:lvl5pPr indent="0" lvl="4" marL="0" marR="0" algn="r">
              <a:spcBef>
                <a:spcPts val="0"/>
              </a:spcBef>
              <a:buNone/>
              <a:defRPr b="0" i="0" sz="1050" u="none" cap="none" strike="noStrike">
                <a:solidFill>
                  <a:srgbClr val="FFFFFF"/>
                </a:solidFill>
                <a:latin typeface="Arial"/>
                <a:ea typeface="Arial"/>
                <a:cs typeface="Arial"/>
                <a:sym typeface="Arial"/>
              </a:defRPr>
            </a:lvl5pPr>
            <a:lvl6pPr indent="0" lvl="5" marL="0" marR="0" algn="r">
              <a:spcBef>
                <a:spcPts val="0"/>
              </a:spcBef>
              <a:buNone/>
              <a:defRPr b="0" i="0" sz="1050" u="none" cap="none" strike="noStrike">
                <a:solidFill>
                  <a:srgbClr val="FFFFFF"/>
                </a:solidFill>
                <a:latin typeface="Arial"/>
                <a:ea typeface="Arial"/>
                <a:cs typeface="Arial"/>
                <a:sym typeface="Arial"/>
              </a:defRPr>
            </a:lvl6pPr>
            <a:lvl7pPr indent="0" lvl="6" marL="0" marR="0" algn="r">
              <a:spcBef>
                <a:spcPts val="0"/>
              </a:spcBef>
              <a:buNone/>
              <a:defRPr b="0" i="0" sz="1050" u="none" cap="none" strike="noStrike">
                <a:solidFill>
                  <a:srgbClr val="FFFFFF"/>
                </a:solidFill>
                <a:latin typeface="Arial"/>
                <a:ea typeface="Arial"/>
                <a:cs typeface="Arial"/>
                <a:sym typeface="Arial"/>
              </a:defRPr>
            </a:lvl7pPr>
            <a:lvl8pPr indent="0" lvl="7" marL="0" marR="0" algn="r">
              <a:spcBef>
                <a:spcPts val="0"/>
              </a:spcBef>
              <a:buNone/>
              <a:defRPr b="0" i="0" sz="1050" u="none" cap="none" strike="noStrike">
                <a:solidFill>
                  <a:srgbClr val="FFFFFF"/>
                </a:solidFill>
                <a:latin typeface="Arial"/>
                <a:ea typeface="Arial"/>
                <a:cs typeface="Arial"/>
                <a:sym typeface="Arial"/>
              </a:defRPr>
            </a:lvl8pPr>
            <a:lvl9pPr indent="0" lvl="8" marL="0" marR="0" algn="r">
              <a:spcBef>
                <a:spcPts val="0"/>
              </a:spcBef>
              <a:buNone/>
              <a:defRPr b="0" i="0" sz="105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1" name="Shape 111"/>
        <p:cNvGrpSpPr/>
        <p:nvPr/>
      </p:nvGrpSpPr>
      <p:grpSpPr>
        <a:xfrm>
          <a:off x="0" y="0"/>
          <a:ext cx="0" cy="0"/>
          <a:chOff x="0" y="0"/>
          <a:chExt cx="0" cy="0"/>
        </a:xfrm>
      </p:grpSpPr>
      <p:sp>
        <p:nvSpPr>
          <p:cNvPr id="112" name="Google Shape;112;p34"/>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lnSpc>
                <a:spcPct val="85000"/>
              </a:lnSpc>
              <a:spcBef>
                <a:spcPts val="0"/>
              </a:spcBef>
              <a:spcAft>
                <a:spcPts val="0"/>
              </a:spcAft>
              <a:buClr>
                <a:srgbClr val="3F3F3F"/>
              </a:buClr>
              <a:buSzPts val="3300"/>
              <a:buFont typeface="Bebas Neue"/>
              <a:buNone/>
              <a:defRPr b="0" sz="33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34"/>
          <p:cNvSpPr txBox="1"/>
          <p:nvPr>
            <p:ph idx="1" type="body"/>
          </p:nvPr>
        </p:nvSpPr>
        <p:spPr>
          <a:xfrm>
            <a:off x="677335" y="4470400"/>
            <a:ext cx="8596668" cy="1570962"/>
          </a:xfrm>
          <a:prstGeom prst="rect">
            <a:avLst/>
          </a:prstGeom>
          <a:noFill/>
          <a:ln>
            <a:noFill/>
          </a:ln>
        </p:spPr>
        <p:txBody>
          <a:bodyPr anchorCtr="0" anchor="ctr" bIns="45700" lIns="0" spcFirstLastPara="1" rIns="0" wrap="square" tIns="45700">
            <a:normAutofit/>
          </a:bodyPr>
          <a:lstStyle>
            <a:lvl1pPr indent="-228600" lvl="0" marL="457200" algn="l">
              <a:lnSpc>
                <a:spcPct val="90000"/>
              </a:lnSpc>
              <a:spcBef>
                <a:spcPts val="1200"/>
              </a:spcBef>
              <a:spcAft>
                <a:spcPts val="0"/>
              </a:spcAft>
              <a:buSzPts val="1350"/>
              <a:buNone/>
              <a:defRPr sz="1350">
                <a:solidFill>
                  <a:srgbClr val="3F3F3F"/>
                </a:solidFill>
              </a:defRPr>
            </a:lvl1pPr>
            <a:lvl2pPr indent="-228600" lvl="1" marL="914400" algn="l">
              <a:lnSpc>
                <a:spcPct val="90000"/>
              </a:lnSpc>
              <a:spcBef>
                <a:spcPts val="200"/>
              </a:spcBef>
              <a:spcAft>
                <a:spcPts val="0"/>
              </a:spcAft>
              <a:buSzPts val="1350"/>
              <a:buNone/>
              <a:defRPr sz="1350">
                <a:solidFill>
                  <a:srgbClr val="888888"/>
                </a:solidFill>
              </a:defRPr>
            </a:lvl2pPr>
            <a:lvl3pPr indent="-228600" lvl="2" marL="1371600" algn="l">
              <a:lnSpc>
                <a:spcPct val="90000"/>
              </a:lnSpc>
              <a:spcBef>
                <a:spcPts val="400"/>
              </a:spcBef>
              <a:spcAft>
                <a:spcPts val="0"/>
              </a:spcAft>
              <a:buSzPts val="1200"/>
              <a:buNone/>
              <a:defRPr sz="1200">
                <a:solidFill>
                  <a:srgbClr val="888888"/>
                </a:solidFill>
              </a:defRPr>
            </a:lvl3pPr>
            <a:lvl4pPr indent="-228600" lvl="3" marL="1828800" algn="l">
              <a:lnSpc>
                <a:spcPct val="90000"/>
              </a:lnSpc>
              <a:spcBef>
                <a:spcPts val="400"/>
              </a:spcBef>
              <a:spcAft>
                <a:spcPts val="0"/>
              </a:spcAft>
              <a:buSzPts val="1050"/>
              <a:buNone/>
              <a:defRPr sz="1050">
                <a:solidFill>
                  <a:srgbClr val="888888"/>
                </a:solidFill>
              </a:defRPr>
            </a:lvl4pPr>
            <a:lvl5pPr indent="-228600" lvl="4" marL="2286000" algn="l">
              <a:lnSpc>
                <a:spcPct val="90000"/>
              </a:lnSpc>
              <a:spcBef>
                <a:spcPts val="400"/>
              </a:spcBef>
              <a:spcAft>
                <a:spcPts val="0"/>
              </a:spcAft>
              <a:buSzPts val="1050"/>
              <a:buNone/>
              <a:defRPr sz="1050">
                <a:solidFill>
                  <a:srgbClr val="888888"/>
                </a:solidFill>
              </a:defRPr>
            </a:lvl5pPr>
            <a:lvl6pPr indent="-228600" lvl="5" marL="2743200" algn="l">
              <a:lnSpc>
                <a:spcPct val="90000"/>
              </a:lnSpc>
              <a:spcBef>
                <a:spcPts val="400"/>
              </a:spcBef>
              <a:spcAft>
                <a:spcPts val="0"/>
              </a:spcAft>
              <a:buSzPts val="1050"/>
              <a:buNone/>
              <a:defRPr sz="1050">
                <a:solidFill>
                  <a:srgbClr val="888888"/>
                </a:solidFill>
              </a:defRPr>
            </a:lvl6pPr>
            <a:lvl7pPr indent="-228600" lvl="6" marL="3200400" algn="l">
              <a:lnSpc>
                <a:spcPct val="90000"/>
              </a:lnSpc>
              <a:spcBef>
                <a:spcPts val="400"/>
              </a:spcBef>
              <a:spcAft>
                <a:spcPts val="0"/>
              </a:spcAft>
              <a:buSzPts val="1050"/>
              <a:buNone/>
              <a:defRPr sz="1050">
                <a:solidFill>
                  <a:srgbClr val="888888"/>
                </a:solidFill>
              </a:defRPr>
            </a:lvl7pPr>
            <a:lvl8pPr indent="-228600" lvl="7" marL="3657600" algn="l">
              <a:lnSpc>
                <a:spcPct val="90000"/>
              </a:lnSpc>
              <a:spcBef>
                <a:spcPts val="400"/>
              </a:spcBef>
              <a:spcAft>
                <a:spcPts val="0"/>
              </a:spcAft>
              <a:buSzPts val="1050"/>
              <a:buNone/>
              <a:defRPr sz="1050">
                <a:solidFill>
                  <a:srgbClr val="888888"/>
                </a:solidFill>
              </a:defRPr>
            </a:lvl8pPr>
            <a:lvl9pPr indent="-228600" lvl="8" marL="4114800" algn="l">
              <a:lnSpc>
                <a:spcPct val="90000"/>
              </a:lnSpc>
              <a:spcBef>
                <a:spcPts val="400"/>
              </a:spcBef>
              <a:spcAft>
                <a:spcPts val="400"/>
              </a:spcAft>
              <a:buSzPts val="1050"/>
              <a:buNone/>
              <a:defRPr sz="1050">
                <a:solidFill>
                  <a:srgbClr val="888888"/>
                </a:solidFill>
              </a:defRPr>
            </a:lvl9pPr>
          </a:lstStyle>
          <a:p/>
        </p:txBody>
      </p:sp>
      <p:sp>
        <p:nvSpPr>
          <p:cNvPr id="114" name="Google Shape;114;p34"/>
          <p:cNvSpPr txBox="1"/>
          <p:nvPr>
            <p:ph idx="10" type="dt"/>
          </p:nvPr>
        </p:nvSpPr>
        <p:spPr>
          <a:xfrm>
            <a:off x="1097282" y="6459787"/>
            <a:ext cx="247227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3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0"/>
          <p:cNvSpPr/>
          <p:nvPr/>
        </p:nvSpPr>
        <p:spPr>
          <a:xfrm>
            <a:off x="1" y="6334316"/>
            <a:ext cx="12192000" cy="65999"/>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0"/>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Bebas Neue"/>
              <a:buNone/>
              <a:defRPr b="0" i="0" sz="4800" u="none" cap="none" strike="noStrike">
                <a:solidFill>
                  <a:srgbClr val="3F3F3F"/>
                </a:solidFill>
                <a:latin typeface="Bebas Neue"/>
                <a:ea typeface="Bebas Neue"/>
                <a:cs typeface="Bebas Neue"/>
                <a:sym typeface="Bebas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Arial"/>
                <a:ea typeface="Arial"/>
                <a:cs typeface="Arial"/>
                <a:sym typeface="Arial"/>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Arial"/>
                <a:ea typeface="Arial"/>
                <a:cs typeface="Arial"/>
                <a:sym typeface="Arial"/>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Arial"/>
                <a:ea typeface="Arial"/>
                <a:cs typeface="Arial"/>
                <a:sym typeface="Arial"/>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2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BABABA"/>
                </a:solidFill>
                <a:latin typeface="Arial"/>
                <a:ea typeface="Arial"/>
                <a:cs typeface="Arial"/>
                <a:sym typeface="Arial"/>
              </a:defRPr>
            </a:lvl1pPr>
            <a:lvl2pPr indent="0" lvl="1" marL="0" marR="0" rtl="0" algn="r">
              <a:spcBef>
                <a:spcPts val="0"/>
              </a:spcBef>
              <a:buNone/>
              <a:defRPr b="0" i="0" sz="1050" u="none" cap="none" strike="noStrike">
                <a:solidFill>
                  <a:srgbClr val="BABABA"/>
                </a:solidFill>
                <a:latin typeface="Arial"/>
                <a:ea typeface="Arial"/>
                <a:cs typeface="Arial"/>
                <a:sym typeface="Arial"/>
              </a:defRPr>
            </a:lvl2pPr>
            <a:lvl3pPr indent="0" lvl="2" marL="0" marR="0" rtl="0" algn="r">
              <a:spcBef>
                <a:spcPts val="0"/>
              </a:spcBef>
              <a:buNone/>
              <a:defRPr b="0" i="0" sz="1050" u="none" cap="none" strike="noStrike">
                <a:solidFill>
                  <a:srgbClr val="BABABA"/>
                </a:solidFill>
                <a:latin typeface="Arial"/>
                <a:ea typeface="Arial"/>
                <a:cs typeface="Arial"/>
                <a:sym typeface="Arial"/>
              </a:defRPr>
            </a:lvl3pPr>
            <a:lvl4pPr indent="0" lvl="3" marL="0" marR="0" rtl="0" algn="r">
              <a:spcBef>
                <a:spcPts val="0"/>
              </a:spcBef>
              <a:buNone/>
              <a:defRPr b="0" i="0" sz="1050" u="none" cap="none" strike="noStrike">
                <a:solidFill>
                  <a:srgbClr val="BABABA"/>
                </a:solidFill>
                <a:latin typeface="Arial"/>
                <a:ea typeface="Arial"/>
                <a:cs typeface="Arial"/>
                <a:sym typeface="Arial"/>
              </a:defRPr>
            </a:lvl4pPr>
            <a:lvl5pPr indent="0" lvl="4" marL="0" marR="0" rtl="0" algn="r">
              <a:spcBef>
                <a:spcPts val="0"/>
              </a:spcBef>
              <a:buNone/>
              <a:defRPr b="0" i="0" sz="1050" u="none" cap="none" strike="noStrike">
                <a:solidFill>
                  <a:srgbClr val="BABABA"/>
                </a:solidFill>
                <a:latin typeface="Arial"/>
                <a:ea typeface="Arial"/>
                <a:cs typeface="Arial"/>
                <a:sym typeface="Arial"/>
              </a:defRPr>
            </a:lvl5pPr>
            <a:lvl6pPr indent="0" lvl="5" marL="0" marR="0" rtl="0" algn="r">
              <a:spcBef>
                <a:spcPts val="0"/>
              </a:spcBef>
              <a:buNone/>
              <a:defRPr b="0" i="0" sz="1050" u="none" cap="none" strike="noStrike">
                <a:solidFill>
                  <a:srgbClr val="BABABA"/>
                </a:solidFill>
                <a:latin typeface="Arial"/>
                <a:ea typeface="Arial"/>
                <a:cs typeface="Arial"/>
                <a:sym typeface="Arial"/>
              </a:defRPr>
            </a:lvl6pPr>
            <a:lvl7pPr indent="0" lvl="6" marL="0" marR="0" rtl="0" algn="r">
              <a:spcBef>
                <a:spcPts val="0"/>
              </a:spcBef>
              <a:buNone/>
              <a:defRPr b="0" i="0" sz="1050" u="none" cap="none" strike="noStrike">
                <a:solidFill>
                  <a:srgbClr val="BABABA"/>
                </a:solidFill>
                <a:latin typeface="Arial"/>
                <a:ea typeface="Arial"/>
                <a:cs typeface="Arial"/>
                <a:sym typeface="Arial"/>
              </a:defRPr>
            </a:lvl7pPr>
            <a:lvl8pPr indent="0" lvl="7" marL="0" marR="0" rtl="0" algn="r">
              <a:spcBef>
                <a:spcPts val="0"/>
              </a:spcBef>
              <a:buNone/>
              <a:defRPr b="0" i="0" sz="1050" u="none" cap="none" strike="noStrike">
                <a:solidFill>
                  <a:srgbClr val="BABABA"/>
                </a:solidFill>
                <a:latin typeface="Arial"/>
                <a:ea typeface="Arial"/>
                <a:cs typeface="Arial"/>
                <a:sym typeface="Arial"/>
              </a:defRPr>
            </a:lvl8pPr>
            <a:lvl9pPr indent="0" lvl="8" marL="0" marR="0" rtl="0" algn="r">
              <a:spcBef>
                <a:spcPts val="0"/>
              </a:spcBef>
              <a:buNone/>
              <a:defRPr b="0" i="0" sz="1050" u="none" cap="none" strike="noStrike">
                <a:solidFill>
                  <a:srgbClr val="BABABA"/>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6" name="Google Shape;16;p20"/>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pic>
        <p:nvPicPr>
          <p:cNvPr descr="A picture containing text, clipart&#10;&#10;Description automatically generated" id="17" name="Google Shape;17;p20"/>
          <p:cNvPicPr preferRelativeResize="0"/>
          <p:nvPr/>
        </p:nvPicPr>
        <p:blipFill rotWithShape="1">
          <a:blip r:embed="rId1">
            <a:alphaModFix/>
          </a:blip>
          <a:srcRect b="0" l="0" r="0" t="0"/>
          <a:stretch/>
        </p:blipFill>
        <p:spPr>
          <a:xfrm>
            <a:off x="1153108" y="6503408"/>
            <a:ext cx="1180309" cy="27147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
          <p:cNvPicPr preferRelativeResize="0"/>
          <p:nvPr/>
        </p:nvPicPr>
        <p:blipFill rotWithShape="1">
          <a:blip r:embed="rId3">
            <a:alphaModFix/>
          </a:blip>
          <a:srcRect b="0" l="0" r="0" t="0"/>
          <a:stretch/>
        </p:blipFill>
        <p:spPr>
          <a:xfrm>
            <a:off x="6895070" y="2318973"/>
            <a:ext cx="5296930" cy="3972698"/>
          </a:xfrm>
          <a:prstGeom prst="rect">
            <a:avLst/>
          </a:prstGeom>
          <a:noFill/>
          <a:ln>
            <a:noFill/>
          </a:ln>
        </p:spPr>
      </p:pic>
      <p:sp>
        <p:nvSpPr>
          <p:cNvPr id="123" name="Google Shape;123;p1"/>
          <p:cNvSpPr txBox="1"/>
          <p:nvPr/>
        </p:nvSpPr>
        <p:spPr>
          <a:xfrm>
            <a:off x="-688157" y="2341893"/>
            <a:ext cx="10113900" cy="193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6000" u="none" cap="none" strike="noStrike">
                <a:solidFill>
                  <a:schemeClr val="dk1"/>
                </a:solidFill>
                <a:latin typeface="Bebas Neue"/>
                <a:ea typeface="Bebas Neue"/>
                <a:cs typeface="Bebas Neue"/>
                <a:sym typeface="Bebas Neue"/>
              </a:rPr>
              <a:t>WELCOME BACK TO </a:t>
            </a:r>
            <a:endParaRPr/>
          </a:p>
          <a:p>
            <a:pPr indent="0" lvl="0" marL="0" marR="0" rtl="0" algn="ctr">
              <a:spcBef>
                <a:spcPts val="0"/>
              </a:spcBef>
              <a:spcAft>
                <a:spcPts val="0"/>
              </a:spcAft>
              <a:buNone/>
            </a:pPr>
            <a:r>
              <a:rPr i="0" lang="en-US" sz="6000" u="none" cap="none" strike="noStrike">
                <a:solidFill>
                  <a:schemeClr val="accent1"/>
                </a:solidFill>
                <a:latin typeface="Bebas Neue"/>
                <a:ea typeface="Bebas Neue"/>
                <a:cs typeface="Bebas Neue"/>
                <a:sym typeface="Bebas Neue"/>
              </a:rPr>
              <a:t>MONEY BASICS</a:t>
            </a:r>
            <a:endParaRPr i="0" sz="6000" u="none" cap="none" strike="noStrike">
              <a:solidFill>
                <a:schemeClr val="accent1"/>
              </a:solidFill>
              <a:latin typeface="Calibri"/>
              <a:ea typeface="Calibri"/>
              <a:cs typeface="Calibri"/>
              <a:sym typeface="Calibri"/>
            </a:endParaRPr>
          </a:p>
        </p:txBody>
      </p:sp>
      <p:sp>
        <p:nvSpPr>
          <p:cNvPr id="124" name="Google Shape;124;p1"/>
          <p:cNvSpPr txBox="1"/>
          <p:nvPr/>
        </p:nvSpPr>
        <p:spPr>
          <a:xfrm>
            <a:off x="625130" y="4513846"/>
            <a:ext cx="68580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rgbClr val="000000"/>
                </a:solidFill>
                <a:latin typeface="Arial"/>
                <a:ea typeface="Arial"/>
                <a:cs typeface="Arial"/>
                <a:sym typeface="Arial"/>
              </a:rPr>
              <a:t>Facilitated by:</a:t>
            </a:r>
            <a:endParaRPr/>
          </a:p>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[Facilitator 1 name]</a:t>
            </a:r>
            <a:endParaRPr/>
          </a:p>
          <a:p>
            <a:pPr indent="0" lvl="0" marL="0" marR="0" rtl="0" algn="ctr">
              <a:spcBef>
                <a:spcPts val="0"/>
              </a:spcBef>
              <a:spcAft>
                <a:spcPts val="0"/>
              </a:spcAft>
              <a:buNone/>
            </a:pPr>
            <a:r>
              <a:rPr b="0" i="0" lang="en-US" sz="1800" u="none" cap="none" strike="noStrike">
                <a:solidFill>
                  <a:srgbClr val="000000"/>
                </a:solidFill>
                <a:latin typeface="Arial"/>
                <a:ea typeface="Arial"/>
                <a:cs typeface="Arial"/>
                <a:sym typeface="Arial"/>
              </a:rPr>
              <a:t>[Facilitator 2 name]</a:t>
            </a:r>
            <a:endParaRPr b="0" i="0" sz="1800" u="none" cap="none" strike="noStrike">
              <a:solidFill>
                <a:schemeClr val="lt2"/>
              </a:solidFill>
              <a:latin typeface="Arial"/>
              <a:ea typeface="Arial"/>
              <a:cs typeface="Arial"/>
              <a:sym typeface="Arial"/>
            </a:endParaRPr>
          </a:p>
        </p:txBody>
      </p:sp>
      <p:sp>
        <p:nvSpPr>
          <p:cNvPr id="125" name="Google Shape;125;p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26" name="Google Shape;126;p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
          <p:cNvSpPr txBox="1"/>
          <p:nvPr>
            <p:ph type="ctrTitle"/>
          </p:nvPr>
        </p:nvSpPr>
        <p:spPr>
          <a:xfrm>
            <a:off x="1068387" y="768379"/>
            <a:ext cx="10526582" cy="35661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8000"/>
              <a:buFont typeface="Bebas Neue"/>
              <a:buNone/>
            </a:pPr>
            <a:r>
              <a:rPr lang="en-US"/>
              <a:t>Credit &amp; Loans</a:t>
            </a:r>
            <a:endParaRPr/>
          </a:p>
        </p:txBody>
      </p:sp>
      <p:sp>
        <p:nvSpPr>
          <p:cNvPr id="132" name="Google Shape;132;p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a:t>Workshop 6</a:t>
            </a:r>
            <a:endParaRPr/>
          </a:p>
          <a:p>
            <a:pPr indent="0" lvl="0" marL="0" rtl="0" algn="l">
              <a:lnSpc>
                <a:spcPct val="90000"/>
              </a:lnSpc>
              <a:spcBef>
                <a:spcPts val="1400"/>
              </a:spcBef>
              <a:spcAft>
                <a:spcPts val="0"/>
              </a:spcAft>
              <a:buSzPts val="2400"/>
              <a:buNone/>
            </a:pPr>
            <a:r>
              <a:rPr lang="en-US"/>
              <a:t>PG. 99 IN STUDENT GUIDE</a:t>
            </a:r>
            <a:endParaRPr/>
          </a:p>
        </p:txBody>
      </p:sp>
      <p:sp>
        <p:nvSpPr>
          <p:cNvPr id="133" name="Google Shape;133;p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34" name="Google Shape;134;p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Welcome Back!</a:t>
            </a:r>
            <a:endParaRPr>
              <a:solidFill>
                <a:schemeClr val="accent1"/>
              </a:solidFill>
            </a:endParaRPr>
          </a:p>
        </p:txBody>
      </p:sp>
      <p:sp>
        <p:nvSpPr>
          <p:cNvPr id="141" name="Google Shape;141;p3"/>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000"/>
              <a:buNone/>
            </a:pPr>
            <a:r>
              <a:rPr b="1" lang="en-US"/>
              <a:t>Updates &amp; Sharing:</a:t>
            </a:r>
            <a:endParaRPr/>
          </a:p>
          <a:p>
            <a:pPr indent="-342900" lvl="1" marL="635508" rtl="0" algn="l">
              <a:lnSpc>
                <a:spcPct val="90000"/>
              </a:lnSpc>
              <a:spcBef>
                <a:spcPts val="400"/>
              </a:spcBef>
              <a:spcAft>
                <a:spcPts val="0"/>
              </a:spcAft>
              <a:buSzPts val="1800"/>
              <a:buFont typeface="Calibri"/>
              <a:buAutoNum type="arabicPeriod"/>
            </a:pPr>
            <a:r>
              <a:rPr lang="en-US"/>
              <a:t>How did the money saving homework go?</a:t>
            </a:r>
            <a:endParaRPr/>
          </a:p>
          <a:p>
            <a:pPr indent="-342900" lvl="1" marL="635508" rtl="0" algn="l">
              <a:lnSpc>
                <a:spcPct val="90000"/>
              </a:lnSpc>
              <a:spcBef>
                <a:spcPts val="600"/>
              </a:spcBef>
              <a:spcAft>
                <a:spcPts val="0"/>
              </a:spcAft>
              <a:buSzPts val="1800"/>
              <a:buFont typeface="Calibri"/>
              <a:buAutoNum type="arabicPeriod"/>
            </a:pPr>
            <a:r>
              <a:rPr lang="en-US"/>
              <a:t>How are your budgets going?</a:t>
            </a:r>
            <a:endParaRPr/>
          </a:p>
          <a:p>
            <a:pPr indent="0" lvl="0" marL="0" rtl="0" algn="l">
              <a:lnSpc>
                <a:spcPct val="90000"/>
              </a:lnSpc>
              <a:spcBef>
                <a:spcPts val="1600"/>
              </a:spcBef>
              <a:spcAft>
                <a:spcPts val="0"/>
              </a:spcAft>
              <a:buSzPts val="2000"/>
              <a:buNone/>
            </a:pPr>
            <a:r>
              <a:rPr b="1" lang="en-US"/>
              <a:t>Today’s Agenda:</a:t>
            </a:r>
            <a:endParaRPr b="1">
              <a:solidFill>
                <a:schemeClr val="accent1"/>
              </a:solidFill>
            </a:endParaRPr>
          </a:p>
          <a:p>
            <a:pPr indent="-457200" lvl="0" marL="457200" rtl="0" algn="l">
              <a:lnSpc>
                <a:spcPct val="90000"/>
              </a:lnSpc>
              <a:spcBef>
                <a:spcPts val="1400"/>
              </a:spcBef>
              <a:spcAft>
                <a:spcPts val="0"/>
              </a:spcAft>
              <a:buSzPts val="2000"/>
              <a:buFont typeface="Calibri"/>
              <a:buAutoNum type="arabicPeriod"/>
            </a:pPr>
            <a:r>
              <a:rPr lang="en-US"/>
              <a:t>Learn about credit -- how it works, what credit reports and credit scores are, FAQs about credit scores, and common credit card terms.</a:t>
            </a:r>
            <a:endParaRPr/>
          </a:p>
          <a:p>
            <a:pPr indent="-457200" lvl="0" marL="457200" rtl="0" algn="l">
              <a:lnSpc>
                <a:spcPct val="90000"/>
              </a:lnSpc>
              <a:spcBef>
                <a:spcPts val="1400"/>
              </a:spcBef>
              <a:spcAft>
                <a:spcPts val="0"/>
              </a:spcAft>
              <a:buSzPts val="2000"/>
              <a:buFont typeface="Calibri"/>
              <a:buAutoNum type="arabicPeriod"/>
            </a:pPr>
            <a:r>
              <a:rPr lang="en-US"/>
              <a:t>Discuss the pros and cons of credit, what to do if your credit card is lost or stolen, how to develop healthy credit habits, and how to pay down credit card debt.</a:t>
            </a:r>
            <a:endParaRPr/>
          </a:p>
          <a:p>
            <a:pPr indent="-457200" lvl="0" marL="457200" rtl="0" algn="l">
              <a:lnSpc>
                <a:spcPct val="90000"/>
              </a:lnSpc>
              <a:spcBef>
                <a:spcPts val="1400"/>
              </a:spcBef>
              <a:spcAft>
                <a:spcPts val="0"/>
              </a:spcAft>
              <a:buSzPts val="2000"/>
              <a:buFont typeface="Calibri"/>
              <a:buAutoNum type="arabicPeriod"/>
            </a:pPr>
            <a:r>
              <a:rPr lang="en-US"/>
              <a:t>Learn about loans – what they are and why someone would take one out, pros and cons, common terms used in loan contracts, and interest rates on loans.</a:t>
            </a:r>
            <a:endParaRPr/>
          </a:p>
          <a:p>
            <a:pPr indent="-457200" lvl="0" marL="457200" rtl="0" algn="l">
              <a:lnSpc>
                <a:spcPct val="90000"/>
              </a:lnSpc>
              <a:spcBef>
                <a:spcPts val="1400"/>
              </a:spcBef>
              <a:spcAft>
                <a:spcPts val="0"/>
              </a:spcAft>
              <a:buSzPts val="2000"/>
              <a:buFont typeface="Calibri"/>
              <a:buAutoNum type="arabicPeriod"/>
            </a:pPr>
            <a:r>
              <a:rPr lang="en-US"/>
              <a:t>Understand the definition and warning signs of predatory lending, and how to take action to avoid or respond to predatory lenders.</a:t>
            </a:r>
            <a:endParaRPr/>
          </a:p>
        </p:txBody>
      </p:sp>
      <p:sp>
        <p:nvSpPr>
          <p:cNvPr id="142" name="Google Shape;142;p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43" name="Google Shape;143;p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Community Agreements:</a:t>
            </a:r>
            <a:endParaRPr>
              <a:solidFill>
                <a:schemeClr val="accent1"/>
              </a:solidFill>
            </a:endParaRPr>
          </a:p>
        </p:txBody>
      </p:sp>
      <p:sp>
        <p:nvSpPr>
          <p:cNvPr id="149" name="Google Shape;149;p4"/>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150" name="Google Shape;150;p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51" name="Google Shape;151;p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Learning Objectives</a:t>
            </a:r>
            <a:endParaRPr/>
          </a:p>
        </p:txBody>
      </p:sp>
      <p:sp>
        <p:nvSpPr>
          <p:cNvPr id="157" name="Google Shape;157;p5"/>
          <p:cNvSpPr txBox="1"/>
          <p:nvPr>
            <p:ph idx="1" type="body"/>
          </p:nvPr>
        </p:nvSpPr>
        <p:spPr>
          <a:xfrm>
            <a:off x="1097275" y="1859800"/>
            <a:ext cx="8056200" cy="3739800"/>
          </a:xfrm>
          <a:prstGeom prst="rect">
            <a:avLst/>
          </a:prstGeom>
          <a:noFill/>
          <a:ln>
            <a:noFill/>
          </a:ln>
        </p:spPr>
        <p:txBody>
          <a:bodyPr anchorCtr="0" anchor="ctr" bIns="45700" lIns="0" spcFirstLastPara="1" rIns="0" wrap="square" tIns="45700">
            <a:normAutofit fontScale="85000" lnSpcReduction="20000"/>
          </a:bodyPr>
          <a:lstStyle/>
          <a:p>
            <a:pPr indent="0" lvl="0" marL="91440" rtl="0" algn="l">
              <a:lnSpc>
                <a:spcPct val="90000"/>
              </a:lnSpc>
              <a:spcBef>
                <a:spcPts val="0"/>
              </a:spcBef>
              <a:spcAft>
                <a:spcPts val="0"/>
              </a:spcAft>
              <a:buSzPct val="100000"/>
              <a:buNone/>
            </a:pPr>
            <a:r>
              <a:t/>
            </a:r>
            <a:endParaRPr i="1" sz="1800"/>
          </a:p>
          <a:p>
            <a:pPr indent="0" lvl="0" marL="91440" rtl="0" algn="l">
              <a:lnSpc>
                <a:spcPct val="90000"/>
              </a:lnSpc>
              <a:spcBef>
                <a:spcPts val="1400"/>
              </a:spcBef>
              <a:spcAft>
                <a:spcPts val="0"/>
              </a:spcAft>
              <a:buNone/>
            </a:pPr>
            <a:r>
              <a:rPr i="1" lang="en-US" sz="1800"/>
              <a:t>Upon conclusion of Workshop 6, participants will: </a:t>
            </a:r>
            <a:endParaRPr sz="1800"/>
          </a:p>
          <a:p>
            <a:pPr indent="-334327" lvl="0" marL="342900" rtl="0" algn="l">
              <a:lnSpc>
                <a:spcPct val="90000"/>
              </a:lnSpc>
              <a:spcBef>
                <a:spcPts val="1400"/>
              </a:spcBef>
              <a:spcAft>
                <a:spcPts val="0"/>
              </a:spcAft>
              <a:buSzPct val="100000"/>
              <a:buFont typeface="Calibri"/>
              <a:buAutoNum type="arabicPeriod"/>
            </a:pPr>
            <a:r>
              <a:rPr lang="en-US" sz="1800"/>
              <a:t>Have learned the basics of how credit works and understand basic credit terms</a:t>
            </a:r>
            <a:endParaRPr/>
          </a:p>
          <a:p>
            <a:pPr indent="-334327" lvl="0" marL="342900" rtl="0" algn="l">
              <a:lnSpc>
                <a:spcPct val="90000"/>
              </a:lnSpc>
              <a:spcBef>
                <a:spcPts val="1400"/>
              </a:spcBef>
              <a:spcAft>
                <a:spcPts val="0"/>
              </a:spcAft>
              <a:buSzPct val="100000"/>
              <a:buFont typeface="Calibri"/>
              <a:buAutoNum type="arabicPeriod"/>
            </a:pPr>
            <a:r>
              <a:rPr lang="en-US" sz="1800"/>
              <a:t>Understand the pros and cons of credit</a:t>
            </a:r>
            <a:endParaRPr/>
          </a:p>
          <a:p>
            <a:pPr indent="-334327" lvl="0" marL="342900" rtl="0" algn="l">
              <a:lnSpc>
                <a:spcPct val="90000"/>
              </a:lnSpc>
              <a:spcBef>
                <a:spcPts val="1400"/>
              </a:spcBef>
              <a:spcAft>
                <a:spcPts val="0"/>
              </a:spcAft>
              <a:buSzPct val="100000"/>
              <a:buFont typeface="Calibri"/>
              <a:buAutoNum type="arabicPeriod"/>
            </a:pPr>
            <a:r>
              <a:rPr lang="en-US" sz="1800"/>
              <a:t>Know how to identify for themselves a comfortable line of credit</a:t>
            </a:r>
            <a:endParaRPr/>
          </a:p>
          <a:p>
            <a:pPr indent="-334327" lvl="0" marL="342900" rtl="0" algn="l">
              <a:lnSpc>
                <a:spcPct val="90000"/>
              </a:lnSpc>
              <a:spcBef>
                <a:spcPts val="1400"/>
              </a:spcBef>
              <a:spcAft>
                <a:spcPts val="0"/>
              </a:spcAft>
              <a:buSzPct val="100000"/>
              <a:buFont typeface="Calibri"/>
              <a:buAutoNum type="arabicPeriod"/>
            </a:pPr>
            <a:r>
              <a:rPr lang="en-US" sz="1800"/>
              <a:t>Understand the importance of credit reports and credit scores</a:t>
            </a:r>
            <a:endParaRPr/>
          </a:p>
          <a:p>
            <a:pPr indent="-334327" lvl="0" marL="342900" rtl="0" algn="l">
              <a:lnSpc>
                <a:spcPct val="90000"/>
              </a:lnSpc>
              <a:spcBef>
                <a:spcPts val="1400"/>
              </a:spcBef>
              <a:spcAft>
                <a:spcPts val="0"/>
              </a:spcAft>
              <a:buSzPct val="100000"/>
              <a:buFont typeface="Calibri"/>
              <a:buAutoNum type="arabicPeriod"/>
            </a:pPr>
            <a:r>
              <a:rPr lang="en-US" sz="1800"/>
              <a:t>Have learned effective techniques to pay down credit cards</a:t>
            </a:r>
            <a:endParaRPr/>
          </a:p>
          <a:p>
            <a:pPr indent="-334327" lvl="0" marL="342900" rtl="0" algn="l">
              <a:lnSpc>
                <a:spcPct val="90000"/>
              </a:lnSpc>
              <a:spcBef>
                <a:spcPts val="1400"/>
              </a:spcBef>
              <a:spcAft>
                <a:spcPts val="0"/>
              </a:spcAft>
              <a:buSzPct val="100000"/>
              <a:buFont typeface="Calibri"/>
              <a:buAutoNum type="arabicPeriod"/>
            </a:pPr>
            <a:r>
              <a:rPr lang="en-US" sz="1800"/>
              <a:t>Understand loans, loan contracts, interest rates, and the pros and cons of taking out a loan</a:t>
            </a:r>
            <a:endParaRPr/>
          </a:p>
          <a:p>
            <a:pPr indent="-334327" lvl="0" marL="342900" rtl="0" algn="l">
              <a:lnSpc>
                <a:spcPct val="90000"/>
              </a:lnSpc>
              <a:spcBef>
                <a:spcPts val="1400"/>
              </a:spcBef>
              <a:spcAft>
                <a:spcPts val="0"/>
              </a:spcAft>
              <a:buSzPct val="100000"/>
              <a:buFont typeface="Calibri"/>
              <a:buAutoNum type="arabicPeriod"/>
            </a:pPr>
            <a:r>
              <a:rPr lang="en-US" sz="1800"/>
              <a:t>Be able to identify the warning signs of predatory lending</a:t>
            </a:r>
            <a:endParaRPr/>
          </a:p>
          <a:p>
            <a:pPr indent="0" lvl="0" marL="0" rtl="0" algn="l">
              <a:lnSpc>
                <a:spcPct val="90000"/>
              </a:lnSpc>
              <a:spcBef>
                <a:spcPts val="1400"/>
              </a:spcBef>
              <a:spcAft>
                <a:spcPts val="0"/>
              </a:spcAft>
              <a:buSzPct val="100000"/>
              <a:buNone/>
            </a:pPr>
            <a:r>
              <a:t/>
            </a:r>
            <a:endParaRPr i="1" sz="1800"/>
          </a:p>
        </p:txBody>
      </p:sp>
      <p:sp>
        <p:nvSpPr>
          <p:cNvPr id="158" name="Google Shape;158;p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pic>
        <p:nvPicPr>
          <p:cNvPr id="159" name="Google Shape;159;p5"/>
          <p:cNvPicPr preferRelativeResize="0"/>
          <p:nvPr/>
        </p:nvPicPr>
        <p:blipFill rotWithShape="1">
          <a:blip r:embed="rId3">
            <a:alphaModFix/>
          </a:blip>
          <a:srcRect b="0" l="0" r="0" t="0"/>
          <a:stretch/>
        </p:blipFill>
        <p:spPr>
          <a:xfrm>
            <a:off x="9153427" y="2295970"/>
            <a:ext cx="2337847" cy="2337847"/>
          </a:xfrm>
          <a:prstGeom prst="rect">
            <a:avLst/>
          </a:prstGeom>
          <a:noFill/>
          <a:ln>
            <a:noFill/>
          </a:ln>
        </p:spPr>
      </p:pic>
      <p:sp>
        <p:nvSpPr>
          <p:cNvPr id="160" name="Google Shape;160;p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How Credit Works</a:t>
            </a:r>
            <a:endParaRPr>
              <a:solidFill>
                <a:schemeClr val="accent1"/>
              </a:solidFill>
            </a:endParaRPr>
          </a:p>
        </p:txBody>
      </p:sp>
      <p:sp>
        <p:nvSpPr>
          <p:cNvPr id="166" name="Google Shape;166;p6"/>
          <p:cNvSpPr txBox="1"/>
          <p:nvPr>
            <p:ph idx="1" type="body"/>
          </p:nvPr>
        </p:nvSpPr>
        <p:spPr>
          <a:xfrm>
            <a:off x="1097279" y="1845734"/>
            <a:ext cx="6449198"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000"/>
              <a:buNone/>
            </a:pPr>
            <a:r>
              <a:rPr b="1" lang="en-US"/>
              <a:t>The Credit System:</a:t>
            </a:r>
            <a:endParaRPr/>
          </a:p>
          <a:p>
            <a:pPr indent="-127000" lvl="0" marL="91440" rtl="0" algn="l">
              <a:lnSpc>
                <a:spcPct val="90000"/>
              </a:lnSpc>
              <a:spcBef>
                <a:spcPts val="1400"/>
              </a:spcBef>
              <a:spcAft>
                <a:spcPts val="0"/>
              </a:spcAft>
              <a:buSzPts val="2000"/>
              <a:buFont typeface="Arial"/>
              <a:buChar char="•"/>
            </a:pPr>
            <a:r>
              <a:rPr lang="en-US"/>
              <a:t> Information about your credit card and loan accounts is reported electronically to the three credit bureaus by your creditors every 30 days</a:t>
            </a:r>
            <a:endParaRPr/>
          </a:p>
          <a:p>
            <a:pPr indent="-127000" lvl="0" marL="91440" rtl="0" algn="l">
              <a:lnSpc>
                <a:spcPct val="90000"/>
              </a:lnSpc>
              <a:spcBef>
                <a:spcPts val="1400"/>
              </a:spcBef>
              <a:spcAft>
                <a:spcPts val="0"/>
              </a:spcAft>
              <a:buSzPts val="2000"/>
              <a:buFont typeface="Arial"/>
              <a:buChar char="•"/>
            </a:pPr>
            <a:r>
              <a:rPr lang="en-US"/>
              <a:t> These bureaus --</a:t>
            </a:r>
            <a:r>
              <a:rPr b="1" lang="en-US">
                <a:solidFill>
                  <a:schemeClr val="dk2"/>
                </a:solidFill>
              </a:rPr>
              <a:t>TransUnion, Equifax, and Experian </a:t>
            </a:r>
            <a:r>
              <a:rPr lang="en-US"/>
              <a:t>-- collect and store your credit information for future reference.</a:t>
            </a:r>
            <a:endParaRPr/>
          </a:p>
          <a:p>
            <a:pPr indent="-127000" lvl="0" marL="91440" rtl="0" algn="l">
              <a:lnSpc>
                <a:spcPct val="90000"/>
              </a:lnSpc>
              <a:spcBef>
                <a:spcPts val="1400"/>
              </a:spcBef>
              <a:spcAft>
                <a:spcPts val="0"/>
              </a:spcAft>
              <a:buSzPts val="2000"/>
              <a:buFont typeface="Arial"/>
              <a:buChar char="•"/>
            </a:pPr>
            <a:r>
              <a:rPr lang="en-US"/>
              <a:t> This information makes up your credit report, which is used by potential lenders to determine if you are a risky customer</a:t>
            </a:r>
            <a:endParaRPr/>
          </a:p>
          <a:p>
            <a:pPr indent="0" lvl="0" marL="91440" rtl="0" algn="l">
              <a:lnSpc>
                <a:spcPct val="90000"/>
              </a:lnSpc>
              <a:spcBef>
                <a:spcPts val="1400"/>
              </a:spcBef>
              <a:spcAft>
                <a:spcPts val="0"/>
              </a:spcAft>
              <a:buSzPts val="2000"/>
              <a:buFont typeface="Arial"/>
              <a:buNone/>
            </a:pPr>
            <a:r>
              <a:t/>
            </a:r>
            <a:endParaRPr/>
          </a:p>
          <a:p>
            <a:pPr indent="0" lvl="0" marL="0" rtl="0" algn="l">
              <a:lnSpc>
                <a:spcPct val="90000"/>
              </a:lnSpc>
              <a:spcBef>
                <a:spcPts val="1400"/>
              </a:spcBef>
              <a:spcAft>
                <a:spcPts val="0"/>
              </a:spcAft>
              <a:buSzPts val="2000"/>
              <a:buNone/>
            </a:pPr>
            <a:r>
              <a:rPr lang="en-US"/>
              <a:t> </a:t>
            </a:r>
            <a:endParaRPr/>
          </a:p>
          <a:p>
            <a:pPr indent="0" lvl="0" marL="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Font typeface="Courier New"/>
              <a:buNone/>
            </a:pPr>
            <a:r>
              <a:t/>
            </a:r>
            <a:endParaRPr/>
          </a:p>
          <a:p>
            <a:pPr indent="0" lvl="0" marL="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Font typeface="Courier New"/>
              <a:buNone/>
            </a:pPr>
            <a:r>
              <a:t/>
            </a:r>
            <a:endParaRPr/>
          </a:p>
        </p:txBody>
      </p:sp>
      <p:pic>
        <p:nvPicPr>
          <p:cNvPr id="167" name="Google Shape;167;p6"/>
          <p:cNvPicPr preferRelativeResize="0"/>
          <p:nvPr/>
        </p:nvPicPr>
        <p:blipFill rotWithShape="1">
          <a:blip r:embed="rId3">
            <a:alphaModFix/>
          </a:blip>
          <a:srcRect b="0" l="0" r="0" t="0"/>
          <a:stretch/>
        </p:blipFill>
        <p:spPr>
          <a:xfrm>
            <a:off x="7546477" y="1845734"/>
            <a:ext cx="4152900" cy="4200525"/>
          </a:xfrm>
          <a:prstGeom prst="rect">
            <a:avLst/>
          </a:prstGeom>
          <a:noFill/>
          <a:ln>
            <a:noFill/>
          </a:ln>
        </p:spPr>
      </p:pic>
      <p:sp>
        <p:nvSpPr>
          <p:cNvPr id="168" name="Google Shape;168;p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69" name="Google Shape;169;p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Credit Reports &amp; Credit Scores</a:t>
            </a:r>
            <a:endParaRPr>
              <a:solidFill>
                <a:schemeClr val="accent1"/>
              </a:solidFill>
            </a:endParaRPr>
          </a:p>
        </p:txBody>
      </p:sp>
      <p:sp>
        <p:nvSpPr>
          <p:cNvPr id="175" name="Google Shape;175;p7"/>
          <p:cNvSpPr txBox="1"/>
          <p:nvPr>
            <p:ph idx="1" type="body"/>
          </p:nvPr>
        </p:nvSpPr>
        <p:spPr>
          <a:xfrm>
            <a:off x="1097279" y="1845734"/>
            <a:ext cx="5936741" cy="4023360"/>
          </a:xfrm>
          <a:prstGeom prst="rect">
            <a:avLst/>
          </a:prstGeom>
          <a:noFill/>
          <a:ln>
            <a:noFill/>
          </a:ln>
        </p:spPr>
        <p:txBody>
          <a:bodyPr anchorCtr="0" anchor="t" bIns="45700" lIns="0" spcFirstLastPara="1" rIns="0" wrap="square" tIns="45700">
            <a:normAutofit fontScale="92500" lnSpcReduction="10000"/>
          </a:bodyPr>
          <a:lstStyle/>
          <a:p>
            <a:pPr indent="0" lvl="0" marL="0" rtl="0" algn="l">
              <a:lnSpc>
                <a:spcPct val="90000"/>
              </a:lnSpc>
              <a:spcBef>
                <a:spcPts val="0"/>
              </a:spcBef>
              <a:spcAft>
                <a:spcPts val="0"/>
              </a:spcAft>
              <a:buSzPct val="100000"/>
              <a:buNone/>
            </a:pPr>
            <a:r>
              <a:rPr b="1" lang="en-US"/>
              <a:t>Credit Reports: </a:t>
            </a:r>
            <a:r>
              <a:rPr lang="en-US"/>
              <a:t>An accumulation of information about how well you pay your credit card bills and repay loans, how much credit you have available, what your monthly debts are, and if you have any bankruptcies or tax liens on record</a:t>
            </a:r>
            <a:endParaRPr/>
          </a:p>
          <a:p>
            <a:pPr indent="0" lvl="0" marL="0" rtl="0" algn="l">
              <a:lnSpc>
                <a:spcPct val="90000"/>
              </a:lnSpc>
              <a:spcBef>
                <a:spcPts val="1400"/>
              </a:spcBef>
              <a:spcAft>
                <a:spcPts val="0"/>
              </a:spcAft>
              <a:buSzPct val="100000"/>
              <a:buNone/>
            </a:pPr>
            <a:r>
              <a:rPr b="1" lang="en-US"/>
              <a:t>Credit Scores: </a:t>
            </a:r>
            <a:r>
              <a:rPr lang="en-US"/>
              <a:t>A 3-digit score representing the information in your credit reports; indicating how risky a borrower you are from a lender’s perspective</a:t>
            </a:r>
            <a:endParaRPr/>
          </a:p>
          <a:p>
            <a:pPr indent="-285750" lvl="1" marL="578358" rtl="0" algn="l">
              <a:lnSpc>
                <a:spcPct val="90000"/>
              </a:lnSpc>
              <a:spcBef>
                <a:spcPts val="400"/>
              </a:spcBef>
              <a:spcAft>
                <a:spcPts val="0"/>
              </a:spcAft>
              <a:buSzPct val="100000"/>
              <a:buFont typeface="Noto Sans Symbols"/>
              <a:buChar char="▪"/>
            </a:pPr>
            <a:r>
              <a:rPr lang="en-US"/>
              <a:t>A higher credit score (700+) will get you better interest rates and deals </a:t>
            </a:r>
            <a:endParaRPr/>
          </a:p>
          <a:p>
            <a:pPr indent="-285750" lvl="1" marL="578358" rtl="0" algn="l">
              <a:lnSpc>
                <a:spcPct val="90000"/>
              </a:lnSpc>
              <a:spcBef>
                <a:spcPts val="600"/>
              </a:spcBef>
              <a:spcAft>
                <a:spcPts val="0"/>
              </a:spcAft>
              <a:buSzPct val="100000"/>
              <a:buFont typeface="Noto Sans Symbols"/>
              <a:buChar char="▪"/>
            </a:pPr>
            <a:r>
              <a:rPr lang="en-US"/>
              <a:t>Best way to have a healthy credit score: use your credit cards and/or loans responsibly and pay on time every month</a:t>
            </a:r>
            <a:endParaRPr/>
          </a:p>
          <a:p>
            <a:pPr indent="0" lvl="0" marL="0" rtl="0" algn="l">
              <a:lnSpc>
                <a:spcPct val="90000"/>
              </a:lnSpc>
              <a:spcBef>
                <a:spcPts val="1600"/>
              </a:spcBef>
              <a:spcAft>
                <a:spcPts val="0"/>
              </a:spcAft>
              <a:buSzPct val="100000"/>
              <a:buNone/>
            </a:pPr>
            <a:r>
              <a:rPr b="1" lang="en-US"/>
              <a:t>Discussion: </a:t>
            </a:r>
            <a:r>
              <a:rPr i="1" lang="en-US"/>
              <a:t>What are some financial activities</a:t>
            </a:r>
            <a:r>
              <a:rPr lang="en-US"/>
              <a:t> </a:t>
            </a:r>
            <a:r>
              <a:rPr i="1" lang="en-US"/>
              <a:t>that would require good credit?</a:t>
            </a:r>
            <a:r>
              <a:rPr lang="en-US"/>
              <a:t> </a:t>
            </a:r>
            <a:endParaRPr/>
          </a:p>
          <a:p>
            <a:pPr indent="0" lvl="0" marL="91440" rtl="0" algn="l">
              <a:lnSpc>
                <a:spcPct val="90000"/>
              </a:lnSpc>
              <a:spcBef>
                <a:spcPts val="1400"/>
              </a:spcBef>
              <a:spcAft>
                <a:spcPts val="0"/>
              </a:spcAft>
              <a:buSzPct val="100000"/>
              <a:buNone/>
            </a:pPr>
            <a:r>
              <a:t/>
            </a:r>
            <a:endParaRPr/>
          </a:p>
        </p:txBody>
      </p:sp>
      <p:pic>
        <p:nvPicPr>
          <p:cNvPr id="176" name="Google Shape;176;p7"/>
          <p:cNvPicPr preferRelativeResize="0"/>
          <p:nvPr/>
        </p:nvPicPr>
        <p:blipFill rotWithShape="1">
          <a:blip r:embed="rId3">
            <a:alphaModFix/>
          </a:blip>
          <a:srcRect b="0" l="0" r="0" t="0"/>
          <a:stretch/>
        </p:blipFill>
        <p:spPr>
          <a:xfrm>
            <a:off x="7140788" y="2125362"/>
            <a:ext cx="4816434" cy="3344608"/>
          </a:xfrm>
          <a:prstGeom prst="rect">
            <a:avLst/>
          </a:prstGeom>
          <a:noFill/>
          <a:ln>
            <a:noFill/>
          </a:ln>
        </p:spPr>
      </p:pic>
      <p:sp>
        <p:nvSpPr>
          <p:cNvPr id="177" name="Google Shape;177;p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78" name="Google Shape;178;p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Credit Cards: Fact or Fiction?</a:t>
            </a:r>
            <a:endParaRPr>
              <a:solidFill>
                <a:schemeClr val="accent1"/>
              </a:solidFill>
            </a:endParaRPr>
          </a:p>
        </p:txBody>
      </p:sp>
      <p:sp>
        <p:nvSpPr>
          <p:cNvPr id="184" name="Google Shape;184;p8"/>
          <p:cNvSpPr txBox="1"/>
          <p:nvPr>
            <p:ph idx="1" type="body"/>
          </p:nvPr>
        </p:nvSpPr>
        <p:spPr>
          <a:xfrm>
            <a:off x="1097279" y="1845734"/>
            <a:ext cx="7886083"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b="1" lang="en-US"/>
              <a:t>True or False?</a:t>
            </a:r>
            <a:endParaRPr/>
          </a:p>
          <a:p>
            <a:pPr indent="-457200" lvl="0" marL="457200" rtl="0" algn="l">
              <a:lnSpc>
                <a:spcPct val="90000"/>
              </a:lnSpc>
              <a:spcBef>
                <a:spcPts val="1400"/>
              </a:spcBef>
              <a:spcAft>
                <a:spcPts val="0"/>
              </a:spcAft>
              <a:buSzPts val="2000"/>
              <a:buFont typeface="Calibri"/>
              <a:buAutoNum type="arabicPeriod"/>
            </a:pPr>
            <a:r>
              <a:rPr lang="en-US"/>
              <a:t>When a credit card company/bank sets limits on how much can be charged on a card, it’s based on your ability to handle debt</a:t>
            </a:r>
            <a:endParaRPr/>
          </a:p>
          <a:p>
            <a:pPr indent="0" lvl="1" marL="201168" rtl="0" algn="l">
              <a:lnSpc>
                <a:spcPct val="90000"/>
              </a:lnSpc>
              <a:spcBef>
                <a:spcPts val="400"/>
              </a:spcBef>
              <a:spcAft>
                <a:spcPts val="0"/>
              </a:spcAft>
              <a:buSzPts val="1800"/>
              <a:buNone/>
            </a:pPr>
            <a:r>
              <a:rPr lang="en-US"/>
              <a:t>				T/F</a:t>
            </a:r>
            <a:endParaRPr/>
          </a:p>
          <a:p>
            <a:pPr indent="-228600" lvl="1" marL="544068" rtl="0" algn="l">
              <a:lnSpc>
                <a:spcPct val="90000"/>
              </a:lnSpc>
              <a:spcBef>
                <a:spcPts val="600"/>
              </a:spcBef>
              <a:spcAft>
                <a:spcPts val="0"/>
              </a:spcAft>
              <a:buSzPts val="1800"/>
              <a:buFont typeface="Calibri"/>
              <a:buNone/>
            </a:pPr>
            <a:r>
              <a:t/>
            </a:r>
            <a:endParaRPr/>
          </a:p>
          <a:p>
            <a:pPr indent="-457200" lvl="0" marL="457200" rtl="0" algn="l">
              <a:lnSpc>
                <a:spcPct val="90000"/>
              </a:lnSpc>
              <a:spcBef>
                <a:spcPts val="1600"/>
              </a:spcBef>
              <a:spcAft>
                <a:spcPts val="0"/>
              </a:spcAft>
              <a:buSzPts val="2000"/>
              <a:buFont typeface="Calibri"/>
              <a:buAutoNum type="arabicPeriod"/>
            </a:pPr>
            <a:r>
              <a:rPr lang="en-US"/>
              <a:t>Late fees, if you don’t pay your bill on time, can be as high as $35</a:t>
            </a:r>
            <a:endParaRPr/>
          </a:p>
          <a:p>
            <a:pPr indent="0" lvl="1" marL="201168" rtl="0" algn="l">
              <a:lnSpc>
                <a:spcPct val="90000"/>
              </a:lnSpc>
              <a:spcBef>
                <a:spcPts val="400"/>
              </a:spcBef>
              <a:spcAft>
                <a:spcPts val="0"/>
              </a:spcAft>
              <a:buSzPts val="1800"/>
              <a:buNone/>
            </a:pPr>
            <a:r>
              <a:rPr lang="en-US"/>
              <a:t>				T/F</a:t>
            </a:r>
            <a:endParaRPr/>
          </a:p>
          <a:p>
            <a:pPr indent="-228600" lvl="1" marL="544068" rtl="0" algn="l">
              <a:lnSpc>
                <a:spcPct val="90000"/>
              </a:lnSpc>
              <a:spcBef>
                <a:spcPts val="600"/>
              </a:spcBef>
              <a:spcAft>
                <a:spcPts val="0"/>
              </a:spcAft>
              <a:buSzPts val="1800"/>
              <a:buFont typeface="Calibri"/>
              <a:buNone/>
            </a:pPr>
            <a:r>
              <a:t/>
            </a:r>
            <a:endParaRPr/>
          </a:p>
          <a:p>
            <a:pPr indent="-457200" lvl="0" marL="457200" rtl="0" algn="l">
              <a:lnSpc>
                <a:spcPct val="90000"/>
              </a:lnSpc>
              <a:spcBef>
                <a:spcPts val="1600"/>
              </a:spcBef>
              <a:spcAft>
                <a:spcPts val="0"/>
              </a:spcAft>
              <a:buSzPts val="2000"/>
              <a:buFont typeface="Calibri"/>
              <a:buAutoNum type="arabicPeriod"/>
            </a:pPr>
            <a:r>
              <a:rPr lang="en-US"/>
              <a:t>Usually, the lower your credit score, the higher your credit card interest rates will be</a:t>
            </a:r>
            <a:endParaRPr/>
          </a:p>
          <a:p>
            <a:pPr indent="0" lvl="0" marL="0" rtl="0" algn="l">
              <a:lnSpc>
                <a:spcPct val="90000"/>
              </a:lnSpc>
              <a:spcBef>
                <a:spcPts val="1400"/>
              </a:spcBef>
              <a:spcAft>
                <a:spcPts val="0"/>
              </a:spcAft>
              <a:buSzPts val="2000"/>
              <a:buNone/>
            </a:pPr>
            <a:r>
              <a:rPr lang="en-US"/>
              <a:t>				T/F</a:t>
            </a:r>
            <a:endParaRPr/>
          </a:p>
          <a:p>
            <a:pPr indent="0" lvl="1" marL="201168" rtl="0" algn="l">
              <a:lnSpc>
                <a:spcPct val="90000"/>
              </a:lnSpc>
              <a:spcBef>
                <a:spcPts val="400"/>
              </a:spcBef>
              <a:spcAft>
                <a:spcPts val="0"/>
              </a:spcAft>
              <a:buSzPts val="1800"/>
              <a:buNone/>
            </a:pPr>
            <a:r>
              <a:t/>
            </a:r>
            <a:endParaRPr/>
          </a:p>
        </p:txBody>
      </p:sp>
      <p:pic>
        <p:nvPicPr>
          <p:cNvPr id="185" name="Google Shape;185;p8"/>
          <p:cNvPicPr preferRelativeResize="0"/>
          <p:nvPr/>
        </p:nvPicPr>
        <p:blipFill rotWithShape="1">
          <a:blip r:embed="rId3">
            <a:alphaModFix/>
          </a:blip>
          <a:srcRect b="0" l="0" r="0" t="0"/>
          <a:stretch/>
        </p:blipFill>
        <p:spPr>
          <a:xfrm>
            <a:off x="9090009" y="2888672"/>
            <a:ext cx="2834261" cy="1937483"/>
          </a:xfrm>
          <a:prstGeom prst="rect">
            <a:avLst/>
          </a:prstGeom>
          <a:noFill/>
          <a:ln>
            <a:noFill/>
          </a:ln>
        </p:spPr>
      </p:pic>
      <p:sp>
        <p:nvSpPr>
          <p:cNvPr id="186" name="Google Shape;186;p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87" name="Google Shape;187;p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Credit Cards: Fact or Fiction?</a:t>
            </a:r>
            <a:endParaRPr>
              <a:solidFill>
                <a:schemeClr val="accent1"/>
              </a:solidFill>
            </a:endParaRPr>
          </a:p>
        </p:txBody>
      </p:sp>
      <p:sp>
        <p:nvSpPr>
          <p:cNvPr id="193" name="Google Shape;193;p9"/>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US"/>
              <a:t>True or False?</a:t>
            </a:r>
            <a:endParaRPr/>
          </a:p>
          <a:p>
            <a:pPr indent="-127000" lvl="0" marL="91440" rtl="0" algn="l">
              <a:lnSpc>
                <a:spcPct val="90000"/>
              </a:lnSpc>
              <a:spcBef>
                <a:spcPts val="1400"/>
              </a:spcBef>
              <a:spcAft>
                <a:spcPts val="0"/>
              </a:spcAft>
              <a:buSzPts val="2000"/>
              <a:buChar char=" "/>
            </a:pPr>
            <a:r>
              <a:rPr lang="en-US">
                <a:solidFill>
                  <a:schemeClr val="accent1"/>
                </a:solidFill>
              </a:rPr>
              <a:t>4.   </a:t>
            </a:r>
            <a:r>
              <a:rPr lang="en-US"/>
              <a:t>The grace period for credit cards is usually about 30 days</a:t>
            </a:r>
            <a:endParaRPr/>
          </a:p>
          <a:p>
            <a:pPr indent="0" lvl="1" marL="201168" rtl="0" algn="l">
              <a:lnSpc>
                <a:spcPct val="90000"/>
              </a:lnSpc>
              <a:spcBef>
                <a:spcPts val="400"/>
              </a:spcBef>
              <a:spcAft>
                <a:spcPts val="0"/>
              </a:spcAft>
              <a:buSzPts val="1800"/>
              <a:buNone/>
            </a:pPr>
            <a:r>
              <a:rPr lang="en-US"/>
              <a:t>				T/F</a:t>
            </a:r>
            <a:endParaRPr/>
          </a:p>
          <a:p>
            <a:pPr indent="0" lvl="0" marL="91440" rtl="0" algn="l">
              <a:lnSpc>
                <a:spcPct val="90000"/>
              </a:lnSpc>
              <a:spcBef>
                <a:spcPts val="1600"/>
              </a:spcBef>
              <a:spcAft>
                <a:spcPts val="0"/>
              </a:spcAft>
              <a:buSzPts val="2000"/>
              <a:buNone/>
            </a:pPr>
            <a:r>
              <a:t/>
            </a:r>
            <a:endParaRPr/>
          </a:p>
          <a:p>
            <a:pPr indent="-127000" lvl="0" marL="91440" rtl="0" algn="l">
              <a:lnSpc>
                <a:spcPct val="90000"/>
              </a:lnSpc>
              <a:spcBef>
                <a:spcPts val="1400"/>
              </a:spcBef>
              <a:spcAft>
                <a:spcPts val="0"/>
              </a:spcAft>
              <a:buSzPts val="2000"/>
              <a:buChar char=" "/>
            </a:pPr>
            <a:r>
              <a:rPr lang="en-US">
                <a:solidFill>
                  <a:schemeClr val="accent1"/>
                </a:solidFill>
              </a:rPr>
              <a:t>5.   </a:t>
            </a:r>
            <a:r>
              <a:rPr lang="en-US"/>
              <a:t>Secured credit cards can be a good option for someone with poor credit or no credit</a:t>
            </a:r>
            <a:endParaRPr/>
          </a:p>
          <a:p>
            <a:pPr indent="0" lvl="1" marL="201168" rtl="0" algn="l">
              <a:lnSpc>
                <a:spcPct val="90000"/>
              </a:lnSpc>
              <a:spcBef>
                <a:spcPts val="400"/>
              </a:spcBef>
              <a:spcAft>
                <a:spcPts val="0"/>
              </a:spcAft>
              <a:buSzPts val="1800"/>
              <a:buNone/>
            </a:pPr>
            <a:r>
              <a:rPr lang="en-US"/>
              <a:t>				T/F</a:t>
            </a:r>
            <a:endParaRPr/>
          </a:p>
          <a:p>
            <a:pPr indent="0" lvl="1" marL="201168" rtl="0" algn="l">
              <a:lnSpc>
                <a:spcPct val="90000"/>
              </a:lnSpc>
              <a:spcBef>
                <a:spcPts val="600"/>
              </a:spcBef>
              <a:spcAft>
                <a:spcPts val="0"/>
              </a:spcAft>
              <a:buSzPts val="1800"/>
              <a:buNone/>
            </a:pPr>
            <a:r>
              <a:t/>
            </a:r>
            <a:endParaRPr/>
          </a:p>
          <a:p>
            <a:pPr indent="-127000" lvl="0" marL="91440" rtl="0" algn="l">
              <a:lnSpc>
                <a:spcPct val="90000"/>
              </a:lnSpc>
              <a:spcBef>
                <a:spcPts val="1600"/>
              </a:spcBef>
              <a:spcAft>
                <a:spcPts val="0"/>
              </a:spcAft>
              <a:buSzPts val="2000"/>
              <a:buChar char=" "/>
            </a:pPr>
            <a:r>
              <a:rPr lang="en-US">
                <a:solidFill>
                  <a:schemeClr val="accent1"/>
                </a:solidFill>
              </a:rPr>
              <a:t>6.   </a:t>
            </a:r>
            <a:r>
              <a:rPr lang="en-US"/>
              <a:t>If you charge over your limit on a secured credit card, the bank can take the balance from your account</a:t>
            </a:r>
            <a:endParaRPr/>
          </a:p>
          <a:p>
            <a:pPr indent="0" lvl="1" marL="201168" rtl="0" algn="l">
              <a:lnSpc>
                <a:spcPct val="90000"/>
              </a:lnSpc>
              <a:spcBef>
                <a:spcPts val="400"/>
              </a:spcBef>
              <a:spcAft>
                <a:spcPts val="0"/>
              </a:spcAft>
              <a:buSzPts val="1800"/>
              <a:buNone/>
            </a:pPr>
            <a:r>
              <a:rPr lang="en-US"/>
              <a:t>				T/F</a:t>
            </a:r>
            <a:endParaRPr/>
          </a:p>
          <a:p>
            <a:pPr indent="0" lvl="0" marL="91440" rtl="0" algn="l">
              <a:lnSpc>
                <a:spcPct val="90000"/>
              </a:lnSpc>
              <a:spcBef>
                <a:spcPts val="16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sp>
        <p:nvSpPr>
          <p:cNvPr id="194" name="Google Shape;194;p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195" name="Google Shape;195;p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Credit Cards: Fact or Fiction?</a:t>
            </a:r>
            <a:endParaRPr>
              <a:solidFill>
                <a:schemeClr val="accent1"/>
              </a:solidFill>
            </a:endParaRPr>
          </a:p>
        </p:txBody>
      </p:sp>
      <p:sp>
        <p:nvSpPr>
          <p:cNvPr id="201" name="Google Shape;201;p10"/>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lnSpcReduction="10000"/>
          </a:bodyPr>
          <a:lstStyle/>
          <a:p>
            <a:pPr indent="-127000" lvl="0" marL="91440" rtl="0" algn="l">
              <a:lnSpc>
                <a:spcPct val="90000"/>
              </a:lnSpc>
              <a:spcBef>
                <a:spcPts val="0"/>
              </a:spcBef>
              <a:spcAft>
                <a:spcPts val="0"/>
              </a:spcAft>
              <a:buSzPts val="2000"/>
              <a:buChar char=" "/>
            </a:pPr>
            <a:r>
              <a:rPr b="1" lang="en-US"/>
              <a:t>True or False?</a:t>
            </a:r>
            <a:endParaRPr/>
          </a:p>
          <a:p>
            <a:pPr indent="-127000" lvl="0" marL="91440" rtl="0" algn="l">
              <a:lnSpc>
                <a:spcPct val="90000"/>
              </a:lnSpc>
              <a:spcBef>
                <a:spcPts val="1400"/>
              </a:spcBef>
              <a:spcAft>
                <a:spcPts val="0"/>
              </a:spcAft>
              <a:buSzPts val="2000"/>
              <a:buChar char=" "/>
            </a:pPr>
            <a:r>
              <a:rPr lang="en-US">
                <a:solidFill>
                  <a:schemeClr val="accent1"/>
                </a:solidFill>
              </a:rPr>
              <a:t>7.   </a:t>
            </a:r>
            <a:r>
              <a:rPr lang="en-US"/>
              <a:t>Making the minimum payments saves you money</a:t>
            </a:r>
            <a:endParaRPr/>
          </a:p>
          <a:p>
            <a:pPr indent="0" lvl="1" marL="201168" rtl="0" algn="l">
              <a:lnSpc>
                <a:spcPct val="90000"/>
              </a:lnSpc>
              <a:spcBef>
                <a:spcPts val="400"/>
              </a:spcBef>
              <a:spcAft>
                <a:spcPts val="0"/>
              </a:spcAft>
              <a:buSzPts val="1800"/>
              <a:buNone/>
            </a:pPr>
            <a:r>
              <a:rPr lang="en-US"/>
              <a:t>				T/F</a:t>
            </a:r>
            <a:endParaRPr/>
          </a:p>
          <a:p>
            <a:pPr indent="-127000" lvl="0" marL="91440" rtl="0" algn="l">
              <a:lnSpc>
                <a:spcPct val="90000"/>
              </a:lnSpc>
              <a:spcBef>
                <a:spcPts val="1600"/>
              </a:spcBef>
              <a:spcAft>
                <a:spcPts val="0"/>
              </a:spcAft>
              <a:buSzPts val="2000"/>
              <a:buChar char=" "/>
            </a:pPr>
            <a:r>
              <a:rPr lang="en-US">
                <a:solidFill>
                  <a:schemeClr val="accent1"/>
                </a:solidFill>
              </a:rPr>
              <a:t>8.  </a:t>
            </a:r>
            <a:r>
              <a:rPr lang="en-US"/>
              <a:t>If you pay less than the minimum payment, your card will be deactivated</a:t>
            </a:r>
            <a:endParaRPr/>
          </a:p>
          <a:p>
            <a:pPr indent="0" lvl="1" marL="201168" rtl="0" algn="l">
              <a:lnSpc>
                <a:spcPct val="90000"/>
              </a:lnSpc>
              <a:spcBef>
                <a:spcPts val="400"/>
              </a:spcBef>
              <a:spcAft>
                <a:spcPts val="0"/>
              </a:spcAft>
              <a:buSzPts val="1800"/>
              <a:buNone/>
            </a:pPr>
            <a:r>
              <a:rPr lang="en-US"/>
              <a:t>				T/F</a:t>
            </a:r>
            <a:endParaRPr/>
          </a:p>
          <a:p>
            <a:pPr indent="-127000" lvl="0" marL="91440" rtl="0" algn="l">
              <a:lnSpc>
                <a:spcPct val="90000"/>
              </a:lnSpc>
              <a:spcBef>
                <a:spcPts val="1600"/>
              </a:spcBef>
              <a:spcAft>
                <a:spcPts val="0"/>
              </a:spcAft>
              <a:buSzPts val="2000"/>
              <a:buChar char=" "/>
            </a:pPr>
            <a:r>
              <a:rPr lang="en-US">
                <a:solidFill>
                  <a:schemeClr val="accent1"/>
                </a:solidFill>
              </a:rPr>
              <a:t>9.  </a:t>
            </a:r>
            <a:r>
              <a:rPr lang="en-US"/>
              <a:t>If your credit card is lost or stolen, or has been used without your permission, you will be responsible for only the first $100.00 of unauthorized charges if you report it right away</a:t>
            </a:r>
            <a:endParaRPr/>
          </a:p>
          <a:p>
            <a:pPr indent="0" lvl="1" marL="201168" rtl="0" algn="l">
              <a:lnSpc>
                <a:spcPct val="90000"/>
              </a:lnSpc>
              <a:spcBef>
                <a:spcPts val="400"/>
              </a:spcBef>
              <a:spcAft>
                <a:spcPts val="0"/>
              </a:spcAft>
              <a:buSzPts val="1800"/>
              <a:buNone/>
            </a:pPr>
            <a:r>
              <a:rPr lang="en-US"/>
              <a:t>				T/F</a:t>
            </a:r>
            <a:endParaRPr/>
          </a:p>
          <a:p>
            <a:pPr indent="-127000" lvl="0" marL="91440" rtl="0" algn="l">
              <a:lnSpc>
                <a:spcPct val="90000"/>
              </a:lnSpc>
              <a:spcBef>
                <a:spcPts val="1600"/>
              </a:spcBef>
              <a:spcAft>
                <a:spcPts val="0"/>
              </a:spcAft>
              <a:buSzPts val="2000"/>
              <a:buChar char=" "/>
            </a:pPr>
            <a:r>
              <a:rPr lang="en-US">
                <a:solidFill>
                  <a:schemeClr val="accent1"/>
                </a:solidFill>
              </a:rPr>
              <a:t>10.  </a:t>
            </a:r>
            <a:r>
              <a:rPr lang="en-US"/>
              <a:t>If you pay your bill in full during the grace period, you won’t have to pay a finance charge on purchases for that bill</a:t>
            </a:r>
            <a:endParaRPr/>
          </a:p>
          <a:p>
            <a:pPr indent="0" lvl="1" marL="201168" rtl="0" algn="l">
              <a:lnSpc>
                <a:spcPct val="90000"/>
              </a:lnSpc>
              <a:spcBef>
                <a:spcPts val="400"/>
              </a:spcBef>
              <a:spcAft>
                <a:spcPts val="0"/>
              </a:spcAft>
              <a:buSzPts val="1800"/>
              <a:buNone/>
            </a:pPr>
            <a:r>
              <a:rPr lang="en-US"/>
              <a:t>				T/F</a:t>
            </a:r>
            <a:endParaRPr/>
          </a:p>
          <a:p>
            <a:pPr indent="0" lvl="0" marL="91440" rtl="0" algn="l">
              <a:lnSpc>
                <a:spcPct val="90000"/>
              </a:lnSpc>
              <a:spcBef>
                <a:spcPts val="1600"/>
              </a:spcBef>
              <a:spcAft>
                <a:spcPts val="0"/>
              </a:spcAft>
              <a:buSzPts val="2000"/>
              <a:buNone/>
            </a:pPr>
            <a:r>
              <a:t/>
            </a:r>
            <a:endParaRPr/>
          </a:p>
        </p:txBody>
      </p:sp>
      <p:sp>
        <p:nvSpPr>
          <p:cNvPr id="202" name="Google Shape;202;p1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03" name="Google Shape;203;p1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Pros &amp; Cons of Credit</a:t>
            </a:r>
            <a:endParaRPr>
              <a:solidFill>
                <a:schemeClr val="accent1"/>
              </a:solidFill>
            </a:endParaRPr>
          </a:p>
        </p:txBody>
      </p:sp>
      <p:sp>
        <p:nvSpPr>
          <p:cNvPr id="209" name="Google Shape;209;p11"/>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BENEFITS</a:t>
            </a:r>
            <a:endParaRPr/>
          </a:p>
        </p:txBody>
      </p:sp>
      <p:sp>
        <p:nvSpPr>
          <p:cNvPr id="210" name="Google Shape;210;p11"/>
          <p:cNvSpPr txBox="1"/>
          <p:nvPr>
            <p:ph idx="2" type="body"/>
          </p:nvPr>
        </p:nvSpPr>
        <p:spPr>
          <a:xfrm>
            <a:off x="1097280" y="2582334"/>
            <a:ext cx="4937760" cy="32867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Security</a:t>
            </a:r>
            <a:endParaRPr/>
          </a:p>
          <a:p>
            <a:pPr indent="-457200" lvl="0" marL="457200" rtl="0" algn="l">
              <a:lnSpc>
                <a:spcPct val="90000"/>
              </a:lnSpc>
              <a:spcBef>
                <a:spcPts val="1400"/>
              </a:spcBef>
              <a:spcAft>
                <a:spcPts val="0"/>
              </a:spcAft>
              <a:buSzPts val="2000"/>
              <a:buFont typeface="Calibri"/>
              <a:buAutoNum type="arabicPeriod"/>
            </a:pPr>
            <a:r>
              <a:rPr lang="en-US"/>
              <a:t>No-interest grace period</a:t>
            </a:r>
            <a:endParaRPr/>
          </a:p>
          <a:p>
            <a:pPr indent="-457200" lvl="0" marL="457200" rtl="0" algn="l">
              <a:lnSpc>
                <a:spcPct val="90000"/>
              </a:lnSpc>
              <a:spcBef>
                <a:spcPts val="1400"/>
              </a:spcBef>
              <a:spcAft>
                <a:spcPts val="0"/>
              </a:spcAft>
              <a:buSzPts val="2000"/>
              <a:buFont typeface="Calibri"/>
              <a:buAutoNum type="arabicPeriod"/>
            </a:pPr>
            <a:r>
              <a:rPr lang="en-US"/>
              <a:t>Rewards and rebates</a:t>
            </a:r>
            <a:endParaRPr/>
          </a:p>
          <a:p>
            <a:pPr indent="-457200" lvl="0" marL="457200" rtl="0" algn="l">
              <a:lnSpc>
                <a:spcPct val="90000"/>
              </a:lnSpc>
              <a:spcBef>
                <a:spcPts val="1400"/>
              </a:spcBef>
              <a:spcAft>
                <a:spcPts val="0"/>
              </a:spcAft>
              <a:buSzPts val="2000"/>
              <a:buFont typeface="Calibri"/>
              <a:buAutoNum type="arabicPeriod"/>
            </a:pPr>
            <a:r>
              <a:rPr lang="en-US"/>
              <a:t>Online management</a:t>
            </a:r>
            <a:endParaRPr/>
          </a:p>
        </p:txBody>
      </p:sp>
      <p:sp>
        <p:nvSpPr>
          <p:cNvPr id="211" name="Google Shape;211;p11"/>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DRAWBACKS</a:t>
            </a:r>
            <a:endParaRPr/>
          </a:p>
        </p:txBody>
      </p:sp>
      <p:sp>
        <p:nvSpPr>
          <p:cNvPr id="212" name="Google Shape;212;p11"/>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Credit limits can be too high</a:t>
            </a:r>
            <a:endParaRPr/>
          </a:p>
          <a:p>
            <a:pPr indent="-457200" lvl="0" marL="457200" rtl="0" algn="l">
              <a:lnSpc>
                <a:spcPct val="90000"/>
              </a:lnSpc>
              <a:spcBef>
                <a:spcPts val="1400"/>
              </a:spcBef>
              <a:spcAft>
                <a:spcPts val="0"/>
              </a:spcAft>
              <a:buSzPts val="2000"/>
              <a:buFont typeface="Calibri"/>
              <a:buAutoNum type="arabicPeriod"/>
            </a:pPr>
            <a:r>
              <a:rPr lang="en-US"/>
              <a:t>Too easy to buy now, pay later</a:t>
            </a:r>
            <a:endParaRPr/>
          </a:p>
          <a:p>
            <a:pPr indent="-457200" lvl="0" marL="457200" rtl="0" algn="l">
              <a:lnSpc>
                <a:spcPct val="90000"/>
              </a:lnSpc>
              <a:spcBef>
                <a:spcPts val="1400"/>
              </a:spcBef>
              <a:spcAft>
                <a:spcPts val="0"/>
              </a:spcAft>
              <a:buSzPts val="2000"/>
              <a:buFont typeface="Calibri"/>
              <a:buAutoNum type="arabicPeriod"/>
            </a:pPr>
            <a:r>
              <a:rPr lang="en-US"/>
              <a:t>Risk of identity theft</a:t>
            </a:r>
            <a:endParaRPr/>
          </a:p>
        </p:txBody>
      </p:sp>
      <p:sp>
        <p:nvSpPr>
          <p:cNvPr id="213" name="Google Shape;213;p1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14" name="Google Shape;214;p1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Healthy Credit Habits</a:t>
            </a:r>
            <a:endParaRPr>
              <a:solidFill>
                <a:schemeClr val="accent1"/>
              </a:solidFill>
            </a:endParaRPr>
          </a:p>
        </p:txBody>
      </p:sp>
      <p:sp>
        <p:nvSpPr>
          <p:cNvPr id="220" name="Google Shape;220;p12"/>
          <p:cNvSpPr txBox="1"/>
          <p:nvPr>
            <p:ph idx="1" type="body"/>
          </p:nvPr>
        </p:nvSpPr>
        <p:spPr>
          <a:xfrm>
            <a:off x="1097280" y="1845734"/>
            <a:ext cx="4937760"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US"/>
              <a:t>Developing healthy credit habits:</a:t>
            </a:r>
            <a:endParaRPr/>
          </a:p>
          <a:p>
            <a:pPr indent="-457200" lvl="0" marL="457200" rtl="0" algn="l">
              <a:lnSpc>
                <a:spcPct val="90000"/>
              </a:lnSpc>
              <a:spcBef>
                <a:spcPts val="1400"/>
              </a:spcBef>
              <a:spcAft>
                <a:spcPts val="0"/>
              </a:spcAft>
              <a:buSzPts val="2000"/>
              <a:buFont typeface="Calibri"/>
              <a:buAutoNum type="arabicPeriod"/>
            </a:pPr>
            <a:r>
              <a:rPr lang="en-US"/>
              <a:t>Pay your credit card bill on time</a:t>
            </a:r>
            <a:endParaRPr/>
          </a:p>
          <a:p>
            <a:pPr indent="-457200" lvl="0" marL="457200" rtl="0" algn="l">
              <a:lnSpc>
                <a:spcPct val="90000"/>
              </a:lnSpc>
              <a:spcBef>
                <a:spcPts val="1400"/>
              </a:spcBef>
              <a:spcAft>
                <a:spcPts val="0"/>
              </a:spcAft>
              <a:buSzPts val="2000"/>
              <a:buFont typeface="Calibri"/>
              <a:buAutoNum type="arabicPeriod"/>
            </a:pPr>
            <a:r>
              <a:rPr lang="en-US"/>
              <a:t>Don’t accumulate too much credit card debt</a:t>
            </a:r>
            <a:endParaRPr/>
          </a:p>
          <a:p>
            <a:pPr indent="-457200" lvl="0" marL="457200" rtl="0" algn="l">
              <a:lnSpc>
                <a:spcPct val="90000"/>
              </a:lnSpc>
              <a:spcBef>
                <a:spcPts val="1400"/>
              </a:spcBef>
              <a:spcAft>
                <a:spcPts val="0"/>
              </a:spcAft>
              <a:buSzPts val="2000"/>
              <a:buFont typeface="Calibri"/>
              <a:buAutoNum type="arabicPeriod"/>
            </a:pPr>
            <a:r>
              <a:rPr lang="en-US"/>
              <a:t>Monitor your credit reports for errors/signs of identity theft</a:t>
            </a:r>
            <a:endParaRPr/>
          </a:p>
          <a:p>
            <a:pPr indent="-127000" lvl="0" marL="91440" rtl="0" algn="l">
              <a:lnSpc>
                <a:spcPct val="90000"/>
              </a:lnSpc>
              <a:spcBef>
                <a:spcPts val="1400"/>
              </a:spcBef>
              <a:spcAft>
                <a:spcPts val="0"/>
              </a:spcAft>
              <a:buSzPts val="2000"/>
              <a:buChar char=" "/>
            </a:pPr>
            <a:r>
              <a:rPr b="1" lang="en-US"/>
              <a:t>How much credit is too much?</a:t>
            </a:r>
            <a:endParaRPr/>
          </a:p>
          <a:p>
            <a:pPr indent="-457200" lvl="0" marL="457200" rtl="0" algn="l">
              <a:lnSpc>
                <a:spcPct val="90000"/>
              </a:lnSpc>
              <a:spcBef>
                <a:spcPts val="1400"/>
              </a:spcBef>
              <a:spcAft>
                <a:spcPts val="0"/>
              </a:spcAft>
              <a:buSzPts val="2000"/>
              <a:buFont typeface="Calibri"/>
              <a:buAutoNum type="arabicPeriod"/>
            </a:pPr>
            <a:r>
              <a:rPr i="1" lang="en-US"/>
              <a:t>Look at the situations in the Guidebook. Do any of these apply to you?</a:t>
            </a:r>
            <a:endParaRPr/>
          </a:p>
          <a:p>
            <a:pPr indent="-330200" lvl="0" marL="457200" rtl="0" algn="l">
              <a:lnSpc>
                <a:spcPct val="90000"/>
              </a:lnSpc>
              <a:spcBef>
                <a:spcPts val="1400"/>
              </a:spcBef>
              <a:spcAft>
                <a:spcPts val="0"/>
              </a:spcAft>
              <a:buSzPts val="2000"/>
              <a:buFont typeface="Calibri"/>
              <a:buNone/>
            </a:pPr>
            <a:r>
              <a:t/>
            </a:r>
            <a:endParaRPr/>
          </a:p>
        </p:txBody>
      </p:sp>
      <p:sp>
        <p:nvSpPr>
          <p:cNvPr id="221" name="Google Shape;221;p12"/>
          <p:cNvSpPr txBox="1"/>
          <p:nvPr>
            <p:ph idx="2" type="body"/>
          </p:nvPr>
        </p:nvSpPr>
        <p:spPr>
          <a:xfrm>
            <a:off x="6217920" y="1845737"/>
            <a:ext cx="4937760" cy="4023359"/>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t>Steps to paying down credit card debt:</a:t>
            </a:r>
            <a:endParaRPr/>
          </a:p>
          <a:p>
            <a:pPr indent="-457200" lvl="0" marL="457200" rtl="0" algn="l">
              <a:lnSpc>
                <a:spcPct val="90000"/>
              </a:lnSpc>
              <a:spcBef>
                <a:spcPts val="1400"/>
              </a:spcBef>
              <a:spcAft>
                <a:spcPts val="0"/>
              </a:spcAft>
              <a:buSzPts val="2000"/>
              <a:buFont typeface="Calibri"/>
              <a:buAutoNum type="arabicPeriod"/>
            </a:pPr>
            <a:r>
              <a:rPr lang="en-US"/>
              <a:t>Stop using your credit card(s).</a:t>
            </a:r>
            <a:endParaRPr b="1"/>
          </a:p>
          <a:p>
            <a:pPr indent="-457200" lvl="0" marL="457200" rtl="0" algn="l">
              <a:lnSpc>
                <a:spcPct val="90000"/>
              </a:lnSpc>
              <a:spcBef>
                <a:spcPts val="1400"/>
              </a:spcBef>
              <a:spcAft>
                <a:spcPts val="0"/>
              </a:spcAft>
              <a:buSzPts val="2000"/>
              <a:buFont typeface="Calibri"/>
              <a:buAutoNum type="arabicPeriod"/>
            </a:pPr>
            <a:r>
              <a:rPr lang="en-US"/>
              <a:t>Pay off the card with the highest interest first. </a:t>
            </a:r>
            <a:endParaRPr/>
          </a:p>
          <a:p>
            <a:pPr indent="-457200" lvl="0" marL="457200" rtl="0" algn="l">
              <a:lnSpc>
                <a:spcPct val="90000"/>
              </a:lnSpc>
              <a:spcBef>
                <a:spcPts val="1400"/>
              </a:spcBef>
              <a:spcAft>
                <a:spcPts val="0"/>
              </a:spcAft>
              <a:buSzPts val="2000"/>
              <a:buFont typeface="Calibri"/>
              <a:buAutoNum type="arabicPeriod"/>
            </a:pPr>
            <a:r>
              <a:rPr lang="en-US"/>
              <a:t>Pay more than the minimum due. </a:t>
            </a:r>
            <a:endParaRPr b="1"/>
          </a:p>
          <a:p>
            <a:pPr indent="-330200" lvl="0" marL="457200" rtl="0" algn="l">
              <a:lnSpc>
                <a:spcPct val="90000"/>
              </a:lnSpc>
              <a:spcBef>
                <a:spcPts val="1400"/>
              </a:spcBef>
              <a:spcAft>
                <a:spcPts val="0"/>
              </a:spcAft>
              <a:buSzPts val="2000"/>
              <a:buFont typeface="Calibri"/>
              <a:buNone/>
            </a:pPr>
            <a:r>
              <a:t/>
            </a:r>
            <a:endParaRPr/>
          </a:p>
        </p:txBody>
      </p:sp>
      <p:sp>
        <p:nvSpPr>
          <p:cNvPr id="222" name="Google Shape;222;p1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23" name="Google Shape;223;p1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3"/>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Loans</a:t>
            </a:r>
            <a:endParaRPr>
              <a:solidFill>
                <a:schemeClr val="accent1"/>
              </a:solidFill>
            </a:endParaRPr>
          </a:p>
        </p:txBody>
      </p:sp>
      <p:sp>
        <p:nvSpPr>
          <p:cNvPr id="229" name="Google Shape;229;p13"/>
          <p:cNvSpPr txBox="1"/>
          <p:nvPr>
            <p:ph idx="1" type="body"/>
          </p:nvPr>
        </p:nvSpPr>
        <p:spPr>
          <a:xfrm>
            <a:off x="1097279" y="1845734"/>
            <a:ext cx="10283293"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t>How do loans work?</a:t>
            </a:r>
            <a:endParaRPr/>
          </a:p>
          <a:p>
            <a:pPr indent="0" lvl="0" marL="0" rtl="0" algn="l">
              <a:lnSpc>
                <a:spcPct val="90000"/>
              </a:lnSpc>
              <a:spcBef>
                <a:spcPts val="1400"/>
              </a:spcBef>
              <a:spcAft>
                <a:spcPts val="0"/>
              </a:spcAft>
              <a:buSzPts val="2000"/>
              <a:buNone/>
            </a:pPr>
            <a:r>
              <a:rPr lang="en-US"/>
              <a:t>A person borrows an initial amount of money (the principal) from a lender (a bank, credit union, or lending company) to pay for a big purchase (such as a car, home, or education) and signs a contract promising to pay this money back in regular installments, plus interest.</a:t>
            </a:r>
            <a:endParaRPr/>
          </a:p>
          <a:p>
            <a:pPr indent="0" lvl="0" marL="0" rtl="0" algn="l">
              <a:lnSpc>
                <a:spcPct val="90000"/>
              </a:lnSpc>
              <a:spcBef>
                <a:spcPts val="1400"/>
              </a:spcBef>
              <a:spcAft>
                <a:spcPts val="0"/>
              </a:spcAft>
              <a:buSzPts val="2000"/>
              <a:buNone/>
            </a:pPr>
            <a:r>
              <a:t/>
            </a:r>
            <a:endParaRPr i="1"/>
          </a:p>
          <a:p>
            <a:pPr indent="0" lvl="0" marL="0" rtl="0" algn="l">
              <a:lnSpc>
                <a:spcPct val="90000"/>
              </a:lnSpc>
              <a:spcBef>
                <a:spcPts val="1400"/>
              </a:spcBef>
              <a:spcAft>
                <a:spcPts val="0"/>
              </a:spcAft>
              <a:buSzPts val="2000"/>
              <a:buNone/>
            </a:pPr>
            <a:r>
              <a:rPr i="1" lang="en-US"/>
              <a:t>What are some reasons a person may take out a loan?</a:t>
            </a:r>
            <a:endParaRPr i="1"/>
          </a:p>
        </p:txBody>
      </p:sp>
      <p:pic>
        <p:nvPicPr>
          <p:cNvPr id="230" name="Google Shape;230;p13"/>
          <p:cNvPicPr preferRelativeResize="0"/>
          <p:nvPr/>
        </p:nvPicPr>
        <p:blipFill rotWithShape="1">
          <a:blip r:embed="rId3">
            <a:alphaModFix/>
          </a:blip>
          <a:srcRect b="0" l="0" r="0" t="0"/>
          <a:stretch/>
        </p:blipFill>
        <p:spPr>
          <a:xfrm>
            <a:off x="3847377" y="4188941"/>
            <a:ext cx="4783095" cy="1913238"/>
          </a:xfrm>
          <a:prstGeom prst="rect">
            <a:avLst/>
          </a:prstGeom>
          <a:noFill/>
          <a:ln>
            <a:noFill/>
          </a:ln>
        </p:spPr>
      </p:pic>
      <p:sp>
        <p:nvSpPr>
          <p:cNvPr id="231" name="Google Shape;231;p1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32" name="Google Shape;232;p1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4"/>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Pros &amp; Cons of Loans</a:t>
            </a:r>
            <a:endParaRPr>
              <a:solidFill>
                <a:schemeClr val="accent1"/>
              </a:solidFill>
            </a:endParaRPr>
          </a:p>
        </p:txBody>
      </p:sp>
      <p:sp>
        <p:nvSpPr>
          <p:cNvPr id="238" name="Google Shape;238;p14"/>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BENEFITS</a:t>
            </a:r>
            <a:endParaRPr/>
          </a:p>
        </p:txBody>
      </p:sp>
      <p:sp>
        <p:nvSpPr>
          <p:cNvPr id="239" name="Google Shape;239;p14"/>
          <p:cNvSpPr txBox="1"/>
          <p:nvPr>
            <p:ph idx="2" type="body"/>
          </p:nvPr>
        </p:nvSpPr>
        <p:spPr>
          <a:xfrm>
            <a:off x="1097280" y="2582334"/>
            <a:ext cx="4937760" cy="32867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Gives you the ability to buy something now (like a home or a car) that you could not otherwise afford.</a:t>
            </a:r>
            <a:endParaRPr/>
          </a:p>
          <a:p>
            <a:pPr indent="-127000" lvl="0" marL="91440" rtl="0" algn="l">
              <a:lnSpc>
                <a:spcPct val="90000"/>
              </a:lnSpc>
              <a:spcBef>
                <a:spcPts val="1400"/>
              </a:spcBef>
              <a:spcAft>
                <a:spcPts val="0"/>
              </a:spcAft>
              <a:buSzPts val="2000"/>
              <a:buChar char=" "/>
            </a:pPr>
            <a:r>
              <a:rPr lang="en-US"/>
              <a:t>A small business loan or student loans can help you grow professionally and build </a:t>
            </a:r>
            <a:r>
              <a:rPr i="1" lang="en-US"/>
              <a:t>human capital</a:t>
            </a:r>
            <a:r>
              <a:rPr lang="en-US"/>
              <a:t>.</a:t>
            </a:r>
            <a:endParaRPr/>
          </a:p>
          <a:p>
            <a:pPr indent="-127000" lvl="0" marL="91440" rtl="0" algn="l">
              <a:lnSpc>
                <a:spcPct val="90000"/>
              </a:lnSpc>
              <a:spcBef>
                <a:spcPts val="1400"/>
              </a:spcBef>
              <a:spcAft>
                <a:spcPts val="0"/>
              </a:spcAft>
              <a:buSzPts val="2000"/>
              <a:buChar char=" "/>
            </a:pPr>
            <a:r>
              <a:rPr lang="en-US"/>
              <a:t>A single, low-interest loan can help you pay off several debts faster and can save you money in interest.</a:t>
            </a:r>
            <a:endParaRPr/>
          </a:p>
          <a:p>
            <a:pPr indent="0" lvl="0" marL="91440" rtl="0" algn="l">
              <a:lnSpc>
                <a:spcPct val="90000"/>
              </a:lnSpc>
              <a:spcBef>
                <a:spcPts val="1400"/>
              </a:spcBef>
              <a:spcAft>
                <a:spcPts val="0"/>
              </a:spcAft>
              <a:buSzPts val="2000"/>
              <a:buNone/>
            </a:pPr>
            <a:r>
              <a:t/>
            </a:r>
            <a:endParaRPr/>
          </a:p>
        </p:txBody>
      </p:sp>
      <p:sp>
        <p:nvSpPr>
          <p:cNvPr id="240" name="Google Shape;240;p14"/>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2000"/>
              <a:buNone/>
            </a:pPr>
            <a:r>
              <a:rPr lang="en-US"/>
              <a:t>DRAWBACKS</a:t>
            </a:r>
            <a:endParaRPr/>
          </a:p>
        </p:txBody>
      </p:sp>
      <p:sp>
        <p:nvSpPr>
          <p:cNvPr id="241" name="Google Shape;241;p14"/>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lang="en-US"/>
              <a:t>You </a:t>
            </a:r>
            <a:r>
              <a:rPr b="1" lang="en-US"/>
              <a:t>will </a:t>
            </a:r>
            <a:r>
              <a:rPr lang="en-US"/>
              <a:t>pay interest. Over time, you will end up paying more than if you had paid for your purchase in-full.</a:t>
            </a:r>
            <a:endParaRPr/>
          </a:p>
          <a:p>
            <a:pPr indent="-127000" lvl="0" marL="91440" rtl="0" algn="l">
              <a:lnSpc>
                <a:spcPct val="90000"/>
              </a:lnSpc>
              <a:spcBef>
                <a:spcPts val="1400"/>
              </a:spcBef>
              <a:spcAft>
                <a:spcPts val="0"/>
              </a:spcAft>
              <a:buSzPts val="2000"/>
              <a:buChar char=" "/>
            </a:pPr>
            <a:r>
              <a:rPr lang="en-US"/>
              <a:t>If you have an unexpected change in your income, you may have difficulties making loan payments.</a:t>
            </a:r>
            <a:endParaRPr/>
          </a:p>
          <a:p>
            <a:pPr indent="0" lvl="0" marL="91440" rtl="0" algn="l">
              <a:lnSpc>
                <a:spcPct val="90000"/>
              </a:lnSpc>
              <a:spcBef>
                <a:spcPts val="1400"/>
              </a:spcBef>
              <a:spcAft>
                <a:spcPts val="0"/>
              </a:spcAft>
              <a:buSzPts val="2000"/>
              <a:buNone/>
            </a:pPr>
            <a:r>
              <a:t/>
            </a:r>
            <a:endParaRPr/>
          </a:p>
        </p:txBody>
      </p:sp>
      <p:sp>
        <p:nvSpPr>
          <p:cNvPr id="242" name="Google Shape;242;p1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43" name="Google Shape;243;p1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5"/>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Understanding Loan Contracts</a:t>
            </a:r>
            <a:endParaRPr>
              <a:solidFill>
                <a:schemeClr val="accent1"/>
              </a:solidFill>
            </a:endParaRPr>
          </a:p>
        </p:txBody>
      </p:sp>
      <p:sp>
        <p:nvSpPr>
          <p:cNvPr id="249" name="Google Shape;249;p15"/>
          <p:cNvSpPr txBox="1"/>
          <p:nvPr>
            <p:ph idx="1" type="body"/>
          </p:nvPr>
        </p:nvSpPr>
        <p:spPr>
          <a:xfrm>
            <a:off x="1068998" y="1845734"/>
            <a:ext cx="10058401"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solidFill>
                  <a:schemeClr val="dk2"/>
                </a:solidFill>
              </a:rPr>
              <a:t>Principal: </a:t>
            </a:r>
            <a:r>
              <a:rPr lang="en-US"/>
              <a:t>The initial amount you borrow.</a:t>
            </a:r>
            <a:endParaRPr/>
          </a:p>
          <a:p>
            <a:pPr indent="0" lvl="0" marL="0" rtl="0" algn="l">
              <a:lnSpc>
                <a:spcPct val="90000"/>
              </a:lnSpc>
              <a:spcBef>
                <a:spcPts val="1400"/>
              </a:spcBef>
              <a:spcAft>
                <a:spcPts val="0"/>
              </a:spcAft>
              <a:buSzPts val="2000"/>
              <a:buNone/>
            </a:pPr>
            <a:r>
              <a:rPr b="1" lang="en-US">
                <a:solidFill>
                  <a:schemeClr val="dk2"/>
                </a:solidFill>
              </a:rPr>
              <a:t>Term: </a:t>
            </a:r>
            <a:r>
              <a:rPr lang="en-US"/>
              <a:t>How long you have to pay off your debt.</a:t>
            </a:r>
            <a:endParaRPr>
              <a:solidFill>
                <a:schemeClr val="dk2"/>
              </a:solidFill>
            </a:endParaRPr>
          </a:p>
          <a:p>
            <a:pPr indent="0" lvl="0" marL="0" rtl="0" algn="l">
              <a:lnSpc>
                <a:spcPct val="90000"/>
              </a:lnSpc>
              <a:spcBef>
                <a:spcPts val="1400"/>
              </a:spcBef>
              <a:spcAft>
                <a:spcPts val="0"/>
              </a:spcAft>
              <a:buSzPts val="2000"/>
              <a:buNone/>
            </a:pPr>
            <a:r>
              <a:rPr b="1" lang="en-US">
                <a:solidFill>
                  <a:schemeClr val="dk2"/>
                </a:solidFill>
              </a:rPr>
              <a:t>Interest: </a:t>
            </a:r>
            <a:r>
              <a:rPr lang="en-US"/>
              <a:t>The charge from the lender for using their money.</a:t>
            </a:r>
            <a:endParaRPr/>
          </a:p>
          <a:p>
            <a:pPr indent="-182880" lvl="1" marL="384048" rtl="0" algn="l">
              <a:lnSpc>
                <a:spcPct val="90000"/>
              </a:lnSpc>
              <a:spcBef>
                <a:spcPts val="400"/>
              </a:spcBef>
              <a:spcAft>
                <a:spcPts val="0"/>
              </a:spcAft>
              <a:buSzPts val="1800"/>
              <a:buFont typeface="Noto Sans Symbols"/>
              <a:buChar char="▪"/>
            </a:pPr>
            <a:r>
              <a:rPr lang="en-US"/>
              <a:t> Fixed rate of interest: interest rates remain the same for the loan term</a:t>
            </a:r>
            <a:endParaRPr/>
          </a:p>
          <a:p>
            <a:pPr indent="-182880" lvl="1" marL="384048" rtl="0" algn="l">
              <a:lnSpc>
                <a:spcPct val="90000"/>
              </a:lnSpc>
              <a:spcBef>
                <a:spcPts val="600"/>
              </a:spcBef>
              <a:spcAft>
                <a:spcPts val="0"/>
              </a:spcAft>
              <a:buSzPts val="1800"/>
              <a:buFont typeface="Noto Sans Symbols"/>
              <a:buChar char="▪"/>
            </a:pPr>
            <a:r>
              <a:rPr lang="en-US"/>
              <a:t> Variable rate of interest: interest rates change with the market</a:t>
            </a:r>
            <a:endParaRPr/>
          </a:p>
          <a:p>
            <a:pPr indent="-182880" lvl="1" marL="384048" rtl="0" algn="l">
              <a:lnSpc>
                <a:spcPct val="90000"/>
              </a:lnSpc>
              <a:spcBef>
                <a:spcPts val="600"/>
              </a:spcBef>
              <a:spcAft>
                <a:spcPts val="0"/>
              </a:spcAft>
              <a:buSzPts val="1800"/>
              <a:buFont typeface="Noto Sans Symbols"/>
              <a:buChar char="▪"/>
            </a:pPr>
            <a:r>
              <a:rPr lang="en-US"/>
              <a:t> Split rate of interest: your loan can be split into both types of interest rates, either beginning with one and switching to the other or applying fixed rates to a portion of the principal and variable rates to the other portion. </a:t>
            </a:r>
            <a:endParaRPr/>
          </a:p>
          <a:p>
            <a:pPr indent="-251459" lvl="0" marL="251459" rtl="0" algn="l">
              <a:lnSpc>
                <a:spcPct val="90000"/>
              </a:lnSpc>
              <a:spcBef>
                <a:spcPts val="1600"/>
              </a:spcBef>
              <a:spcAft>
                <a:spcPts val="0"/>
              </a:spcAft>
              <a:buSzPts val="2000"/>
              <a:buFont typeface="Courier New"/>
              <a:buChar char="o"/>
            </a:pPr>
            <a:r>
              <a:rPr b="1" lang="en-US"/>
              <a:t>Calculating interest rates:</a:t>
            </a:r>
            <a:endParaRPr b="1"/>
          </a:p>
        </p:txBody>
      </p:sp>
      <p:graphicFrame>
        <p:nvGraphicFramePr>
          <p:cNvPr id="250" name="Google Shape;250;p15"/>
          <p:cNvGraphicFramePr/>
          <p:nvPr/>
        </p:nvGraphicFramePr>
        <p:xfrm>
          <a:off x="5374043" y="4433236"/>
          <a:ext cx="3000000" cy="3000000"/>
        </p:xfrm>
        <a:graphic>
          <a:graphicData uri="http://schemas.openxmlformats.org/drawingml/2006/table">
            <a:tbl>
              <a:tblPr>
                <a:noFill/>
                <a:tableStyleId>{6FD76279-4723-4BC5-B0B3-91E51EB791F6}</a:tableStyleId>
              </a:tblPr>
              <a:tblGrid>
                <a:gridCol w="1039450"/>
                <a:gridCol w="1433450"/>
                <a:gridCol w="1358000"/>
                <a:gridCol w="1391525"/>
              </a:tblGrid>
              <a:tr h="440725">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Interest rate</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Potential annual loan interest</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Actual total interest</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c>
                  <a:txBody>
                    <a:bodyPr/>
                    <a:lstStyle/>
                    <a:p>
                      <a:pPr indent="0" lvl="0" marL="0" marR="0" rtl="0" algn="l">
                        <a:spcBef>
                          <a:spcPts val="0"/>
                        </a:spcBef>
                        <a:spcAft>
                          <a:spcPts val="0"/>
                        </a:spcAft>
                        <a:buNone/>
                      </a:pPr>
                      <a:r>
                        <a:rPr b="0" i="0" lang="en-US" sz="1100" u="none" cap="none" strike="noStrike">
                          <a:solidFill>
                            <a:srgbClr val="000000"/>
                          </a:solidFill>
                          <a:latin typeface="Georgia"/>
                          <a:ea typeface="Georgia"/>
                          <a:cs typeface="Georgia"/>
                          <a:sym typeface="Georgia"/>
                        </a:rPr>
                        <a:t>Actual total loan and interest</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2D2D2"/>
                    </a:solidFill>
                  </a:tcPr>
                </a:tc>
              </a:tr>
              <a:tr h="357925">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9.0%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$900.00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$4500.00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$14,500.00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7925">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12.0%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$1200.00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$6000.00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$16,000.00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7650">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15.0%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$1500.00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$7500.00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just">
                        <a:spcBef>
                          <a:spcPts val="0"/>
                        </a:spcBef>
                        <a:spcAft>
                          <a:spcPts val="0"/>
                        </a:spcAft>
                        <a:buNone/>
                      </a:pPr>
                      <a:r>
                        <a:rPr b="0" i="0" lang="en-US" sz="1100" u="none" cap="none" strike="noStrike">
                          <a:solidFill>
                            <a:srgbClr val="000000"/>
                          </a:solidFill>
                          <a:latin typeface="Georgia"/>
                          <a:ea typeface="Georgia"/>
                          <a:cs typeface="Georgia"/>
                          <a:sym typeface="Georgia"/>
                        </a:rPr>
                        <a:t>$17,500.00</a:t>
                      </a:r>
                      <a:endParaRPr sz="1800" u="none" cap="none" strike="noStrike"/>
                    </a:p>
                  </a:txBody>
                  <a:tcPr marT="45725" marB="45725" marR="68575" marL="685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51" name="Google Shape;251;p1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52" name="Google Shape;252;p1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6"/>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Predatory Lending</a:t>
            </a:r>
            <a:endParaRPr>
              <a:solidFill>
                <a:schemeClr val="accent1"/>
              </a:solidFill>
            </a:endParaRPr>
          </a:p>
        </p:txBody>
      </p:sp>
      <p:sp>
        <p:nvSpPr>
          <p:cNvPr id="258" name="Google Shape;258;p16"/>
          <p:cNvSpPr txBox="1"/>
          <p:nvPr>
            <p:ph idx="1" type="body"/>
          </p:nvPr>
        </p:nvSpPr>
        <p:spPr>
          <a:xfrm>
            <a:off x="1097280" y="1845734"/>
            <a:ext cx="8256842" cy="4023360"/>
          </a:xfrm>
          <a:prstGeom prst="rect">
            <a:avLst/>
          </a:prstGeom>
          <a:noFill/>
          <a:ln>
            <a:noFill/>
          </a:ln>
        </p:spPr>
        <p:txBody>
          <a:bodyPr anchorCtr="0" anchor="t" bIns="45700" lIns="0" spcFirstLastPara="1" rIns="0" wrap="square" tIns="45700">
            <a:normAutofit lnSpcReduction="10000"/>
          </a:bodyPr>
          <a:lstStyle/>
          <a:p>
            <a:pPr indent="0" lvl="0" marL="0" rtl="0" algn="l">
              <a:lnSpc>
                <a:spcPct val="90000"/>
              </a:lnSpc>
              <a:spcBef>
                <a:spcPts val="0"/>
              </a:spcBef>
              <a:spcAft>
                <a:spcPts val="0"/>
              </a:spcAft>
              <a:buSzPts val="2000"/>
              <a:buNone/>
            </a:pPr>
            <a:r>
              <a:rPr b="1" lang="en-US"/>
              <a:t>What is Predatory Lending? </a:t>
            </a:r>
            <a:endParaRPr/>
          </a:p>
          <a:p>
            <a:pPr indent="0" lvl="0" marL="0" rtl="0" algn="l">
              <a:lnSpc>
                <a:spcPct val="90000"/>
              </a:lnSpc>
              <a:spcBef>
                <a:spcPts val="1400"/>
              </a:spcBef>
              <a:spcAft>
                <a:spcPts val="0"/>
              </a:spcAft>
              <a:buSzPts val="2000"/>
              <a:buNone/>
            </a:pPr>
            <a:r>
              <a:rPr lang="en-US"/>
              <a:t>Any lending practices that put unfair and deceptive loan terms on borrowers</a:t>
            </a:r>
            <a:endParaRPr/>
          </a:p>
          <a:p>
            <a:pPr indent="-182880" lvl="1" marL="384048" rtl="0" algn="l">
              <a:lnSpc>
                <a:spcPct val="90000"/>
              </a:lnSpc>
              <a:spcBef>
                <a:spcPts val="400"/>
              </a:spcBef>
              <a:spcAft>
                <a:spcPts val="0"/>
              </a:spcAft>
              <a:buSzPts val="1800"/>
              <a:buFont typeface="Noto Sans Symbols"/>
              <a:buChar char="▪"/>
            </a:pPr>
            <a:r>
              <a:rPr lang="en-US"/>
              <a:t>Take advantage of borrowers’ lack of financial knowledge or situation of financial crisis.</a:t>
            </a:r>
            <a:endParaRPr/>
          </a:p>
          <a:p>
            <a:pPr indent="0" lvl="0" marL="0" rtl="0" algn="l">
              <a:lnSpc>
                <a:spcPct val="90000"/>
              </a:lnSpc>
              <a:spcBef>
                <a:spcPts val="1600"/>
              </a:spcBef>
              <a:spcAft>
                <a:spcPts val="0"/>
              </a:spcAft>
              <a:buSzPts val="2000"/>
              <a:buNone/>
            </a:pPr>
            <a:r>
              <a:rPr b="1" lang="en-US"/>
              <a:t>Warning signs:</a:t>
            </a:r>
            <a:endParaRPr/>
          </a:p>
          <a:p>
            <a:pPr indent="-182880" lvl="1" marL="384048" rtl="0" algn="l">
              <a:lnSpc>
                <a:spcPct val="90000"/>
              </a:lnSpc>
              <a:spcBef>
                <a:spcPts val="400"/>
              </a:spcBef>
              <a:spcAft>
                <a:spcPts val="0"/>
              </a:spcAft>
              <a:buSzPts val="1800"/>
              <a:buFont typeface="Noto Sans Symbols"/>
              <a:buChar char="▪"/>
            </a:pPr>
            <a:r>
              <a:rPr lang="en-US"/>
              <a:t>Excessive loan fees</a:t>
            </a:r>
            <a:endParaRPr/>
          </a:p>
          <a:p>
            <a:pPr indent="-182880" lvl="1" marL="384048" rtl="0" algn="l">
              <a:lnSpc>
                <a:spcPct val="90000"/>
              </a:lnSpc>
              <a:spcBef>
                <a:spcPts val="600"/>
              </a:spcBef>
              <a:spcAft>
                <a:spcPts val="0"/>
              </a:spcAft>
              <a:buSzPts val="1800"/>
              <a:buFont typeface="Noto Sans Symbols"/>
              <a:buChar char="▪"/>
            </a:pPr>
            <a:r>
              <a:rPr lang="en-US"/>
              <a:t>The lender promises you one type of loan but gives you a different one or tries to make an expensive loan look inexpensive</a:t>
            </a:r>
            <a:endParaRPr/>
          </a:p>
          <a:p>
            <a:pPr indent="-182880" lvl="1" marL="384048" rtl="0" algn="l">
              <a:lnSpc>
                <a:spcPct val="90000"/>
              </a:lnSpc>
              <a:spcBef>
                <a:spcPts val="600"/>
              </a:spcBef>
              <a:spcAft>
                <a:spcPts val="0"/>
              </a:spcAft>
              <a:buSzPts val="1800"/>
              <a:buFont typeface="Noto Sans Symbols"/>
              <a:buChar char="▪"/>
            </a:pPr>
            <a:r>
              <a:rPr lang="en-US"/>
              <a:t>The lender convinces you to take out a loan you cannot afford</a:t>
            </a:r>
            <a:endParaRPr/>
          </a:p>
          <a:p>
            <a:pPr indent="-182880" lvl="1" marL="384048" rtl="0" algn="l">
              <a:lnSpc>
                <a:spcPct val="90000"/>
              </a:lnSpc>
              <a:spcBef>
                <a:spcPts val="600"/>
              </a:spcBef>
              <a:spcAft>
                <a:spcPts val="0"/>
              </a:spcAft>
              <a:buSzPts val="1800"/>
              <a:buFont typeface="Noto Sans Symbols"/>
              <a:buChar char="▪"/>
            </a:pPr>
            <a:r>
              <a:rPr lang="en-US"/>
              <a:t>The lender links the loan to your assets (home, car) instead of your income</a:t>
            </a:r>
            <a:endParaRPr/>
          </a:p>
          <a:p>
            <a:pPr indent="-182880" lvl="1" marL="384048" rtl="0" algn="l">
              <a:lnSpc>
                <a:spcPct val="90000"/>
              </a:lnSpc>
              <a:spcBef>
                <a:spcPts val="600"/>
              </a:spcBef>
              <a:spcAft>
                <a:spcPts val="0"/>
              </a:spcAft>
              <a:buSzPts val="1800"/>
              <a:buFont typeface="Noto Sans Symbols"/>
              <a:buChar char="▪"/>
            </a:pPr>
            <a:r>
              <a:rPr lang="en-US"/>
              <a:t>The lender increases your loan amount at the end of the term without telling you up front</a:t>
            </a:r>
            <a:endParaRPr/>
          </a:p>
          <a:p>
            <a:pPr indent="-68579" lvl="1" marL="384048" rtl="0" algn="l">
              <a:lnSpc>
                <a:spcPct val="90000"/>
              </a:lnSpc>
              <a:spcBef>
                <a:spcPts val="600"/>
              </a:spcBef>
              <a:spcAft>
                <a:spcPts val="0"/>
              </a:spcAft>
              <a:buSzPts val="1800"/>
              <a:buFont typeface="Noto Sans Symbols"/>
              <a:buNone/>
            </a:pPr>
            <a:r>
              <a:t/>
            </a:r>
            <a:endParaRPr/>
          </a:p>
          <a:p>
            <a:pPr indent="0" lvl="0" marL="0" rtl="0" algn="l">
              <a:lnSpc>
                <a:spcPct val="90000"/>
              </a:lnSpc>
              <a:spcBef>
                <a:spcPts val="1600"/>
              </a:spcBef>
              <a:spcAft>
                <a:spcPts val="0"/>
              </a:spcAft>
              <a:buSzPts val="2000"/>
              <a:buNone/>
            </a:pPr>
            <a:r>
              <a:t/>
            </a:r>
            <a:endParaRPr/>
          </a:p>
        </p:txBody>
      </p:sp>
      <p:pic>
        <p:nvPicPr>
          <p:cNvPr id="259" name="Google Shape;259;p16"/>
          <p:cNvPicPr preferRelativeResize="0"/>
          <p:nvPr/>
        </p:nvPicPr>
        <p:blipFill rotWithShape="1">
          <a:blip r:embed="rId3">
            <a:alphaModFix/>
          </a:blip>
          <a:srcRect b="0" l="0" r="0" t="0"/>
          <a:stretch/>
        </p:blipFill>
        <p:spPr>
          <a:xfrm>
            <a:off x="9354122" y="2113006"/>
            <a:ext cx="2419396" cy="2419396"/>
          </a:xfrm>
          <a:prstGeom prst="rect">
            <a:avLst/>
          </a:prstGeom>
          <a:noFill/>
          <a:ln>
            <a:noFill/>
          </a:ln>
        </p:spPr>
      </p:pic>
      <p:sp>
        <p:nvSpPr>
          <p:cNvPr id="260" name="Google Shape;260;p1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61" name="Google Shape;261;p1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7"/>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Examples of Predatory Lending</a:t>
            </a:r>
            <a:endParaRPr>
              <a:solidFill>
                <a:schemeClr val="accent1"/>
              </a:solidFill>
            </a:endParaRPr>
          </a:p>
        </p:txBody>
      </p:sp>
      <p:sp>
        <p:nvSpPr>
          <p:cNvPr id="267" name="Google Shape;267;p17"/>
          <p:cNvSpPr txBox="1"/>
          <p:nvPr>
            <p:ph idx="1" type="body"/>
          </p:nvPr>
        </p:nvSpPr>
        <p:spPr>
          <a:xfrm>
            <a:off x="1097279" y="1845734"/>
            <a:ext cx="10058401" cy="4023360"/>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US"/>
              <a:t>Types of loans that could become predatory:</a:t>
            </a:r>
            <a:endParaRPr/>
          </a:p>
          <a:p>
            <a:pPr indent="-457200" lvl="0" marL="457200" rtl="0" algn="l">
              <a:lnSpc>
                <a:spcPct val="90000"/>
              </a:lnSpc>
              <a:spcBef>
                <a:spcPts val="1400"/>
              </a:spcBef>
              <a:spcAft>
                <a:spcPts val="0"/>
              </a:spcAft>
              <a:buSzPts val="2000"/>
              <a:buFont typeface="Calibri"/>
              <a:buAutoNum type="arabicPeriod"/>
            </a:pPr>
            <a:r>
              <a:rPr lang="en-US"/>
              <a:t>Payday loans</a:t>
            </a:r>
            <a:endParaRPr/>
          </a:p>
          <a:p>
            <a:pPr indent="-457200" lvl="0" marL="457200" rtl="0" algn="l">
              <a:lnSpc>
                <a:spcPct val="90000"/>
              </a:lnSpc>
              <a:spcBef>
                <a:spcPts val="1400"/>
              </a:spcBef>
              <a:spcAft>
                <a:spcPts val="0"/>
              </a:spcAft>
              <a:buSzPts val="2000"/>
              <a:buFont typeface="Calibri"/>
              <a:buAutoNum type="arabicPeriod"/>
            </a:pPr>
            <a:r>
              <a:rPr lang="en-US"/>
              <a:t>Pawn shop loans</a:t>
            </a:r>
            <a:endParaRPr/>
          </a:p>
          <a:p>
            <a:pPr indent="-457200" lvl="0" marL="457200" rtl="0" algn="l">
              <a:lnSpc>
                <a:spcPct val="90000"/>
              </a:lnSpc>
              <a:spcBef>
                <a:spcPts val="1400"/>
              </a:spcBef>
              <a:spcAft>
                <a:spcPts val="0"/>
              </a:spcAft>
              <a:buSzPts val="2000"/>
              <a:buFont typeface="Calibri"/>
              <a:buAutoNum type="arabicPeriod"/>
            </a:pPr>
            <a:r>
              <a:rPr lang="en-US"/>
              <a:t>Title loans</a:t>
            </a:r>
            <a:endParaRPr/>
          </a:p>
          <a:p>
            <a:pPr indent="-457200" lvl="0" marL="457200" rtl="0" algn="l">
              <a:lnSpc>
                <a:spcPct val="90000"/>
              </a:lnSpc>
              <a:spcBef>
                <a:spcPts val="1400"/>
              </a:spcBef>
              <a:spcAft>
                <a:spcPts val="0"/>
              </a:spcAft>
              <a:buSzPts val="2000"/>
              <a:buFont typeface="Calibri"/>
              <a:buAutoNum type="arabicPeriod"/>
            </a:pPr>
            <a:r>
              <a:rPr lang="en-US"/>
              <a:t>High loan-to-value home equity loans</a:t>
            </a:r>
            <a:endParaRPr/>
          </a:p>
          <a:p>
            <a:pPr indent="-457200" lvl="0" marL="457200" rtl="0" algn="l">
              <a:lnSpc>
                <a:spcPct val="90000"/>
              </a:lnSpc>
              <a:spcBef>
                <a:spcPts val="1400"/>
              </a:spcBef>
              <a:spcAft>
                <a:spcPts val="0"/>
              </a:spcAft>
              <a:buSzPts val="2000"/>
              <a:buFont typeface="Calibri"/>
              <a:buAutoNum type="arabicPeriod"/>
            </a:pPr>
            <a:r>
              <a:rPr lang="en-US"/>
              <a:t>Advance-free loans</a:t>
            </a:r>
            <a:endParaRPr/>
          </a:p>
          <a:p>
            <a:pPr indent="0" lvl="0" marL="91440" rtl="0" algn="l">
              <a:lnSpc>
                <a:spcPct val="90000"/>
              </a:lnSpc>
              <a:spcBef>
                <a:spcPts val="1400"/>
              </a:spcBef>
              <a:spcAft>
                <a:spcPts val="0"/>
              </a:spcAft>
              <a:buSzPts val="2000"/>
              <a:buNone/>
            </a:pPr>
            <a:r>
              <a:t/>
            </a:r>
            <a:endParaRPr/>
          </a:p>
        </p:txBody>
      </p:sp>
      <p:pic>
        <p:nvPicPr>
          <p:cNvPr id="268" name="Google Shape;268;p17"/>
          <p:cNvPicPr preferRelativeResize="0"/>
          <p:nvPr/>
        </p:nvPicPr>
        <p:blipFill rotWithShape="1">
          <a:blip r:embed="rId3">
            <a:alphaModFix/>
          </a:blip>
          <a:srcRect b="0" l="0" r="0" t="0"/>
          <a:stretch/>
        </p:blipFill>
        <p:spPr>
          <a:xfrm>
            <a:off x="6623222" y="2383033"/>
            <a:ext cx="4819521" cy="2642963"/>
          </a:xfrm>
          <a:prstGeom prst="rect">
            <a:avLst/>
          </a:prstGeom>
          <a:noFill/>
          <a:ln>
            <a:noFill/>
          </a:ln>
        </p:spPr>
      </p:pic>
      <p:sp>
        <p:nvSpPr>
          <p:cNvPr id="269" name="Google Shape;269;p1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70" name="Google Shape;270;p1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8"/>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How to Protect Yourself Against Predatory Lending</a:t>
            </a:r>
            <a:endParaRPr>
              <a:solidFill>
                <a:schemeClr val="accent1"/>
              </a:solidFill>
            </a:endParaRPr>
          </a:p>
        </p:txBody>
      </p:sp>
      <p:sp>
        <p:nvSpPr>
          <p:cNvPr id="276" name="Google Shape;276;p18"/>
          <p:cNvSpPr txBox="1"/>
          <p:nvPr>
            <p:ph idx="1" type="body"/>
          </p:nvPr>
        </p:nvSpPr>
        <p:spPr>
          <a:xfrm>
            <a:off x="1097280" y="1845734"/>
            <a:ext cx="4937760" cy="4023360"/>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b="1" lang="en-US">
                <a:solidFill>
                  <a:schemeClr val="dk1"/>
                </a:solidFill>
              </a:rPr>
              <a:t>How to Avoid Predatory Loans:</a:t>
            </a:r>
            <a:endParaRPr/>
          </a:p>
          <a:p>
            <a:pPr indent="-457200" lvl="0" marL="457200" rtl="0" algn="l">
              <a:lnSpc>
                <a:spcPct val="90000"/>
              </a:lnSpc>
              <a:spcBef>
                <a:spcPts val="1400"/>
              </a:spcBef>
              <a:spcAft>
                <a:spcPts val="0"/>
              </a:spcAft>
              <a:buSzPts val="2000"/>
              <a:buFont typeface="Calibri"/>
              <a:buAutoNum type="arabicPeriod"/>
            </a:pPr>
            <a:r>
              <a:rPr lang="en-US"/>
              <a:t>Shop around for loans. </a:t>
            </a:r>
            <a:endParaRPr/>
          </a:p>
          <a:p>
            <a:pPr indent="-457200" lvl="0" marL="457200" rtl="0" algn="l">
              <a:lnSpc>
                <a:spcPct val="90000"/>
              </a:lnSpc>
              <a:spcBef>
                <a:spcPts val="1400"/>
              </a:spcBef>
              <a:spcAft>
                <a:spcPts val="0"/>
              </a:spcAft>
              <a:buSzPts val="2000"/>
              <a:buFont typeface="Calibri"/>
              <a:buAutoNum type="arabicPeriod"/>
            </a:pPr>
            <a:r>
              <a:rPr lang="en-US"/>
              <a:t>Calculate your debt-to-income ratio.</a:t>
            </a:r>
            <a:endParaRPr/>
          </a:p>
          <a:p>
            <a:pPr indent="-457200" lvl="0" marL="457200" rtl="0" algn="l">
              <a:lnSpc>
                <a:spcPct val="90000"/>
              </a:lnSpc>
              <a:spcBef>
                <a:spcPts val="1400"/>
              </a:spcBef>
              <a:spcAft>
                <a:spcPts val="0"/>
              </a:spcAft>
              <a:buSzPts val="2000"/>
              <a:buFont typeface="Calibri"/>
              <a:buAutoNum type="arabicPeriod"/>
            </a:pPr>
            <a:r>
              <a:rPr lang="en-US"/>
              <a:t>Make sure the lender is licensed and reputable.</a:t>
            </a:r>
            <a:endParaRPr/>
          </a:p>
          <a:p>
            <a:pPr indent="-457200" lvl="0" marL="457200" rtl="0" algn="l">
              <a:lnSpc>
                <a:spcPct val="90000"/>
              </a:lnSpc>
              <a:spcBef>
                <a:spcPts val="1400"/>
              </a:spcBef>
              <a:spcAft>
                <a:spcPts val="0"/>
              </a:spcAft>
              <a:buSzPts val="2000"/>
              <a:buFont typeface="Calibri"/>
              <a:buAutoNum type="arabicPeriod"/>
            </a:pPr>
            <a:r>
              <a:rPr lang="en-US"/>
              <a:t>Ask the lender lots of questions.</a:t>
            </a:r>
            <a:endParaRPr/>
          </a:p>
          <a:p>
            <a:pPr indent="-457200" lvl="0" marL="457200" rtl="0" algn="l">
              <a:lnSpc>
                <a:spcPct val="90000"/>
              </a:lnSpc>
              <a:spcBef>
                <a:spcPts val="1400"/>
              </a:spcBef>
              <a:spcAft>
                <a:spcPts val="0"/>
              </a:spcAft>
              <a:buSzPts val="2000"/>
              <a:buFont typeface="Calibri"/>
              <a:buAutoNum type="arabicPeriod"/>
            </a:pPr>
            <a:r>
              <a:rPr lang="en-US"/>
              <a:t>Keep you eye out for red flags – signing a waiver, contracts with blank spaces – and don’t sign if there are red flags.</a:t>
            </a:r>
            <a:endParaRPr/>
          </a:p>
          <a:p>
            <a:pPr indent="-330200" lvl="0" marL="457200" rtl="0" algn="l">
              <a:lnSpc>
                <a:spcPct val="90000"/>
              </a:lnSpc>
              <a:spcBef>
                <a:spcPts val="1400"/>
              </a:spcBef>
              <a:spcAft>
                <a:spcPts val="0"/>
              </a:spcAft>
              <a:buSzPts val="2000"/>
              <a:buFont typeface="Calibri"/>
              <a:buNone/>
            </a:pPr>
            <a:r>
              <a:t/>
            </a:r>
            <a:endParaRPr/>
          </a:p>
        </p:txBody>
      </p:sp>
      <p:sp>
        <p:nvSpPr>
          <p:cNvPr id="277" name="Google Shape;277;p18"/>
          <p:cNvSpPr txBox="1"/>
          <p:nvPr>
            <p:ph idx="2" type="body"/>
          </p:nvPr>
        </p:nvSpPr>
        <p:spPr>
          <a:xfrm>
            <a:off x="6217920" y="1845737"/>
            <a:ext cx="4937760" cy="4023359"/>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Char char=" "/>
            </a:pPr>
            <a:r>
              <a:rPr b="1" lang="en-US"/>
              <a:t>How to Get Out of a Predatory Loan:</a:t>
            </a:r>
            <a:endParaRPr/>
          </a:p>
          <a:p>
            <a:pPr indent="-457200" lvl="0" marL="457200" rtl="0" algn="l">
              <a:lnSpc>
                <a:spcPct val="90000"/>
              </a:lnSpc>
              <a:spcBef>
                <a:spcPts val="1400"/>
              </a:spcBef>
              <a:spcAft>
                <a:spcPts val="0"/>
              </a:spcAft>
              <a:buSzPts val="2000"/>
              <a:buFont typeface="Calibri"/>
              <a:buAutoNum type="arabicPeriod"/>
            </a:pPr>
            <a:r>
              <a:rPr lang="en-US"/>
              <a:t>Report the lender. </a:t>
            </a:r>
            <a:endParaRPr/>
          </a:p>
          <a:p>
            <a:pPr indent="-457200" lvl="0" marL="457200" rtl="0" algn="l">
              <a:lnSpc>
                <a:spcPct val="90000"/>
              </a:lnSpc>
              <a:spcBef>
                <a:spcPts val="1400"/>
              </a:spcBef>
              <a:spcAft>
                <a:spcPts val="0"/>
              </a:spcAft>
              <a:buSzPts val="2000"/>
              <a:buFont typeface="Calibri"/>
              <a:buAutoNum type="arabicPeriod"/>
            </a:pPr>
            <a:r>
              <a:rPr lang="en-US"/>
              <a:t>Use your Right to Recession within 3 days of signing</a:t>
            </a:r>
            <a:endParaRPr/>
          </a:p>
          <a:p>
            <a:pPr indent="-457200" lvl="0" marL="457200" rtl="0" algn="l">
              <a:lnSpc>
                <a:spcPct val="90000"/>
              </a:lnSpc>
              <a:spcBef>
                <a:spcPts val="1400"/>
              </a:spcBef>
              <a:spcAft>
                <a:spcPts val="0"/>
              </a:spcAft>
              <a:buSzPts val="2000"/>
              <a:buFont typeface="Calibri"/>
              <a:buAutoNum type="arabicPeriod"/>
            </a:pPr>
            <a:r>
              <a:rPr lang="en-US"/>
              <a:t>Sue the predatory lender</a:t>
            </a:r>
            <a:endParaRPr/>
          </a:p>
          <a:p>
            <a:pPr indent="-457200" lvl="0" marL="457200" rtl="0" algn="l">
              <a:lnSpc>
                <a:spcPct val="90000"/>
              </a:lnSpc>
              <a:spcBef>
                <a:spcPts val="1400"/>
              </a:spcBef>
              <a:spcAft>
                <a:spcPts val="0"/>
              </a:spcAft>
              <a:buSzPts val="2000"/>
              <a:buFont typeface="Calibri"/>
              <a:buAutoNum type="arabicPeriod"/>
            </a:pPr>
            <a:r>
              <a:rPr lang="en-US"/>
              <a:t>Refinance the loan</a:t>
            </a:r>
            <a:endParaRPr/>
          </a:p>
          <a:p>
            <a:pPr indent="0" lvl="0" marL="91440" rtl="0" algn="l">
              <a:lnSpc>
                <a:spcPct val="90000"/>
              </a:lnSpc>
              <a:spcBef>
                <a:spcPts val="1400"/>
              </a:spcBef>
              <a:spcAft>
                <a:spcPts val="0"/>
              </a:spcAft>
              <a:buSzPts val="2000"/>
              <a:buNone/>
            </a:pPr>
            <a:r>
              <a:t/>
            </a:r>
            <a:endParaRPr/>
          </a:p>
        </p:txBody>
      </p:sp>
      <p:sp>
        <p:nvSpPr>
          <p:cNvPr id="278" name="Google Shape;278;p1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79" name="Google Shape;279;p1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9"/>
          <p:cNvSpPr txBox="1"/>
          <p:nvPr>
            <p:ph type="title"/>
          </p:nvPr>
        </p:nvSpPr>
        <p:spPr>
          <a:xfrm>
            <a:off x="1097280" y="286605"/>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accent1"/>
              </a:buClr>
              <a:buSzPts val="4800"/>
              <a:buFont typeface="Bebas Neue"/>
              <a:buNone/>
            </a:pPr>
            <a:r>
              <a:rPr lang="en-US">
                <a:solidFill>
                  <a:schemeClr val="accent1"/>
                </a:solidFill>
              </a:rPr>
              <a:t>Wrap-Up</a:t>
            </a:r>
            <a:endParaRPr>
              <a:solidFill>
                <a:schemeClr val="accent1"/>
              </a:solidFill>
            </a:endParaRPr>
          </a:p>
        </p:txBody>
      </p:sp>
      <p:sp>
        <p:nvSpPr>
          <p:cNvPr id="285" name="Google Shape;285;p19"/>
          <p:cNvSpPr txBox="1"/>
          <p:nvPr>
            <p:ph idx="1" type="body"/>
          </p:nvPr>
        </p:nvSpPr>
        <p:spPr>
          <a:xfrm>
            <a:off x="1097279" y="1845734"/>
            <a:ext cx="7366237" cy="4130860"/>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000"/>
              <a:buFont typeface="Calibri"/>
              <a:buAutoNum type="arabicPeriod"/>
            </a:pPr>
            <a:r>
              <a:rPr lang="en-US"/>
              <a:t>Thank you all for your participation today!</a:t>
            </a:r>
            <a:endParaRPr/>
          </a:p>
          <a:p>
            <a:pPr indent="-457200" lvl="0" marL="457200" rtl="0" algn="l">
              <a:lnSpc>
                <a:spcPct val="90000"/>
              </a:lnSpc>
              <a:spcBef>
                <a:spcPts val="1400"/>
              </a:spcBef>
              <a:spcAft>
                <a:spcPts val="0"/>
              </a:spcAft>
              <a:buSzPts val="2000"/>
              <a:buFont typeface="Calibri"/>
              <a:buAutoNum type="arabicPeriod"/>
            </a:pPr>
            <a:r>
              <a:rPr lang="en-US"/>
              <a:t>Are there any questions?</a:t>
            </a:r>
            <a:endParaRPr/>
          </a:p>
          <a:p>
            <a:pPr indent="-457200" lvl="0" marL="457200" rtl="0" algn="l">
              <a:lnSpc>
                <a:spcPct val="90000"/>
              </a:lnSpc>
              <a:spcBef>
                <a:spcPts val="1400"/>
              </a:spcBef>
              <a:spcAft>
                <a:spcPts val="0"/>
              </a:spcAft>
              <a:buSzPts val="2000"/>
              <a:buFont typeface="Calibri"/>
              <a:buAutoNum type="arabicPeriod"/>
            </a:pPr>
            <a:r>
              <a:rPr b="1" lang="en-US">
                <a:solidFill>
                  <a:schemeClr val="accent2"/>
                </a:solidFill>
              </a:rPr>
              <a:t>Homework: </a:t>
            </a:r>
            <a:endParaRPr/>
          </a:p>
          <a:p>
            <a:pPr indent="-457200" lvl="1" marL="749808" rtl="0" algn="l">
              <a:lnSpc>
                <a:spcPct val="90000"/>
              </a:lnSpc>
              <a:spcBef>
                <a:spcPts val="400"/>
              </a:spcBef>
              <a:spcAft>
                <a:spcPts val="0"/>
              </a:spcAft>
              <a:buSzPts val="1800"/>
              <a:buFont typeface="Calibri"/>
              <a:buAutoNum type="alphaLcPeriod"/>
            </a:pPr>
            <a:r>
              <a:rPr lang="en-US"/>
              <a:t>Choose </a:t>
            </a:r>
            <a:r>
              <a:rPr b="1" lang="en-US"/>
              <a:t>one</a:t>
            </a:r>
            <a:r>
              <a:rPr lang="en-US"/>
              <a:t> </a:t>
            </a:r>
            <a:r>
              <a:rPr b="1" lang="en-US"/>
              <a:t>more </a:t>
            </a:r>
            <a:r>
              <a:rPr lang="en-US"/>
              <a:t>money saving idea and commit to it for the week. Keep track of which ideas are going well and which are not. </a:t>
            </a:r>
            <a:endParaRPr/>
          </a:p>
          <a:p>
            <a:pPr indent="-457200" lvl="1" marL="749808" rtl="0" algn="l">
              <a:lnSpc>
                <a:spcPct val="90000"/>
              </a:lnSpc>
              <a:spcBef>
                <a:spcPts val="600"/>
              </a:spcBef>
              <a:spcAft>
                <a:spcPts val="0"/>
              </a:spcAft>
              <a:buSzPts val="1800"/>
              <a:buFont typeface="Calibri"/>
              <a:buAutoNum type="alphaLcPeriod"/>
            </a:pPr>
            <a:r>
              <a:rPr lang="en-US"/>
              <a:t>Commit to using your </a:t>
            </a:r>
            <a:r>
              <a:rPr b="1" lang="en-US"/>
              <a:t>personalized budget </a:t>
            </a:r>
            <a:r>
              <a:rPr lang="en-US"/>
              <a:t>for the next week.</a:t>
            </a:r>
            <a:endParaRPr/>
          </a:p>
          <a:p>
            <a:pPr indent="-457200" lvl="1" marL="749808" rtl="0" algn="l">
              <a:lnSpc>
                <a:spcPct val="90000"/>
              </a:lnSpc>
              <a:spcBef>
                <a:spcPts val="600"/>
              </a:spcBef>
              <a:spcAft>
                <a:spcPts val="0"/>
              </a:spcAft>
              <a:buSzPts val="1800"/>
              <a:buFont typeface="Calibri"/>
              <a:buAutoNum type="alphaLcPeriod"/>
            </a:pPr>
            <a:r>
              <a:rPr lang="en-US"/>
              <a:t>Collect information on </a:t>
            </a:r>
            <a:r>
              <a:rPr b="1" lang="en-US"/>
              <a:t>interest rates </a:t>
            </a:r>
            <a:r>
              <a:rPr lang="en-US"/>
              <a:t>of any personal debt you might have and gather information on any</a:t>
            </a:r>
            <a:r>
              <a:rPr b="1" lang="en-US"/>
              <a:t> loans</a:t>
            </a:r>
            <a:r>
              <a:rPr lang="en-US"/>
              <a:t> you have or are thinking about. </a:t>
            </a:r>
            <a:endParaRPr/>
          </a:p>
        </p:txBody>
      </p:sp>
      <p:pic>
        <p:nvPicPr>
          <p:cNvPr id="286" name="Google Shape;286;p19"/>
          <p:cNvPicPr preferRelativeResize="0"/>
          <p:nvPr/>
        </p:nvPicPr>
        <p:blipFill rotWithShape="1">
          <a:blip r:embed="rId3">
            <a:alphaModFix/>
          </a:blip>
          <a:srcRect b="0" l="0" r="0" t="0"/>
          <a:stretch/>
        </p:blipFill>
        <p:spPr>
          <a:xfrm>
            <a:off x="8756591" y="2644019"/>
            <a:ext cx="2989521" cy="2044305"/>
          </a:xfrm>
          <a:prstGeom prst="rect">
            <a:avLst/>
          </a:prstGeom>
          <a:noFill/>
          <a:ln>
            <a:noFill/>
          </a:ln>
        </p:spPr>
      </p:pic>
      <p:sp>
        <p:nvSpPr>
          <p:cNvPr id="287" name="Google Shape;287;p1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MENTAL HEALTH &amp; ADDICTION ASSOCIATION OF OREGON</a:t>
            </a:r>
            <a:endParaRPr/>
          </a:p>
        </p:txBody>
      </p:sp>
      <p:sp>
        <p:nvSpPr>
          <p:cNvPr id="288" name="Google Shape;288;p1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Custom 1">
      <a:dk1>
        <a:srgbClr val="000000"/>
      </a:dk1>
      <a:lt1>
        <a:srgbClr val="FFFFFF"/>
      </a:lt1>
      <a:dk2>
        <a:srgbClr val="024B73"/>
      </a:dk2>
      <a:lt2>
        <a:srgbClr val="9DC541"/>
      </a:lt2>
      <a:accent1>
        <a:srgbClr val="564191"/>
      </a:accent1>
      <a:accent2>
        <a:srgbClr val="9DC541"/>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2021-11-09T00:18:20Z</dcterms:created>
  <dc:creator>MHAOLADMIN</dc:creator>
</cp:coreProperties>
</file>