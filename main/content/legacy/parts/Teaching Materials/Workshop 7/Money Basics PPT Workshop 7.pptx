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9388475" cy="7102475"/>
  <p:embeddedFontLst>
    <p:embeddedFont>
      <p:font typeface="Bebas Neue"/>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2" roundtripDataSignature="AMtx7mga0LKE7VeENXAszSjvcS1vxi2P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0648CA-6FD2-4B99-8BD4-CCE6050FB6A8}">
  <a:tblStyle styleId="{630648CA-6FD2-4B99-8BD4-CCE6050FB6A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BebasNeue-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4068339" cy="356357"/>
          </a:xfrm>
          <a:prstGeom prst="rect">
            <a:avLst/>
          </a:prstGeom>
          <a:noFill/>
          <a:ln>
            <a:noFill/>
          </a:ln>
        </p:spPr>
        <p:txBody>
          <a:bodyPr anchorCtr="0" anchor="t" bIns="46650" lIns="93325" spcFirstLastPara="1" rIns="93325" wrap="square" tIns="466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317964" y="0"/>
            <a:ext cx="4068339" cy="356357"/>
          </a:xfrm>
          <a:prstGeom prst="rect">
            <a:avLst/>
          </a:prstGeom>
          <a:noFill/>
          <a:ln>
            <a:noFill/>
          </a:ln>
        </p:spPr>
        <p:txBody>
          <a:bodyPr anchorCtr="0" anchor="t" bIns="46650" lIns="93325" spcFirstLastPara="1" rIns="93325" wrap="square" tIns="466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38848" y="3418067"/>
            <a:ext cx="7510780" cy="2796600"/>
          </a:xfrm>
          <a:prstGeom prst="rect">
            <a:avLst/>
          </a:prstGeom>
          <a:noFill/>
          <a:ln>
            <a:noFill/>
          </a:ln>
        </p:spPr>
        <p:txBody>
          <a:bodyPr anchorCtr="0" anchor="t" bIns="46650" lIns="93325" spcFirstLastPara="1" rIns="93325" wrap="square" tIns="4665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6746121"/>
            <a:ext cx="4068339" cy="356356"/>
          </a:xfrm>
          <a:prstGeom prst="rect">
            <a:avLst/>
          </a:prstGeom>
          <a:noFill/>
          <a:ln>
            <a:noFill/>
          </a:ln>
        </p:spPr>
        <p:txBody>
          <a:bodyPr anchorCtr="0" anchor="b" bIns="46650" lIns="93325" spcFirstLastPara="1" rIns="93325" wrap="square" tIns="466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317964" y="6746121"/>
            <a:ext cx="4068339" cy="356356"/>
          </a:xfrm>
          <a:prstGeom prst="rect">
            <a:avLst/>
          </a:prstGeom>
          <a:noFill/>
          <a:ln>
            <a:noFill/>
          </a:ln>
        </p:spPr>
        <p:txBody>
          <a:bodyPr anchorCtr="0" anchor="b" bIns="46650" lIns="93325" spcFirstLastPara="1" rIns="93325" wrap="square" tIns="466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1:notes"/>
          <p:cNvSpPr txBox="1"/>
          <p:nvPr>
            <p:ph idx="1" type="body"/>
          </p:nvPr>
        </p:nvSpPr>
        <p:spPr>
          <a:xfrm>
            <a:off x="938848" y="3418067"/>
            <a:ext cx="7510780" cy="2796600"/>
          </a:xfrm>
          <a:prstGeom prst="rect">
            <a:avLst/>
          </a:prstGeom>
          <a:noFill/>
          <a:ln>
            <a:noFill/>
          </a:ln>
        </p:spPr>
        <p:txBody>
          <a:bodyPr anchorCtr="0" anchor="t" bIns="46650" lIns="93325" spcFirstLastPara="1" rIns="93325" wrap="square" tIns="46650">
            <a:normAutofit/>
          </a:bodyPr>
          <a:lstStyle/>
          <a:p>
            <a:pPr indent="0" lvl="0" marL="0" rtl="0" algn="l">
              <a:spcBef>
                <a:spcPts val="0"/>
              </a:spcBef>
              <a:spcAft>
                <a:spcPts val="0"/>
              </a:spcAft>
              <a:buNone/>
            </a:pPr>
            <a:r>
              <a:t/>
            </a:r>
            <a:endParaRPr/>
          </a:p>
        </p:txBody>
      </p:sp>
      <p:sp>
        <p:nvSpPr>
          <p:cNvPr id="120" name="Google Shape;120;p1:notes"/>
          <p:cNvSpPr txBox="1"/>
          <p:nvPr>
            <p:ph idx="12" type="sldNum"/>
          </p:nvPr>
        </p:nvSpPr>
        <p:spPr>
          <a:xfrm>
            <a:off x="5317964" y="6746121"/>
            <a:ext cx="4068339" cy="356356"/>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29" name="Google Shape;129;p2: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37" name="Google Shape;137;p3: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45" name="Google Shape;145;p4: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53" name="Google Shape;153;p5: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62" name="Google Shape;162;p6: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71" name="Google Shape;171;p7: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81" name="Google Shape;181;p8: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91" name="Google Shape;191;p9: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00" name="Google Shape;200;p10: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09" name="Google Shape;209;p11: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18" name="Google Shape;218;p12: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27" name="Google Shape;227;p13: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38" name="Google Shape;238;p14: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5: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47" name="Google Shape;247;p15: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17"/>
          <p:cNvSpPr/>
          <p:nvPr/>
        </p:nvSpPr>
        <p:spPr>
          <a:xfrm>
            <a:off x="3177"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7"/>
          <p:cNvSpPr/>
          <p:nvPr/>
        </p:nvSpPr>
        <p:spPr>
          <a:xfrm>
            <a:off x="17"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7"/>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Bebas Neue"/>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7"/>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Bebas Neue"/>
                <a:ea typeface="Bebas Neue"/>
                <a:cs typeface="Bebas Neue"/>
                <a:sym typeface="Bebas Neue"/>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7"/>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7"/>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5" name="Google Shape;25;p17"/>
          <p:cNvCxnSpPr/>
          <p:nvPr/>
        </p:nvCxnSpPr>
        <p:spPr>
          <a:xfrm>
            <a:off x="1207659" y="4343400"/>
            <a:ext cx="9875520" cy="0"/>
          </a:xfrm>
          <a:prstGeom prst="straightConnector1">
            <a:avLst/>
          </a:prstGeom>
          <a:noFill/>
          <a:ln cap="flat" cmpd="sng" w="9525">
            <a:solidFill>
              <a:srgbClr val="7F7F7F"/>
            </a:solidFill>
            <a:prstDash val="solid"/>
            <a:round/>
            <a:headEnd len="sm" w="sm" type="none"/>
            <a:tailEnd len="sm" w="sm" type="none"/>
          </a:ln>
        </p:spPr>
      </p:cxnSp>
      <p:pic>
        <p:nvPicPr>
          <p:cNvPr descr="A picture containing text, clipart&#10;&#10;Description automatically generated" id="26" name="Google Shape;26;p17"/>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8"/>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18"/>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clipart&#10;&#10;Description automatically generated" id="32" name="Google Shape;32;p18"/>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19"/>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6" name="Google Shape;36;p19"/>
          <p:cNvSpPr txBox="1"/>
          <p:nvPr>
            <p:ph idx="2" type="body"/>
          </p:nvPr>
        </p:nvSpPr>
        <p:spPr>
          <a:xfrm>
            <a:off x="1097280" y="2582334"/>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7" name="Google Shape;37;p19"/>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8" name="Google Shape;38;p19"/>
          <p:cNvSpPr txBox="1"/>
          <p:nvPr>
            <p:ph idx="4" type="body"/>
          </p:nvPr>
        </p:nvSpPr>
        <p:spPr>
          <a:xfrm>
            <a:off x="6217920" y="2582334"/>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19"/>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9"/>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clipart&#10;&#10;Description automatically generated" id="41" name="Google Shape;41;p19"/>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2" name="Shape 42"/>
        <p:cNvGrpSpPr/>
        <p:nvPr/>
      </p:nvGrpSpPr>
      <p:grpSpPr>
        <a:xfrm>
          <a:off x="0" y="0"/>
          <a:ext cx="0" cy="0"/>
          <a:chOff x="0" y="0"/>
          <a:chExt cx="0" cy="0"/>
        </a:xfrm>
      </p:grpSpPr>
      <p:sp>
        <p:nvSpPr>
          <p:cNvPr id="43" name="Google Shape;43;p20"/>
          <p:cNvSpPr/>
          <p:nvPr/>
        </p:nvSpPr>
        <p:spPr>
          <a:xfrm>
            <a:off x="3177"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0"/>
          <p:cNvSpPr/>
          <p:nvPr/>
        </p:nvSpPr>
        <p:spPr>
          <a:xfrm>
            <a:off x="17"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0"/>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Bebas Neue"/>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0"/>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Bebas Neue"/>
                <a:ea typeface="Bebas Neue"/>
                <a:cs typeface="Bebas Neue"/>
                <a:sym typeface="Bebas Neue"/>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7" name="Google Shape;47;p20"/>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9" name="Google Shape;49;p20"/>
          <p:cNvCxnSpPr/>
          <p:nvPr/>
        </p:nvCxnSpPr>
        <p:spPr>
          <a:xfrm>
            <a:off x="1207659" y="4343400"/>
            <a:ext cx="9875520" cy="0"/>
          </a:xfrm>
          <a:prstGeom prst="straightConnector1">
            <a:avLst/>
          </a:prstGeom>
          <a:noFill/>
          <a:ln cap="flat" cmpd="sng" w="9525">
            <a:solidFill>
              <a:srgbClr val="7F7F7F"/>
            </a:solidFill>
            <a:prstDash val="solid"/>
            <a:round/>
            <a:headEnd len="sm" w="sm" type="none"/>
            <a:tailEnd len="sm" w="sm" type="none"/>
          </a:ln>
        </p:spPr>
      </p:cxnSp>
      <p:pic>
        <p:nvPicPr>
          <p:cNvPr descr="A picture containing text, clipart&#10;&#10;Description automatically generated" id="50" name="Google Shape;50;p20"/>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21"/>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1"/>
          <p:cNvSpPr txBox="1"/>
          <p:nvPr>
            <p:ph idx="1" type="body"/>
          </p:nvPr>
        </p:nvSpPr>
        <p:spPr>
          <a:xfrm>
            <a:off x="1097280"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4" name="Google Shape;54;p21"/>
          <p:cNvSpPr txBox="1"/>
          <p:nvPr>
            <p:ph idx="2" type="body"/>
          </p:nvPr>
        </p:nvSpPr>
        <p:spPr>
          <a:xfrm>
            <a:off x="6217920" y="1845737"/>
            <a:ext cx="493776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21"/>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clipart&#10;&#10;Description automatically generated" id="57" name="Google Shape;57;p21"/>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22"/>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2"/>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2"/>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clipart&#10;&#10;Description automatically generated" id="62" name="Google Shape;62;p22"/>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3" name="Shape 63"/>
        <p:cNvGrpSpPr/>
        <p:nvPr/>
      </p:nvGrpSpPr>
      <p:grpSpPr>
        <a:xfrm>
          <a:off x="0" y="0"/>
          <a:ext cx="0" cy="0"/>
          <a:chOff x="0" y="0"/>
          <a:chExt cx="0" cy="0"/>
        </a:xfrm>
      </p:grpSpPr>
      <p:sp>
        <p:nvSpPr>
          <p:cNvPr id="64" name="Google Shape;64;p23"/>
          <p:cNvSpPr/>
          <p:nvPr/>
        </p:nvSpPr>
        <p:spPr>
          <a:xfrm>
            <a:off x="3177"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3"/>
          <p:cNvSpPr/>
          <p:nvPr/>
        </p:nvSpPr>
        <p:spPr>
          <a:xfrm>
            <a:off x="17"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3"/>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clipart&#10;&#10;Description automatically generated" id="68" name="Google Shape;68;p23"/>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24"/>
          <p:cNvSpPr/>
          <p:nvPr/>
        </p:nvSpPr>
        <p:spPr>
          <a:xfrm>
            <a:off x="18"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4"/>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4"/>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Bebas Neue"/>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4"/>
          <p:cNvSpPr txBox="1"/>
          <p:nvPr>
            <p:ph idx="1" type="body"/>
          </p:nvPr>
        </p:nvSpPr>
        <p:spPr>
          <a:xfrm>
            <a:off x="4613650" y="731520"/>
            <a:ext cx="6679191"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24"/>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24"/>
          <p:cNvSpPr txBox="1"/>
          <p:nvPr>
            <p:ph idx="10" type="dt"/>
          </p:nvPr>
        </p:nvSpPr>
        <p:spPr>
          <a:xfrm>
            <a:off x="465513" y="6459787"/>
            <a:ext cx="261851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24"/>
          <p:cNvSpPr txBox="1"/>
          <p:nvPr>
            <p:ph idx="11" type="ftr"/>
          </p:nvPr>
        </p:nvSpPr>
        <p:spPr>
          <a:xfrm>
            <a:off x="4800600" y="6459787"/>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rgbClr val="637052"/>
                </a:solidFill>
                <a:latin typeface="Arial"/>
                <a:ea typeface="Arial"/>
                <a:cs typeface="Arial"/>
                <a:sym typeface="Arial"/>
              </a:defRPr>
            </a:lvl1pPr>
            <a:lvl2pPr indent="0" lvl="1" marL="0" algn="r">
              <a:spcBef>
                <a:spcPts val="0"/>
              </a:spcBef>
              <a:buNone/>
              <a:defRPr sz="1050">
                <a:solidFill>
                  <a:srgbClr val="637052"/>
                </a:solidFill>
                <a:latin typeface="Arial"/>
                <a:ea typeface="Arial"/>
                <a:cs typeface="Arial"/>
                <a:sym typeface="Arial"/>
              </a:defRPr>
            </a:lvl2pPr>
            <a:lvl3pPr indent="0" lvl="2" marL="0" algn="r">
              <a:spcBef>
                <a:spcPts val="0"/>
              </a:spcBef>
              <a:buNone/>
              <a:defRPr sz="1050">
                <a:solidFill>
                  <a:srgbClr val="637052"/>
                </a:solidFill>
                <a:latin typeface="Arial"/>
                <a:ea typeface="Arial"/>
                <a:cs typeface="Arial"/>
                <a:sym typeface="Arial"/>
              </a:defRPr>
            </a:lvl3pPr>
            <a:lvl4pPr indent="0" lvl="3" marL="0" algn="r">
              <a:spcBef>
                <a:spcPts val="0"/>
              </a:spcBef>
              <a:buNone/>
              <a:defRPr sz="1050">
                <a:solidFill>
                  <a:srgbClr val="637052"/>
                </a:solidFill>
                <a:latin typeface="Arial"/>
                <a:ea typeface="Arial"/>
                <a:cs typeface="Arial"/>
                <a:sym typeface="Arial"/>
              </a:defRPr>
            </a:lvl4pPr>
            <a:lvl5pPr indent="0" lvl="4" marL="0" algn="r">
              <a:spcBef>
                <a:spcPts val="0"/>
              </a:spcBef>
              <a:buNone/>
              <a:defRPr sz="1050">
                <a:solidFill>
                  <a:srgbClr val="637052"/>
                </a:solidFill>
                <a:latin typeface="Arial"/>
                <a:ea typeface="Arial"/>
                <a:cs typeface="Arial"/>
                <a:sym typeface="Arial"/>
              </a:defRPr>
            </a:lvl5pPr>
            <a:lvl6pPr indent="0" lvl="5" marL="0" algn="r">
              <a:spcBef>
                <a:spcPts val="0"/>
              </a:spcBef>
              <a:buNone/>
              <a:defRPr sz="1050">
                <a:solidFill>
                  <a:srgbClr val="637052"/>
                </a:solidFill>
                <a:latin typeface="Arial"/>
                <a:ea typeface="Arial"/>
                <a:cs typeface="Arial"/>
                <a:sym typeface="Arial"/>
              </a:defRPr>
            </a:lvl6pPr>
            <a:lvl7pPr indent="0" lvl="6" marL="0" algn="r">
              <a:spcBef>
                <a:spcPts val="0"/>
              </a:spcBef>
              <a:buNone/>
              <a:defRPr sz="1050">
                <a:solidFill>
                  <a:srgbClr val="637052"/>
                </a:solidFill>
                <a:latin typeface="Arial"/>
                <a:ea typeface="Arial"/>
                <a:cs typeface="Arial"/>
                <a:sym typeface="Arial"/>
              </a:defRPr>
            </a:lvl7pPr>
            <a:lvl8pPr indent="0" lvl="7" marL="0" algn="r">
              <a:spcBef>
                <a:spcPts val="0"/>
              </a:spcBef>
              <a:buNone/>
              <a:defRPr sz="1050">
                <a:solidFill>
                  <a:srgbClr val="637052"/>
                </a:solidFill>
                <a:latin typeface="Arial"/>
                <a:ea typeface="Arial"/>
                <a:cs typeface="Arial"/>
                <a:sym typeface="Arial"/>
              </a:defRPr>
            </a:lvl8pPr>
            <a:lvl9pPr indent="0" lvl="8" marL="0" algn="r">
              <a:spcBef>
                <a:spcPts val="0"/>
              </a:spcBef>
              <a:buNone/>
              <a:defRPr sz="1050">
                <a:solidFill>
                  <a:srgbClr val="63705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25"/>
          <p:cNvSpPr/>
          <p:nvPr/>
        </p:nvSpPr>
        <p:spPr>
          <a:xfrm>
            <a:off x="1"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5"/>
          <p:cNvSpPr/>
          <p:nvPr/>
        </p:nvSpPr>
        <p:spPr>
          <a:xfrm>
            <a:off x="17"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5"/>
          <p:cNvSpPr txBox="1"/>
          <p:nvPr>
            <p:ph type="title"/>
          </p:nvPr>
        </p:nvSpPr>
        <p:spPr>
          <a:xfrm>
            <a:off x="1097280" y="5074920"/>
            <a:ext cx="10119360"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Bebas Neue"/>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25"/>
          <p:cNvPicPr preferRelativeResize="0"/>
          <p:nvPr>
            <p:ph idx="2" type="pic"/>
          </p:nvPr>
        </p:nvPicPr>
        <p:blipFill/>
        <p:spPr>
          <a:xfrm>
            <a:off x="17" y="0"/>
            <a:ext cx="12191985" cy="4915076"/>
          </a:xfrm>
          <a:prstGeom prst="rect">
            <a:avLst/>
          </a:prstGeom>
          <a:blipFill rotWithShape="1">
            <a:blip r:embed="rId2">
              <a:alphaModFix/>
            </a:blip>
            <a:stretch>
              <a:fillRect b="0" l="0" r="0" t="0"/>
            </a:stretch>
          </a:blipFill>
          <a:ln>
            <a:noFill/>
          </a:ln>
        </p:spPr>
      </p:pic>
      <p:sp>
        <p:nvSpPr>
          <p:cNvPr id="83" name="Google Shape;83;p25"/>
          <p:cNvSpPr txBox="1"/>
          <p:nvPr>
            <p:ph idx="1" type="body"/>
          </p:nvPr>
        </p:nvSpPr>
        <p:spPr>
          <a:xfrm>
            <a:off x="1097279" y="5907024"/>
            <a:ext cx="1011936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25"/>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25"/>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5"/>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26"/>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6"/>
          <p:cNvSpPr txBox="1"/>
          <p:nvPr>
            <p:ph idx="1" type="body"/>
          </p:nvPr>
        </p:nvSpPr>
        <p:spPr>
          <a:xfrm rot="5400000">
            <a:off x="4114799" y="-1171787"/>
            <a:ext cx="4023360" cy="100584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26"/>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1" name="Google Shape;91;p26"/>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6"/>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27"/>
          <p:cNvSpPr/>
          <p:nvPr/>
        </p:nvSpPr>
        <p:spPr>
          <a:xfrm>
            <a:off x="3177"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7"/>
          <p:cNvSpPr/>
          <p:nvPr/>
        </p:nvSpPr>
        <p:spPr>
          <a:xfrm>
            <a:off x="17"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7"/>
          <p:cNvSpPr txBox="1"/>
          <p:nvPr>
            <p:ph type="title"/>
          </p:nvPr>
        </p:nvSpPr>
        <p:spPr>
          <a:xfrm rot="5400000">
            <a:off x="7160640" y="1979041"/>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7"/>
          <p:cNvSpPr txBox="1"/>
          <p:nvPr>
            <p:ph idx="1" type="body"/>
          </p:nvPr>
        </p:nvSpPr>
        <p:spPr>
          <a:xfrm rot="5400000">
            <a:off x="1826641" y="-573661"/>
            <a:ext cx="5757420"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27"/>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p27"/>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7"/>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1" name="Shape 101"/>
        <p:cNvGrpSpPr/>
        <p:nvPr/>
      </p:nvGrpSpPr>
      <p:grpSpPr>
        <a:xfrm>
          <a:off x="0" y="0"/>
          <a:ext cx="0" cy="0"/>
          <a:chOff x="0" y="0"/>
          <a:chExt cx="0" cy="0"/>
        </a:xfrm>
      </p:grpSpPr>
      <p:sp>
        <p:nvSpPr>
          <p:cNvPr id="102" name="Google Shape;102;p28"/>
          <p:cNvSpPr txBox="1"/>
          <p:nvPr>
            <p:ph type="title"/>
          </p:nvPr>
        </p:nvSpPr>
        <p:spPr>
          <a:xfrm>
            <a:off x="609601" y="274638"/>
            <a:ext cx="10970684" cy="1141412"/>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28"/>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4" name="Google Shape;104;p28"/>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8"/>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050">
                <a:solidFill>
                  <a:srgbClr val="FFFFFF"/>
                </a:solidFill>
                <a:latin typeface="Cambria"/>
                <a:ea typeface="Cambria"/>
                <a:cs typeface="Cambria"/>
                <a:sym typeface="Cambria"/>
              </a:defRPr>
            </a:lvl1pPr>
            <a:lvl2pPr indent="0" lvl="1" marL="0" marR="0" algn="r">
              <a:spcBef>
                <a:spcPts val="0"/>
              </a:spcBef>
              <a:buNone/>
              <a:defRPr sz="1050">
                <a:solidFill>
                  <a:srgbClr val="FFFFFF"/>
                </a:solidFill>
                <a:latin typeface="Cambria"/>
                <a:ea typeface="Cambria"/>
                <a:cs typeface="Cambria"/>
                <a:sym typeface="Cambria"/>
              </a:defRPr>
            </a:lvl2pPr>
            <a:lvl3pPr indent="0" lvl="2" marL="0" marR="0" algn="r">
              <a:spcBef>
                <a:spcPts val="0"/>
              </a:spcBef>
              <a:buNone/>
              <a:defRPr sz="1050">
                <a:solidFill>
                  <a:srgbClr val="FFFFFF"/>
                </a:solidFill>
                <a:latin typeface="Cambria"/>
                <a:ea typeface="Cambria"/>
                <a:cs typeface="Cambria"/>
                <a:sym typeface="Cambria"/>
              </a:defRPr>
            </a:lvl3pPr>
            <a:lvl4pPr indent="0" lvl="3" marL="0" marR="0" algn="r">
              <a:spcBef>
                <a:spcPts val="0"/>
              </a:spcBef>
              <a:buNone/>
              <a:defRPr sz="1050">
                <a:solidFill>
                  <a:srgbClr val="FFFFFF"/>
                </a:solidFill>
                <a:latin typeface="Cambria"/>
                <a:ea typeface="Cambria"/>
                <a:cs typeface="Cambria"/>
                <a:sym typeface="Cambria"/>
              </a:defRPr>
            </a:lvl4pPr>
            <a:lvl5pPr indent="0" lvl="4" marL="0" marR="0" algn="r">
              <a:spcBef>
                <a:spcPts val="0"/>
              </a:spcBef>
              <a:buNone/>
              <a:defRPr sz="1050">
                <a:solidFill>
                  <a:srgbClr val="FFFFFF"/>
                </a:solidFill>
                <a:latin typeface="Cambria"/>
                <a:ea typeface="Cambria"/>
                <a:cs typeface="Cambria"/>
                <a:sym typeface="Cambria"/>
              </a:defRPr>
            </a:lvl5pPr>
            <a:lvl6pPr indent="0" lvl="5" marL="0" marR="0" algn="r">
              <a:spcBef>
                <a:spcPts val="0"/>
              </a:spcBef>
              <a:buNone/>
              <a:defRPr sz="1050">
                <a:solidFill>
                  <a:srgbClr val="FFFFFF"/>
                </a:solidFill>
                <a:latin typeface="Cambria"/>
                <a:ea typeface="Cambria"/>
                <a:cs typeface="Cambria"/>
                <a:sym typeface="Cambria"/>
              </a:defRPr>
            </a:lvl6pPr>
            <a:lvl7pPr indent="0" lvl="6" marL="0" marR="0" algn="r">
              <a:spcBef>
                <a:spcPts val="0"/>
              </a:spcBef>
              <a:buNone/>
              <a:defRPr sz="1050">
                <a:solidFill>
                  <a:srgbClr val="FFFFFF"/>
                </a:solidFill>
                <a:latin typeface="Cambria"/>
                <a:ea typeface="Cambria"/>
                <a:cs typeface="Cambria"/>
                <a:sym typeface="Cambria"/>
              </a:defRPr>
            </a:lvl7pPr>
            <a:lvl8pPr indent="0" lvl="7" marL="0" marR="0" algn="r">
              <a:spcBef>
                <a:spcPts val="0"/>
              </a:spcBef>
              <a:buNone/>
              <a:defRPr sz="1050">
                <a:solidFill>
                  <a:srgbClr val="FFFFFF"/>
                </a:solidFill>
                <a:latin typeface="Cambria"/>
                <a:ea typeface="Cambria"/>
                <a:cs typeface="Cambria"/>
                <a:sym typeface="Cambria"/>
              </a:defRPr>
            </a:lvl8pPr>
            <a:lvl9pPr indent="0" lvl="8" marL="0" marR="0" algn="r">
              <a:spcBef>
                <a:spcPts val="0"/>
              </a:spcBef>
              <a:buNone/>
              <a:defRPr sz="1050">
                <a:solidFill>
                  <a:srgbClr val="FFFFFF"/>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106" name="Shape 106"/>
        <p:cNvGrpSpPr/>
        <p:nvPr/>
      </p:nvGrpSpPr>
      <p:grpSpPr>
        <a:xfrm>
          <a:off x="0" y="0"/>
          <a:ext cx="0" cy="0"/>
          <a:chOff x="0" y="0"/>
          <a:chExt cx="0" cy="0"/>
        </a:xfrm>
      </p:grpSpPr>
      <p:sp>
        <p:nvSpPr>
          <p:cNvPr id="107" name="Google Shape;107;p29"/>
          <p:cNvSpPr txBox="1"/>
          <p:nvPr>
            <p:ph type="title"/>
          </p:nvPr>
        </p:nvSpPr>
        <p:spPr>
          <a:xfrm>
            <a:off x="914400" y="609600"/>
            <a:ext cx="10363200" cy="1143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9"/>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9" name="Google Shape;109;p29"/>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9"/>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050">
                <a:solidFill>
                  <a:srgbClr val="FFFFFF"/>
                </a:solidFill>
                <a:latin typeface="Arial"/>
                <a:ea typeface="Arial"/>
                <a:cs typeface="Arial"/>
                <a:sym typeface="Arial"/>
              </a:defRPr>
            </a:lvl1pPr>
            <a:lvl2pPr indent="0" lvl="1" marL="0" marR="0" algn="r">
              <a:spcBef>
                <a:spcPts val="0"/>
              </a:spcBef>
              <a:buNone/>
              <a:defRPr sz="1050">
                <a:solidFill>
                  <a:srgbClr val="FFFFFF"/>
                </a:solidFill>
                <a:latin typeface="Arial"/>
                <a:ea typeface="Arial"/>
                <a:cs typeface="Arial"/>
                <a:sym typeface="Arial"/>
              </a:defRPr>
            </a:lvl2pPr>
            <a:lvl3pPr indent="0" lvl="2" marL="0" marR="0" algn="r">
              <a:spcBef>
                <a:spcPts val="0"/>
              </a:spcBef>
              <a:buNone/>
              <a:defRPr sz="1050">
                <a:solidFill>
                  <a:srgbClr val="FFFFFF"/>
                </a:solidFill>
                <a:latin typeface="Arial"/>
                <a:ea typeface="Arial"/>
                <a:cs typeface="Arial"/>
                <a:sym typeface="Arial"/>
              </a:defRPr>
            </a:lvl3pPr>
            <a:lvl4pPr indent="0" lvl="3" marL="0" marR="0" algn="r">
              <a:spcBef>
                <a:spcPts val="0"/>
              </a:spcBef>
              <a:buNone/>
              <a:defRPr sz="1050">
                <a:solidFill>
                  <a:srgbClr val="FFFFFF"/>
                </a:solidFill>
                <a:latin typeface="Arial"/>
                <a:ea typeface="Arial"/>
                <a:cs typeface="Arial"/>
                <a:sym typeface="Arial"/>
              </a:defRPr>
            </a:lvl4pPr>
            <a:lvl5pPr indent="0" lvl="4" marL="0" marR="0" algn="r">
              <a:spcBef>
                <a:spcPts val="0"/>
              </a:spcBef>
              <a:buNone/>
              <a:defRPr sz="1050">
                <a:solidFill>
                  <a:srgbClr val="FFFFFF"/>
                </a:solidFill>
                <a:latin typeface="Arial"/>
                <a:ea typeface="Arial"/>
                <a:cs typeface="Arial"/>
                <a:sym typeface="Arial"/>
              </a:defRPr>
            </a:lvl5pPr>
            <a:lvl6pPr indent="0" lvl="5" marL="0" marR="0" algn="r">
              <a:spcBef>
                <a:spcPts val="0"/>
              </a:spcBef>
              <a:buNone/>
              <a:defRPr sz="1050">
                <a:solidFill>
                  <a:srgbClr val="FFFFFF"/>
                </a:solidFill>
                <a:latin typeface="Arial"/>
                <a:ea typeface="Arial"/>
                <a:cs typeface="Arial"/>
                <a:sym typeface="Arial"/>
              </a:defRPr>
            </a:lvl6pPr>
            <a:lvl7pPr indent="0" lvl="6" marL="0" marR="0" algn="r">
              <a:spcBef>
                <a:spcPts val="0"/>
              </a:spcBef>
              <a:buNone/>
              <a:defRPr sz="1050">
                <a:solidFill>
                  <a:srgbClr val="FFFFFF"/>
                </a:solidFill>
                <a:latin typeface="Arial"/>
                <a:ea typeface="Arial"/>
                <a:cs typeface="Arial"/>
                <a:sym typeface="Arial"/>
              </a:defRPr>
            </a:lvl7pPr>
            <a:lvl8pPr indent="0" lvl="7" marL="0" marR="0" algn="r">
              <a:spcBef>
                <a:spcPts val="0"/>
              </a:spcBef>
              <a:buNone/>
              <a:defRPr sz="1050">
                <a:solidFill>
                  <a:srgbClr val="FFFFFF"/>
                </a:solidFill>
                <a:latin typeface="Arial"/>
                <a:ea typeface="Arial"/>
                <a:cs typeface="Arial"/>
                <a:sym typeface="Arial"/>
              </a:defRPr>
            </a:lvl8pPr>
            <a:lvl9pPr indent="0" lvl="8" marL="0" marR="0" algn="r">
              <a:spcBef>
                <a:spcPts val="0"/>
              </a:spcBef>
              <a:buNone/>
              <a:defRPr sz="105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11" name="Shape 111"/>
        <p:cNvGrpSpPr/>
        <p:nvPr/>
      </p:nvGrpSpPr>
      <p:grpSpPr>
        <a:xfrm>
          <a:off x="0" y="0"/>
          <a:ext cx="0" cy="0"/>
          <a:chOff x="0" y="0"/>
          <a:chExt cx="0" cy="0"/>
        </a:xfrm>
      </p:grpSpPr>
      <p:sp>
        <p:nvSpPr>
          <p:cNvPr id="112" name="Google Shape;112;p30"/>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rgbClr val="3F3F3F"/>
              </a:buClr>
              <a:buSzPts val="3300"/>
              <a:buFont typeface="Bebas Neue"/>
              <a:buNone/>
              <a:defRPr b="0" sz="33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30"/>
          <p:cNvSpPr txBox="1"/>
          <p:nvPr>
            <p:ph idx="1" type="body"/>
          </p:nvPr>
        </p:nvSpPr>
        <p:spPr>
          <a:xfrm>
            <a:off x="677335" y="4470400"/>
            <a:ext cx="8596668" cy="1570962"/>
          </a:xfrm>
          <a:prstGeom prst="rect">
            <a:avLst/>
          </a:prstGeom>
          <a:noFill/>
          <a:ln>
            <a:noFill/>
          </a:ln>
        </p:spPr>
        <p:txBody>
          <a:bodyPr anchorCtr="0" anchor="ctr" bIns="45700" lIns="0" spcFirstLastPara="1" rIns="0" wrap="square" tIns="45700">
            <a:normAutofit/>
          </a:bodyPr>
          <a:lstStyle>
            <a:lvl1pPr indent="-228600" lvl="0" marL="457200" algn="l">
              <a:lnSpc>
                <a:spcPct val="90000"/>
              </a:lnSpc>
              <a:spcBef>
                <a:spcPts val="1200"/>
              </a:spcBef>
              <a:spcAft>
                <a:spcPts val="0"/>
              </a:spcAft>
              <a:buSzPts val="1350"/>
              <a:buNone/>
              <a:defRPr sz="1350">
                <a:solidFill>
                  <a:srgbClr val="3F3F3F"/>
                </a:solidFill>
              </a:defRPr>
            </a:lvl1pPr>
            <a:lvl2pPr indent="-228600" lvl="1" marL="914400" algn="l">
              <a:lnSpc>
                <a:spcPct val="90000"/>
              </a:lnSpc>
              <a:spcBef>
                <a:spcPts val="200"/>
              </a:spcBef>
              <a:spcAft>
                <a:spcPts val="0"/>
              </a:spcAft>
              <a:buSzPts val="1350"/>
              <a:buNone/>
              <a:defRPr sz="1350">
                <a:solidFill>
                  <a:srgbClr val="888888"/>
                </a:solidFill>
              </a:defRPr>
            </a:lvl2pPr>
            <a:lvl3pPr indent="-228600" lvl="2" marL="1371600" algn="l">
              <a:lnSpc>
                <a:spcPct val="90000"/>
              </a:lnSpc>
              <a:spcBef>
                <a:spcPts val="400"/>
              </a:spcBef>
              <a:spcAft>
                <a:spcPts val="0"/>
              </a:spcAft>
              <a:buSzPts val="1200"/>
              <a:buNone/>
              <a:defRPr sz="1200">
                <a:solidFill>
                  <a:srgbClr val="888888"/>
                </a:solidFill>
              </a:defRPr>
            </a:lvl3pPr>
            <a:lvl4pPr indent="-228600" lvl="3" marL="1828800" algn="l">
              <a:lnSpc>
                <a:spcPct val="90000"/>
              </a:lnSpc>
              <a:spcBef>
                <a:spcPts val="400"/>
              </a:spcBef>
              <a:spcAft>
                <a:spcPts val="0"/>
              </a:spcAft>
              <a:buSzPts val="1050"/>
              <a:buNone/>
              <a:defRPr sz="1050">
                <a:solidFill>
                  <a:srgbClr val="888888"/>
                </a:solidFill>
              </a:defRPr>
            </a:lvl4pPr>
            <a:lvl5pPr indent="-228600" lvl="4" marL="2286000" algn="l">
              <a:lnSpc>
                <a:spcPct val="90000"/>
              </a:lnSpc>
              <a:spcBef>
                <a:spcPts val="400"/>
              </a:spcBef>
              <a:spcAft>
                <a:spcPts val="0"/>
              </a:spcAft>
              <a:buSzPts val="1050"/>
              <a:buNone/>
              <a:defRPr sz="1050">
                <a:solidFill>
                  <a:srgbClr val="888888"/>
                </a:solidFill>
              </a:defRPr>
            </a:lvl5pPr>
            <a:lvl6pPr indent="-228600" lvl="5" marL="2743200" algn="l">
              <a:lnSpc>
                <a:spcPct val="90000"/>
              </a:lnSpc>
              <a:spcBef>
                <a:spcPts val="400"/>
              </a:spcBef>
              <a:spcAft>
                <a:spcPts val="0"/>
              </a:spcAft>
              <a:buSzPts val="1050"/>
              <a:buNone/>
              <a:defRPr sz="1050">
                <a:solidFill>
                  <a:srgbClr val="888888"/>
                </a:solidFill>
              </a:defRPr>
            </a:lvl6pPr>
            <a:lvl7pPr indent="-228600" lvl="6" marL="3200400" algn="l">
              <a:lnSpc>
                <a:spcPct val="90000"/>
              </a:lnSpc>
              <a:spcBef>
                <a:spcPts val="400"/>
              </a:spcBef>
              <a:spcAft>
                <a:spcPts val="0"/>
              </a:spcAft>
              <a:buSzPts val="1050"/>
              <a:buNone/>
              <a:defRPr sz="1050">
                <a:solidFill>
                  <a:srgbClr val="888888"/>
                </a:solidFill>
              </a:defRPr>
            </a:lvl7pPr>
            <a:lvl8pPr indent="-228600" lvl="7" marL="3657600" algn="l">
              <a:lnSpc>
                <a:spcPct val="90000"/>
              </a:lnSpc>
              <a:spcBef>
                <a:spcPts val="400"/>
              </a:spcBef>
              <a:spcAft>
                <a:spcPts val="0"/>
              </a:spcAft>
              <a:buSzPts val="1050"/>
              <a:buNone/>
              <a:defRPr sz="1050">
                <a:solidFill>
                  <a:srgbClr val="888888"/>
                </a:solidFill>
              </a:defRPr>
            </a:lvl8pPr>
            <a:lvl9pPr indent="-228600" lvl="8" marL="4114800" algn="l">
              <a:lnSpc>
                <a:spcPct val="90000"/>
              </a:lnSpc>
              <a:spcBef>
                <a:spcPts val="400"/>
              </a:spcBef>
              <a:spcAft>
                <a:spcPts val="400"/>
              </a:spcAft>
              <a:buSzPts val="1050"/>
              <a:buNone/>
              <a:defRPr sz="1050">
                <a:solidFill>
                  <a:srgbClr val="888888"/>
                </a:solidFill>
              </a:defRPr>
            </a:lvl9pPr>
          </a:lstStyle>
          <a:p/>
        </p:txBody>
      </p:sp>
      <p:sp>
        <p:nvSpPr>
          <p:cNvPr id="114" name="Google Shape;114;p30"/>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5" name="Google Shape;115;p30"/>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0"/>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6"/>
          <p:cNvSpPr/>
          <p:nvPr/>
        </p:nvSpPr>
        <p:spPr>
          <a:xfrm>
            <a:off x="1" y="6334316"/>
            <a:ext cx="12192000" cy="659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6"/>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Bebas Neue"/>
              <a:buNone/>
              <a:defRPr b="0" i="0" sz="4800" u="none" cap="none" strike="noStrike">
                <a:solidFill>
                  <a:srgbClr val="3F3F3F"/>
                </a:solidFill>
                <a:latin typeface="Bebas Neue"/>
                <a:ea typeface="Bebas Neue"/>
                <a:cs typeface="Bebas Neue"/>
                <a:sym typeface="Bebas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6"/>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Arial"/>
                <a:ea typeface="Arial"/>
                <a:cs typeface="Arial"/>
                <a:sym typeface="Arial"/>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Arial"/>
                <a:ea typeface="Arial"/>
                <a:cs typeface="Arial"/>
                <a:sym typeface="Arial"/>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Arial"/>
                <a:ea typeface="Arial"/>
                <a:cs typeface="Arial"/>
                <a:sym typeface="Arial"/>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Arial"/>
                <a:ea typeface="Arial"/>
                <a:cs typeface="Arial"/>
                <a:sym typeface="Arial"/>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Arial"/>
                <a:ea typeface="Arial"/>
                <a:cs typeface="Arial"/>
                <a:sym typeface="Arial"/>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16"/>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6"/>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BABABA"/>
                </a:solidFill>
                <a:latin typeface="Arial"/>
                <a:ea typeface="Arial"/>
                <a:cs typeface="Arial"/>
                <a:sym typeface="Arial"/>
              </a:defRPr>
            </a:lvl1pPr>
            <a:lvl2pPr indent="0" lvl="1" marL="0" marR="0" rtl="0" algn="r">
              <a:spcBef>
                <a:spcPts val="0"/>
              </a:spcBef>
              <a:buNone/>
              <a:defRPr b="0" i="0" sz="1050" u="none" cap="none" strike="noStrike">
                <a:solidFill>
                  <a:srgbClr val="BABABA"/>
                </a:solidFill>
                <a:latin typeface="Arial"/>
                <a:ea typeface="Arial"/>
                <a:cs typeface="Arial"/>
                <a:sym typeface="Arial"/>
              </a:defRPr>
            </a:lvl2pPr>
            <a:lvl3pPr indent="0" lvl="2" marL="0" marR="0" rtl="0" algn="r">
              <a:spcBef>
                <a:spcPts val="0"/>
              </a:spcBef>
              <a:buNone/>
              <a:defRPr b="0" i="0" sz="1050" u="none" cap="none" strike="noStrike">
                <a:solidFill>
                  <a:srgbClr val="BABABA"/>
                </a:solidFill>
                <a:latin typeface="Arial"/>
                <a:ea typeface="Arial"/>
                <a:cs typeface="Arial"/>
                <a:sym typeface="Arial"/>
              </a:defRPr>
            </a:lvl3pPr>
            <a:lvl4pPr indent="0" lvl="3" marL="0" marR="0" rtl="0" algn="r">
              <a:spcBef>
                <a:spcPts val="0"/>
              </a:spcBef>
              <a:buNone/>
              <a:defRPr b="0" i="0" sz="1050" u="none" cap="none" strike="noStrike">
                <a:solidFill>
                  <a:srgbClr val="BABABA"/>
                </a:solidFill>
                <a:latin typeface="Arial"/>
                <a:ea typeface="Arial"/>
                <a:cs typeface="Arial"/>
                <a:sym typeface="Arial"/>
              </a:defRPr>
            </a:lvl4pPr>
            <a:lvl5pPr indent="0" lvl="4" marL="0" marR="0" rtl="0" algn="r">
              <a:spcBef>
                <a:spcPts val="0"/>
              </a:spcBef>
              <a:buNone/>
              <a:defRPr b="0" i="0" sz="1050" u="none" cap="none" strike="noStrike">
                <a:solidFill>
                  <a:srgbClr val="BABABA"/>
                </a:solidFill>
                <a:latin typeface="Arial"/>
                <a:ea typeface="Arial"/>
                <a:cs typeface="Arial"/>
                <a:sym typeface="Arial"/>
              </a:defRPr>
            </a:lvl5pPr>
            <a:lvl6pPr indent="0" lvl="5" marL="0" marR="0" rtl="0" algn="r">
              <a:spcBef>
                <a:spcPts val="0"/>
              </a:spcBef>
              <a:buNone/>
              <a:defRPr b="0" i="0" sz="1050" u="none" cap="none" strike="noStrike">
                <a:solidFill>
                  <a:srgbClr val="BABABA"/>
                </a:solidFill>
                <a:latin typeface="Arial"/>
                <a:ea typeface="Arial"/>
                <a:cs typeface="Arial"/>
                <a:sym typeface="Arial"/>
              </a:defRPr>
            </a:lvl6pPr>
            <a:lvl7pPr indent="0" lvl="6" marL="0" marR="0" rtl="0" algn="r">
              <a:spcBef>
                <a:spcPts val="0"/>
              </a:spcBef>
              <a:buNone/>
              <a:defRPr b="0" i="0" sz="1050" u="none" cap="none" strike="noStrike">
                <a:solidFill>
                  <a:srgbClr val="BABABA"/>
                </a:solidFill>
                <a:latin typeface="Arial"/>
                <a:ea typeface="Arial"/>
                <a:cs typeface="Arial"/>
                <a:sym typeface="Arial"/>
              </a:defRPr>
            </a:lvl7pPr>
            <a:lvl8pPr indent="0" lvl="7" marL="0" marR="0" rtl="0" algn="r">
              <a:spcBef>
                <a:spcPts val="0"/>
              </a:spcBef>
              <a:buNone/>
              <a:defRPr b="0" i="0" sz="1050" u="none" cap="none" strike="noStrike">
                <a:solidFill>
                  <a:srgbClr val="BABABA"/>
                </a:solidFill>
                <a:latin typeface="Arial"/>
                <a:ea typeface="Arial"/>
                <a:cs typeface="Arial"/>
                <a:sym typeface="Arial"/>
              </a:defRPr>
            </a:lvl8pPr>
            <a:lvl9pPr indent="0" lvl="8" marL="0" marR="0" rtl="0" algn="r">
              <a:spcBef>
                <a:spcPts val="0"/>
              </a:spcBef>
              <a:buNone/>
              <a:defRPr b="0" i="0" sz="1050" u="none" cap="none" strike="noStrike">
                <a:solidFill>
                  <a:srgbClr val="BABAB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6" name="Google Shape;16;p16"/>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pic>
        <p:nvPicPr>
          <p:cNvPr descr="A picture containing text, clipart&#10;&#10;Description automatically generated" id="17" name="Google Shape;17;p16"/>
          <p:cNvPicPr preferRelativeResize="0"/>
          <p:nvPr/>
        </p:nvPicPr>
        <p:blipFill rotWithShape="1">
          <a:blip r:embed="rId1">
            <a:alphaModFix/>
          </a:blip>
          <a:srcRect b="0" l="0" r="0" t="0"/>
          <a:stretch/>
        </p:blipFill>
        <p:spPr>
          <a:xfrm>
            <a:off x="1153108" y="6503408"/>
            <a:ext cx="1180309" cy="27147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1"/>
          <p:cNvPicPr preferRelativeResize="0"/>
          <p:nvPr/>
        </p:nvPicPr>
        <p:blipFill rotWithShape="1">
          <a:blip r:embed="rId3">
            <a:alphaModFix/>
          </a:blip>
          <a:srcRect b="0" l="0" r="0" t="0"/>
          <a:stretch/>
        </p:blipFill>
        <p:spPr>
          <a:xfrm>
            <a:off x="6735774" y="2224216"/>
            <a:ext cx="5456226" cy="4092170"/>
          </a:xfrm>
          <a:prstGeom prst="rect">
            <a:avLst/>
          </a:prstGeom>
          <a:noFill/>
          <a:ln>
            <a:noFill/>
          </a:ln>
        </p:spPr>
      </p:pic>
      <p:sp>
        <p:nvSpPr>
          <p:cNvPr id="123" name="Google Shape;123;p1"/>
          <p:cNvSpPr txBox="1"/>
          <p:nvPr/>
        </p:nvSpPr>
        <p:spPr>
          <a:xfrm>
            <a:off x="-1186434" y="2472262"/>
            <a:ext cx="10113900" cy="193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6000" u="none" cap="none" strike="noStrike">
                <a:solidFill>
                  <a:schemeClr val="dk1"/>
                </a:solidFill>
                <a:latin typeface="Bebas Neue"/>
                <a:ea typeface="Bebas Neue"/>
                <a:cs typeface="Bebas Neue"/>
                <a:sym typeface="Bebas Neue"/>
              </a:rPr>
              <a:t>WELCOME BACK TO </a:t>
            </a:r>
            <a:endParaRPr/>
          </a:p>
          <a:p>
            <a:pPr indent="0" lvl="0" marL="0" marR="0" rtl="0" algn="ctr">
              <a:spcBef>
                <a:spcPts val="0"/>
              </a:spcBef>
              <a:spcAft>
                <a:spcPts val="0"/>
              </a:spcAft>
              <a:buNone/>
            </a:pPr>
            <a:r>
              <a:rPr i="0" lang="en-US" sz="6000" u="none" cap="none" strike="noStrike">
                <a:solidFill>
                  <a:schemeClr val="accent1"/>
                </a:solidFill>
                <a:latin typeface="Bebas Neue"/>
                <a:ea typeface="Bebas Neue"/>
                <a:cs typeface="Bebas Neue"/>
                <a:sym typeface="Bebas Neue"/>
              </a:rPr>
              <a:t>MONEY BASICS</a:t>
            </a:r>
            <a:endParaRPr i="0" sz="6000" u="none" cap="none" strike="noStrike">
              <a:solidFill>
                <a:schemeClr val="accent1"/>
              </a:solidFill>
              <a:latin typeface="Calibri"/>
              <a:ea typeface="Calibri"/>
              <a:cs typeface="Calibri"/>
              <a:sym typeface="Calibri"/>
            </a:endParaRPr>
          </a:p>
        </p:txBody>
      </p:sp>
      <p:sp>
        <p:nvSpPr>
          <p:cNvPr id="124" name="Google Shape;124;p1"/>
          <p:cNvSpPr txBox="1"/>
          <p:nvPr/>
        </p:nvSpPr>
        <p:spPr>
          <a:xfrm>
            <a:off x="625130" y="4513846"/>
            <a:ext cx="6858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000000"/>
                </a:solidFill>
                <a:latin typeface="Arial"/>
                <a:ea typeface="Arial"/>
                <a:cs typeface="Arial"/>
                <a:sym typeface="Arial"/>
              </a:rPr>
              <a:t>Facilitated by</a:t>
            </a:r>
            <a:r>
              <a:rPr b="0" i="0" lang="en-US" sz="1800" u="none" cap="none" strike="noStrike">
                <a:solidFill>
                  <a:srgbClr val="000000"/>
                </a:solidFill>
                <a:latin typeface="Arial"/>
                <a:ea typeface="Arial"/>
                <a:cs typeface="Arial"/>
                <a:sym typeface="Arial"/>
              </a:rPr>
              <a:t>:</a:t>
            </a:r>
            <a:endParaRPr/>
          </a:p>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[Facilitator 1 name]</a:t>
            </a:r>
            <a:endParaRPr/>
          </a:p>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[Facilitator 2 name]</a:t>
            </a:r>
            <a:endParaRPr b="0" i="0" sz="1800" u="none" cap="none" strike="noStrike">
              <a:solidFill>
                <a:schemeClr val="lt2"/>
              </a:solidFill>
              <a:latin typeface="Arial"/>
              <a:ea typeface="Arial"/>
              <a:cs typeface="Arial"/>
              <a:sym typeface="Arial"/>
            </a:endParaRPr>
          </a:p>
        </p:txBody>
      </p:sp>
      <p:sp>
        <p:nvSpPr>
          <p:cNvPr id="125" name="Google Shape;125;p1"/>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26" name="Google Shape;126;p1"/>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
          <p:cNvSpPr txBox="1"/>
          <p:nvPr>
            <p:ph type="ctrTitle"/>
          </p:nvPr>
        </p:nvSpPr>
        <p:spPr>
          <a:xfrm>
            <a:off x="1068387" y="768379"/>
            <a:ext cx="10526582"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Bebas Neue"/>
              <a:buNone/>
            </a:pPr>
            <a:r>
              <a:rPr lang="en-US"/>
              <a:t>Debt &amp; Tools to Get Out of It</a:t>
            </a:r>
            <a:endParaRPr/>
          </a:p>
        </p:txBody>
      </p:sp>
      <p:sp>
        <p:nvSpPr>
          <p:cNvPr id="132" name="Google Shape;132;p2"/>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a:t>Workshop 7</a:t>
            </a:r>
            <a:endParaRPr/>
          </a:p>
          <a:p>
            <a:pPr indent="0" lvl="0" marL="0" rtl="0" algn="l">
              <a:lnSpc>
                <a:spcPct val="90000"/>
              </a:lnSpc>
              <a:spcBef>
                <a:spcPts val="1400"/>
              </a:spcBef>
              <a:spcAft>
                <a:spcPts val="0"/>
              </a:spcAft>
              <a:buSzPts val="2400"/>
              <a:buNone/>
            </a:pPr>
            <a:r>
              <a:rPr lang="en-US"/>
              <a:t>PG. 118 IN STUDENT GUIDE</a:t>
            </a:r>
            <a:endParaRPr/>
          </a:p>
        </p:txBody>
      </p:sp>
      <p:sp>
        <p:nvSpPr>
          <p:cNvPr id="133" name="Google Shape;133;p2"/>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34" name="Google Shape;134;p2"/>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Welcome Back!</a:t>
            </a:r>
            <a:endParaRPr>
              <a:solidFill>
                <a:schemeClr val="accent1"/>
              </a:solidFill>
            </a:endParaRPr>
          </a:p>
        </p:txBody>
      </p:sp>
      <p:sp>
        <p:nvSpPr>
          <p:cNvPr id="140" name="Google Shape;140;p3"/>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lnSpcReduction="10000"/>
          </a:bodyPr>
          <a:lstStyle/>
          <a:p>
            <a:pPr indent="0" lvl="0" marL="0" rtl="0" algn="l">
              <a:lnSpc>
                <a:spcPct val="90000"/>
              </a:lnSpc>
              <a:spcBef>
                <a:spcPts val="0"/>
              </a:spcBef>
              <a:spcAft>
                <a:spcPts val="0"/>
              </a:spcAft>
              <a:buSzPts val="2000"/>
              <a:buNone/>
            </a:pPr>
            <a:r>
              <a:rPr b="1" lang="en-US"/>
              <a:t>Updates &amp; Sharing:</a:t>
            </a:r>
            <a:endParaRPr/>
          </a:p>
          <a:p>
            <a:pPr indent="-342900" lvl="1" marL="635508" rtl="0" algn="l">
              <a:lnSpc>
                <a:spcPct val="90000"/>
              </a:lnSpc>
              <a:spcBef>
                <a:spcPts val="400"/>
              </a:spcBef>
              <a:spcAft>
                <a:spcPts val="0"/>
              </a:spcAft>
              <a:buSzPts val="1800"/>
              <a:buFont typeface="Calibri"/>
              <a:buAutoNum type="arabicPeriod"/>
            </a:pPr>
            <a:r>
              <a:rPr lang="en-US"/>
              <a:t>How did the money saving homework go?</a:t>
            </a:r>
            <a:endParaRPr/>
          </a:p>
          <a:p>
            <a:pPr indent="-342900" lvl="1" marL="635508" rtl="0" algn="l">
              <a:lnSpc>
                <a:spcPct val="90000"/>
              </a:lnSpc>
              <a:spcBef>
                <a:spcPts val="600"/>
              </a:spcBef>
              <a:spcAft>
                <a:spcPts val="0"/>
              </a:spcAft>
              <a:buSzPts val="1800"/>
              <a:buFont typeface="Calibri"/>
              <a:buAutoNum type="arabicPeriod"/>
            </a:pPr>
            <a:r>
              <a:rPr lang="en-US"/>
              <a:t>How are your budgets going?</a:t>
            </a:r>
            <a:endParaRPr/>
          </a:p>
          <a:p>
            <a:pPr indent="-342900" lvl="1" marL="635508" rtl="0" algn="l">
              <a:lnSpc>
                <a:spcPct val="90000"/>
              </a:lnSpc>
              <a:spcBef>
                <a:spcPts val="600"/>
              </a:spcBef>
              <a:spcAft>
                <a:spcPts val="0"/>
              </a:spcAft>
              <a:buSzPts val="1800"/>
              <a:buFont typeface="Calibri"/>
              <a:buAutoNum type="arabicPeriod"/>
            </a:pPr>
            <a:r>
              <a:rPr lang="en-US"/>
              <a:t>What interest rates on debts/loans did you find?</a:t>
            </a:r>
            <a:endParaRPr/>
          </a:p>
          <a:p>
            <a:pPr indent="0" lvl="0" marL="0" rtl="0" algn="l">
              <a:lnSpc>
                <a:spcPct val="90000"/>
              </a:lnSpc>
              <a:spcBef>
                <a:spcPts val="1600"/>
              </a:spcBef>
              <a:spcAft>
                <a:spcPts val="0"/>
              </a:spcAft>
              <a:buSzPts val="2000"/>
              <a:buNone/>
            </a:pPr>
            <a:r>
              <a:rPr b="1" lang="en-US"/>
              <a:t>Today’s Agenda:</a:t>
            </a:r>
            <a:endParaRPr/>
          </a:p>
          <a:p>
            <a:pPr indent="-457200" lvl="0" marL="457200" rtl="0" algn="l">
              <a:lnSpc>
                <a:spcPct val="90000"/>
              </a:lnSpc>
              <a:spcBef>
                <a:spcPts val="1400"/>
              </a:spcBef>
              <a:spcAft>
                <a:spcPts val="0"/>
              </a:spcAft>
              <a:buSzPts val="2000"/>
              <a:buFont typeface="Calibri"/>
              <a:buAutoNum type="arabicPeriod"/>
            </a:pPr>
            <a:r>
              <a:rPr lang="en-US">
                <a:solidFill>
                  <a:schemeClr val="dk1"/>
                </a:solidFill>
              </a:rPr>
              <a:t>Identify how we feel about debt now, and how we’d like to feel in the future</a:t>
            </a:r>
            <a:endParaRPr>
              <a:solidFill>
                <a:schemeClr val="accent1"/>
              </a:solidFill>
            </a:endParaRPr>
          </a:p>
          <a:p>
            <a:pPr indent="-457200" lvl="0" marL="457200" rtl="0" algn="l">
              <a:lnSpc>
                <a:spcPct val="90000"/>
              </a:lnSpc>
              <a:spcBef>
                <a:spcPts val="1400"/>
              </a:spcBef>
              <a:spcAft>
                <a:spcPts val="0"/>
              </a:spcAft>
              <a:buSzPts val="2000"/>
              <a:buFont typeface="Calibri"/>
              <a:buAutoNum type="arabicPeriod"/>
            </a:pPr>
            <a:r>
              <a:rPr lang="en-US">
                <a:solidFill>
                  <a:schemeClr val="dk1"/>
                </a:solidFill>
              </a:rPr>
              <a:t>Determine how much we owe and calculate our debt-to-income ratios</a:t>
            </a:r>
            <a:endParaRPr/>
          </a:p>
          <a:p>
            <a:pPr indent="-457200" lvl="0" marL="457200" rtl="0" algn="l">
              <a:lnSpc>
                <a:spcPct val="90000"/>
              </a:lnSpc>
              <a:spcBef>
                <a:spcPts val="1400"/>
              </a:spcBef>
              <a:spcAft>
                <a:spcPts val="0"/>
              </a:spcAft>
              <a:buSzPts val="2000"/>
              <a:buFont typeface="Calibri"/>
              <a:buAutoNum type="arabicPeriod"/>
            </a:pPr>
            <a:r>
              <a:rPr lang="en-US">
                <a:solidFill>
                  <a:schemeClr val="dk1"/>
                </a:solidFill>
              </a:rPr>
              <a:t>Learn about different methods to organize debt payoffs</a:t>
            </a:r>
            <a:endParaRPr/>
          </a:p>
          <a:p>
            <a:pPr indent="-457200" lvl="0" marL="457200" rtl="0" algn="l">
              <a:lnSpc>
                <a:spcPct val="90000"/>
              </a:lnSpc>
              <a:spcBef>
                <a:spcPts val="1400"/>
              </a:spcBef>
              <a:spcAft>
                <a:spcPts val="0"/>
              </a:spcAft>
              <a:buSzPts val="2000"/>
              <a:buFont typeface="Calibri"/>
              <a:buAutoNum type="arabicPeriod"/>
            </a:pPr>
            <a:r>
              <a:rPr lang="en-US">
                <a:solidFill>
                  <a:schemeClr val="dk1"/>
                </a:solidFill>
              </a:rPr>
              <a:t>Learn about bankruptcy and the pros and cons</a:t>
            </a:r>
            <a:endParaRPr/>
          </a:p>
          <a:p>
            <a:pPr indent="-457200" lvl="0" marL="457200" rtl="0" algn="l">
              <a:lnSpc>
                <a:spcPct val="90000"/>
              </a:lnSpc>
              <a:spcBef>
                <a:spcPts val="1400"/>
              </a:spcBef>
              <a:spcAft>
                <a:spcPts val="0"/>
              </a:spcAft>
              <a:buSzPts val="2000"/>
              <a:buFont typeface="Calibri"/>
              <a:buAutoNum type="arabicPeriod"/>
            </a:pPr>
            <a:r>
              <a:rPr lang="en-US">
                <a:solidFill>
                  <a:schemeClr val="dk1"/>
                </a:solidFill>
              </a:rPr>
              <a:t>Create an action plan for paying off debts</a:t>
            </a:r>
            <a:endParaRPr>
              <a:solidFill>
                <a:schemeClr val="dk1"/>
              </a:solidFill>
            </a:endParaRPr>
          </a:p>
        </p:txBody>
      </p:sp>
      <p:sp>
        <p:nvSpPr>
          <p:cNvPr id="141" name="Google Shape;141;p3"/>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42" name="Google Shape;142;p3"/>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Community Agreements</a:t>
            </a:r>
            <a:endParaRPr>
              <a:solidFill>
                <a:schemeClr val="accent1"/>
              </a:solidFill>
            </a:endParaRPr>
          </a:p>
        </p:txBody>
      </p:sp>
      <p:sp>
        <p:nvSpPr>
          <p:cNvPr id="148" name="Google Shape;148;p4"/>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None/>
            </a:pPr>
            <a:r>
              <a:t/>
            </a:r>
            <a:endParaRPr/>
          </a:p>
        </p:txBody>
      </p:sp>
      <p:sp>
        <p:nvSpPr>
          <p:cNvPr id="149" name="Google Shape;149;p4"/>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50" name="Google Shape;150;p4"/>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5"/>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Learning Objectives</a:t>
            </a:r>
            <a:endParaRPr/>
          </a:p>
        </p:txBody>
      </p:sp>
      <p:sp>
        <p:nvSpPr>
          <p:cNvPr id="156" name="Google Shape;156;p5"/>
          <p:cNvSpPr txBox="1"/>
          <p:nvPr>
            <p:ph idx="1" type="body"/>
          </p:nvPr>
        </p:nvSpPr>
        <p:spPr>
          <a:xfrm>
            <a:off x="1097280" y="1878764"/>
            <a:ext cx="8056147" cy="3720758"/>
          </a:xfrm>
          <a:prstGeom prst="rect">
            <a:avLst/>
          </a:prstGeom>
          <a:noFill/>
          <a:ln>
            <a:noFill/>
          </a:ln>
        </p:spPr>
        <p:txBody>
          <a:bodyPr anchorCtr="0" anchor="ctr" bIns="45700" lIns="0" spcFirstLastPara="1" rIns="0" wrap="square" tIns="45700">
            <a:normAutofit lnSpcReduction="10000"/>
          </a:bodyPr>
          <a:lstStyle/>
          <a:p>
            <a:pPr indent="-114300" lvl="0" marL="91440" rtl="0" algn="l">
              <a:lnSpc>
                <a:spcPct val="90000"/>
              </a:lnSpc>
              <a:spcBef>
                <a:spcPts val="0"/>
              </a:spcBef>
              <a:spcAft>
                <a:spcPts val="0"/>
              </a:spcAft>
              <a:buSzPts val="1800"/>
              <a:buChar char=" "/>
            </a:pPr>
            <a:r>
              <a:rPr b="1" lang="en-US" sz="1800"/>
              <a:t>Learning Objectives: </a:t>
            </a:r>
            <a:endParaRPr sz="1800"/>
          </a:p>
          <a:p>
            <a:pPr indent="-114300" lvl="0" marL="91440" rtl="0" algn="l">
              <a:lnSpc>
                <a:spcPct val="90000"/>
              </a:lnSpc>
              <a:spcBef>
                <a:spcPts val="1400"/>
              </a:spcBef>
              <a:spcAft>
                <a:spcPts val="0"/>
              </a:spcAft>
              <a:buSzPts val="1800"/>
              <a:buChar char=" "/>
            </a:pPr>
            <a:r>
              <a:rPr i="1" lang="en-US" sz="1800"/>
              <a:t>Upon conclusion of Workshop 7, participants will: </a:t>
            </a:r>
            <a:endParaRPr sz="1800"/>
          </a:p>
          <a:p>
            <a:pPr indent="-342900" lvl="0" marL="342900" rtl="0" algn="l">
              <a:lnSpc>
                <a:spcPct val="90000"/>
              </a:lnSpc>
              <a:spcBef>
                <a:spcPts val="1400"/>
              </a:spcBef>
              <a:spcAft>
                <a:spcPts val="0"/>
              </a:spcAft>
              <a:buSzPts val="1800"/>
              <a:buFont typeface="Calibri"/>
              <a:buAutoNum type="arabicPeriod"/>
            </a:pPr>
            <a:r>
              <a:rPr lang="en-US" sz="1800"/>
              <a:t>Have a better understanding of how personal debt affects them</a:t>
            </a:r>
            <a:endParaRPr/>
          </a:p>
          <a:p>
            <a:pPr indent="-342900" lvl="0" marL="342900" rtl="0" algn="l">
              <a:lnSpc>
                <a:spcPct val="90000"/>
              </a:lnSpc>
              <a:spcBef>
                <a:spcPts val="1400"/>
              </a:spcBef>
              <a:spcAft>
                <a:spcPts val="0"/>
              </a:spcAft>
              <a:buSzPts val="1800"/>
              <a:buFont typeface="Calibri"/>
              <a:buAutoNum type="arabicPeriod"/>
            </a:pPr>
            <a:r>
              <a:rPr lang="en-US" sz="1800"/>
              <a:t>Have calculated how much debt they owe and what the interest rates and actual costs are of their various debts</a:t>
            </a:r>
            <a:endParaRPr/>
          </a:p>
          <a:p>
            <a:pPr indent="-342900" lvl="0" marL="342900" rtl="0" algn="l">
              <a:lnSpc>
                <a:spcPct val="90000"/>
              </a:lnSpc>
              <a:spcBef>
                <a:spcPts val="1400"/>
              </a:spcBef>
              <a:spcAft>
                <a:spcPts val="0"/>
              </a:spcAft>
              <a:buSzPts val="1800"/>
              <a:buFont typeface="Calibri"/>
              <a:buAutoNum type="arabicPeriod"/>
            </a:pPr>
            <a:r>
              <a:rPr lang="en-US" sz="1800"/>
              <a:t>Have learned options and payment methods for their debt and their pros and cons</a:t>
            </a:r>
            <a:endParaRPr/>
          </a:p>
          <a:p>
            <a:pPr indent="-342900" lvl="0" marL="342900" rtl="0" algn="l">
              <a:lnSpc>
                <a:spcPct val="90000"/>
              </a:lnSpc>
              <a:spcBef>
                <a:spcPts val="1400"/>
              </a:spcBef>
              <a:spcAft>
                <a:spcPts val="0"/>
              </a:spcAft>
              <a:buSzPts val="1800"/>
              <a:buFont typeface="Calibri"/>
              <a:buAutoNum type="arabicPeriod"/>
            </a:pPr>
            <a:r>
              <a:rPr lang="en-US" sz="1800"/>
              <a:t>Have created a workable plan for reducing their debt </a:t>
            </a:r>
            <a:endParaRPr/>
          </a:p>
          <a:p>
            <a:pPr indent="0" lvl="0" marL="91440" rtl="0" algn="l">
              <a:lnSpc>
                <a:spcPct val="90000"/>
              </a:lnSpc>
              <a:spcBef>
                <a:spcPts val="1400"/>
              </a:spcBef>
              <a:spcAft>
                <a:spcPts val="0"/>
              </a:spcAft>
              <a:buSzPts val="1800"/>
              <a:buNone/>
            </a:pPr>
            <a:r>
              <a:t/>
            </a:r>
            <a:endParaRPr i="1" sz="1800"/>
          </a:p>
          <a:p>
            <a:pPr indent="0" lvl="0" marL="0" rtl="0" algn="l">
              <a:lnSpc>
                <a:spcPct val="90000"/>
              </a:lnSpc>
              <a:spcBef>
                <a:spcPts val="1400"/>
              </a:spcBef>
              <a:spcAft>
                <a:spcPts val="0"/>
              </a:spcAft>
              <a:buSzPts val="1800"/>
              <a:buNone/>
            </a:pPr>
            <a:r>
              <a:t/>
            </a:r>
            <a:endParaRPr i="1" sz="1800"/>
          </a:p>
        </p:txBody>
      </p:sp>
      <p:sp>
        <p:nvSpPr>
          <p:cNvPr id="157" name="Google Shape;157;p5"/>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58" name="Google Shape;158;p5"/>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9" name="Google Shape;159;p5"/>
          <p:cNvPicPr preferRelativeResize="0"/>
          <p:nvPr/>
        </p:nvPicPr>
        <p:blipFill rotWithShape="1">
          <a:blip r:embed="rId3">
            <a:alphaModFix/>
          </a:blip>
          <a:srcRect b="0" l="0" r="0" t="0"/>
          <a:stretch/>
        </p:blipFill>
        <p:spPr>
          <a:xfrm>
            <a:off x="9153427" y="2522884"/>
            <a:ext cx="2337847" cy="23378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6"/>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Thoughts on Debt</a:t>
            </a:r>
            <a:endParaRPr>
              <a:solidFill>
                <a:schemeClr val="accent1"/>
              </a:solidFill>
            </a:endParaRPr>
          </a:p>
        </p:txBody>
      </p:sp>
      <p:sp>
        <p:nvSpPr>
          <p:cNvPr id="165" name="Google Shape;165;p6"/>
          <p:cNvSpPr txBox="1"/>
          <p:nvPr>
            <p:ph idx="1" type="body"/>
          </p:nvPr>
        </p:nvSpPr>
        <p:spPr>
          <a:xfrm>
            <a:off x="1097279" y="1845734"/>
            <a:ext cx="10115205"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i="1" lang="en-US"/>
              <a:t>When you think about debt, what kinds of feelings does this bring up for you?</a:t>
            </a:r>
            <a:endParaRPr/>
          </a:p>
          <a:p>
            <a:pPr indent="0" lvl="0" marL="0" rtl="0" algn="l">
              <a:lnSpc>
                <a:spcPct val="90000"/>
              </a:lnSpc>
              <a:spcBef>
                <a:spcPts val="1400"/>
              </a:spcBef>
              <a:spcAft>
                <a:spcPts val="0"/>
              </a:spcAft>
              <a:buSzPts val="2000"/>
              <a:buNone/>
            </a:pPr>
            <a:r>
              <a:t/>
            </a:r>
            <a:endParaRPr i="1"/>
          </a:p>
          <a:p>
            <a:pPr indent="0" lvl="0" marL="0" rtl="0" algn="l">
              <a:lnSpc>
                <a:spcPct val="90000"/>
              </a:lnSpc>
              <a:spcBef>
                <a:spcPts val="1400"/>
              </a:spcBef>
              <a:spcAft>
                <a:spcPts val="0"/>
              </a:spcAft>
              <a:buSzPts val="2000"/>
              <a:buNone/>
            </a:pPr>
            <a:r>
              <a:t/>
            </a:r>
            <a:endParaRPr i="1"/>
          </a:p>
          <a:p>
            <a:pPr indent="0" lvl="0" marL="0" rtl="0" algn="l">
              <a:lnSpc>
                <a:spcPct val="90000"/>
              </a:lnSpc>
              <a:spcBef>
                <a:spcPts val="1400"/>
              </a:spcBef>
              <a:spcAft>
                <a:spcPts val="0"/>
              </a:spcAft>
              <a:buSzPts val="2000"/>
              <a:buNone/>
            </a:pPr>
            <a:r>
              <a:rPr i="1" lang="en-US"/>
              <a:t>How would you like to feel about debt? Where would you like to be in one year? In three?</a:t>
            </a:r>
            <a:br>
              <a:rPr lang="en-US"/>
            </a:br>
            <a:endParaRPr/>
          </a:p>
          <a:p>
            <a:pPr indent="0" lvl="0" marL="91440" rtl="0" algn="l">
              <a:lnSpc>
                <a:spcPct val="90000"/>
              </a:lnSpc>
              <a:spcBef>
                <a:spcPts val="1400"/>
              </a:spcBef>
              <a:spcAft>
                <a:spcPts val="0"/>
              </a:spcAft>
              <a:buSzPts val="2000"/>
              <a:buFont typeface="Courier New"/>
              <a:buNone/>
            </a:pPr>
            <a:r>
              <a:t/>
            </a:r>
            <a:endParaRPr/>
          </a:p>
        </p:txBody>
      </p:sp>
      <p:pic>
        <p:nvPicPr>
          <p:cNvPr id="166" name="Google Shape;166;p6"/>
          <p:cNvPicPr preferRelativeResize="0"/>
          <p:nvPr/>
        </p:nvPicPr>
        <p:blipFill rotWithShape="1">
          <a:blip r:embed="rId3">
            <a:alphaModFix/>
          </a:blip>
          <a:srcRect b="0" l="0" r="0" t="0"/>
          <a:stretch/>
        </p:blipFill>
        <p:spPr>
          <a:xfrm>
            <a:off x="3771583" y="4011085"/>
            <a:ext cx="4652010" cy="1743959"/>
          </a:xfrm>
          <a:prstGeom prst="rect">
            <a:avLst/>
          </a:prstGeom>
          <a:noFill/>
          <a:ln>
            <a:noFill/>
          </a:ln>
        </p:spPr>
      </p:pic>
      <p:sp>
        <p:nvSpPr>
          <p:cNvPr id="167" name="Google Shape;167;p6"/>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68" name="Google Shape;168;p6"/>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7"/>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Figuring Out How Much You Owe</a:t>
            </a:r>
            <a:endParaRPr>
              <a:solidFill>
                <a:schemeClr val="accent1"/>
              </a:solidFill>
            </a:endParaRPr>
          </a:p>
        </p:txBody>
      </p:sp>
      <p:sp>
        <p:nvSpPr>
          <p:cNvPr id="174" name="Google Shape;174;p7"/>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7"/>
          <p:cNvSpPr txBox="1"/>
          <p:nvPr>
            <p:ph idx="1" type="body"/>
          </p:nvPr>
        </p:nvSpPr>
        <p:spPr>
          <a:xfrm>
            <a:off x="1097280" y="1845733"/>
            <a:ext cx="6872828" cy="4147293"/>
          </a:xfrm>
          <a:prstGeom prst="rect">
            <a:avLst/>
          </a:prstGeom>
          <a:noFill/>
          <a:ln>
            <a:noFill/>
          </a:ln>
        </p:spPr>
        <p:txBody>
          <a:bodyPr anchorCtr="0" anchor="t" bIns="45700" lIns="0" spcFirstLastPara="1" rIns="0" wrap="square" tIns="45700">
            <a:normAutofit fontScale="92500" lnSpcReduction="20000"/>
          </a:bodyPr>
          <a:lstStyle/>
          <a:p>
            <a:pPr indent="0" lvl="0" marL="0" rtl="0" algn="l">
              <a:lnSpc>
                <a:spcPct val="90000"/>
              </a:lnSpc>
              <a:spcBef>
                <a:spcPts val="0"/>
              </a:spcBef>
              <a:spcAft>
                <a:spcPts val="0"/>
              </a:spcAft>
              <a:buSzPct val="100000"/>
              <a:buNone/>
            </a:pPr>
            <a:r>
              <a:rPr b="1" lang="en-US"/>
              <a:t>Step 1</a:t>
            </a:r>
            <a:r>
              <a:rPr lang="en-US"/>
              <a:t>: Get organized. </a:t>
            </a:r>
            <a:endParaRPr/>
          </a:p>
          <a:p>
            <a:pPr indent="-182879" lvl="1" marL="384048" rtl="0" algn="l">
              <a:lnSpc>
                <a:spcPct val="90000"/>
              </a:lnSpc>
              <a:spcBef>
                <a:spcPts val="400"/>
              </a:spcBef>
              <a:spcAft>
                <a:spcPts val="0"/>
              </a:spcAft>
              <a:buSzPct val="100000"/>
              <a:buFont typeface="Noto Sans Symbols"/>
              <a:buChar char="▪"/>
            </a:pPr>
            <a:r>
              <a:rPr lang="en-US"/>
              <a:t>Gather all account statements for all loans and debt obligations (mortgage, credit card statements, car loans, etc.).</a:t>
            </a:r>
            <a:endParaRPr/>
          </a:p>
          <a:p>
            <a:pPr indent="0" lvl="0" marL="0" rtl="0" algn="l">
              <a:lnSpc>
                <a:spcPct val="90000"/>
              </a:lnSpc>
              <a:spcBef>
                <a:spcPts val="1600"/>
              </a:spcBef>
              <a:spcAft>
                <a:spcPts val="0"/>
              </a:spcAft>
              <a:buSzPct val="100000"/>
              <a:buNone/>
            </a:pPr>
            <a:r>
              <a:rPr b="1" lang="en-US"/>
              <a:t>Step 2</a:t>
            </a:r>
            <a:r>
              <a:rPr lang="en-US"/>
              <a:t>: Add up your debts. </a:t>
            </a:r>
            <a:endParaRPr/>
          </a:p>
          <a:p>
            <a:pPr indent="-285750" lvl="1" marL="578358" rtl="0" algn="l">
              <a:lnSpc>
                <a:spcPct val="90000"/>
              </a:lnSpc>
              <a:spcBef>
                <a:spcPts val="400"/>
              </a:spcBef>
              <a:spcAft>
                <a:spcPts val="0"/>
              </a:spcAft>
              <a:buSzPct val="100000"/>
              <a:buFont typeface="Noto Sans Symbols"/>
              <a:buChar char="▪"/>
            </a:pPr>
            <a:r>
              <a:rPr lang="en-US"/>
              <a:t>Add up the remaining balance on all statements to get your total debt.</a:t>
            </a:r>
            <a:endParaRPr/>
          </a:p>
          <a:p>
            <a:pPr indent="0" lvl="0" marL="0" rtl="0" algn="l">
              <a:lnSpc>
                <a:spcPct val="90000"/>
              </a:lnSpc>
              <a:spcBef>
                <a:spcPts val="1600"/>
              </a:spcBef>
              <a:spcAft>
                <a:spcPts val="0"/>
              </a:spcAft>
              <a:buSzPct val="100000"/>
              <a:buNone/>
            </a:pPr>
            <a:r>
              <a:rPr b="1" lang="en-US"/>
              <a:t>Step 3</a:t>
            </a:r>
            <a:r>
              <a:rPr lang="en-US"/>
              <a:t>: Access your credit report. </a:t>
            </a:r>
            <a:endParaRPr/>
          </a:p>
          <a:p>
            <a:pPr indent="-182879" lvl="1" marL="384048" rtl="0" algn="l">
              <a:lnSpc>
                <a:spcPct val="90000"/>
              </a:lnSpc>
              <a:spcBef>
                <a:spcPts val="400"/>
              </a:spcBef>
              <a:spcAft>
                <a:spcPts val="0"/>
              </a:spcAft>
              <a:buSzPct val="100000"/>
              <a:buFont typeface="Noto Sans Symbols"/>
              <a:buChar char="▪"/>
            </a:pPr>
            <a:r>
              <a:rPr lang="en-US"/>
              <a:t>This report lists all your creditors and all the balances you owe.</a:t>
            </a:r>
            <a:endParaRPr/>
          </a:p>
          <a:p>
            <a:pPr indent="0" lvl="0" marL="0" rtl="0" algn="l">
              <a:lnSpc>
                <a:spcPct val="90000"/>
              </a:lnSpc>
              <a:spcBef>
                <a:spcPts val="1600"/>
              </a:spcBef>
              <a:spcAft>
                <a:spcPts val="0"/>
              </a:spcAft>
              <a:buSzPct val="100000"/>
              <a:buNone/>
            </a:pPr>
            <a:r>
              <a:rPr b="1" lang="en-US"/>
              <a:t>Step 4</a:t>
            </a:r>
            <a:r>
              <a:rPr lang="en-US"/>
              <a:t>: Compare the numbers. </a:t>
            </a:r>
            <a:endParaRPr/>
          </a:p>
          <a:p>
            <a:pPr indent="-182879" lvl="1" marL="384048" rtl="0" algn="l">
              <a:lnSpc>
                <a:spcPct val="90000"/>
              </a:lnSpc>
              <a:spcBef>
                <a:spcPts val="400"/>
              </a:spcBef>
              <a:spcAft>
                <a:spcPts val="0"/>
              </a:spcAft>
              <a:buSzPct val="100000"/>
              <a:buFont typeface="Noto Sans Symbols"/>
              <a:buChar char="▪"/>
            </a:pPr>
            <a:r>
              <a:rPr lang="en-US"/>
              <a:t>They may not be exactly the same but they should be close.</a:t>
            </a:r>
            <a:endParaRPr/>
          </a:p>
          <a:p>
            <a:pPr indent="0" lvl="0" marL="0" rtl="0" algn="l">
              <a:lnSpc>
                <a:spcPct val="90000"/>
              </a:lnSpc>
              <a:spcBef>
                <a:spcPts val="1600"/>
              </a:spcBef>
              <a:spcAft>
                <a:spcPts val="0"/>
              </a:spcAft>
              <a:buSzPct val="100000"/>
              <a:buNone/>
            </a:pPr>
            <a:r>
              <a:rPr b="1" lang="en-US"/>
              <a:t>Step 5</a:t>
            </a:r>
            <a:r>
              <a:rPr lang="en-US"/>
              <a:t>: Compare your total debt. </a:t>
            </a:r>
            <a:endParaRPr/>
          </a:p>
          <a:p>
            <a:pPr indent="-182879" lvl="1" marL="384048" rtl="0" algn="l">
              <a:lnSpc>
                <a:spcPct val="90000"/>
              </a:lnSpc>
              <a:spcBef>
                <a:spcPts val="400"/>
              </a:spcBef>
              <a:spcAft>
                <a:spcPts val="0"/>
              </a:spcAft>
              <a:buSzPct val="100000"/>
              <a:buFont typeface="Noto Sans Symbols"/>
              <a:buChar char="▪"/>
            </a:pPr>
            <a:r>
              <a:rPr lang="en-US"/>
              <a:t>Add up the remaining balance from your accounts listed on your credit report. This number should be the same as the one from your account statements. This number is your total debt. </a:t>
            </a:r>
            <a:endParaRPr/>
          </a:p>
        </p:txBody>
      </p:sp>
      <p:pic>
        <p:nvPicPr>
          <p:cNvPr id="176" name="Google Shape;176;p7"/>
          <p:cNvPicPr preferRelativeResize="0"/>
          <p:nvPr/>
        </p:nvPicPr>
        <p:blipFill rotWithShape="1">
          <a:blip r:embed="rId3">
            <a:alphaModFix/>
          </a:blip>
          <a:srcRect b="0" l="0" r="0" t="0"/>
          <a:stretch/>
        </p:blipFill>
        <p:spPr>
          <a:xfrm>
            <a:off x="8128885" y="2744171"/>
            <a:ext cx="3740857" cy="2435454"/>
          </a:xfrm>
          <a:prstGeom prst="rect">
            <a:avLst/>
          </a:prstGeom>
          <a:noFill/>
          <a:ln>
            <a:noFill/>
          </a:ln>
        </p:spPr>
      </p:pic>
      <p:sp>
        <p:nvSpPr>
          <p:cNvPr id="177" name="Google Shape;177;p7"/>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78" name="Google Shape;178;p7"/>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8"/>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Debt to Income Ratio</a:t>
            </a:r>
            <a:endParaRPr>
              <a:solidFill>
                <a:schemeClr val="accent1"/>
              </a:solidFill>
            </a:endParaRPr>
          </a:p>
        </p:txBody>
      </p:sp>
      <p:sp>
        <p:nvSpPr>
          <p:cNvPr id="184" name="Google Shape;184;p8"/>
          <p:cNvSpPr txBox="1"/>
          <p:nvPr>
            <p:ph idx="1" type="body"/>
          </p:nvPr>
        </p:nvSpPr>
        <p:spPr>
          <a:xfrm>
            <a:off x="1097279" y="1845734"/>
            <a:ext cx="6340469"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n-US"/>
              <a:t>What is your Debt-to-Income Ratio?</a:t>
            </a:r>
            <a:endParaRPr b="1"/>
          </a:p>
          <a:p>
            <a:pPr indent="0" lvl="0" marL="0" rtl="0" algn="l">
              <a:lnSpc>
                <a:spcPct val="90000"/>
              </a:lnSpc>
              <a:spcBef>
                <a:spcPts val="1400"/>
              </a:spcBef>
              <a:spcAft>
                <a:spcPts val="0"/>
              </a:spcAft>
              <a:buSzPts val="2000"/>
              <a:buNone/>
            </a:pPr>
            <a:r>
              <a:rPr lang="en-US"/>
              <a:t>How much you owe vs. how much you make </a:t>
            </a:r>
            <a:endParaRPr/>
          </a:p>
          <a:p>
            <a:pPr indent="-182880" lvl="1" marL="384048" rtl="0" algn="l">
              <a:lnSpc>
                <a:spcPct val="90000"/>
              </a:lnSpc>
              <a:spcBef>
                <a:spcPts val="400"/>
              </a:spcBef>
              <a:spcAft>
                <a:spcPts val="0"/>
              </a:spcAft>
              <a:buSzPts val="1800"/>
              <a:buFont typeface="Noto Sans Symbols"/>
              <a:buChar char="▪"/>
            </a:pPr>
            <a:r>
              <a:rPr lang="en-US"/>
              <a:t>Measures your ability to make current debt payments</a:t>
            </a:r>
            <a:endParaRPr/>
          </a:p>
          <a:p>
            <a:pPr indent="0" lvl="0" marL="0" rtl="0" algn="l">
              <a:lnSpc>
                <a:spcPct val="90000"/>
              </a:lnSpc>
              <a:spcBef>
                <a:spcPts val="1600"/>
              </a:spcBef>
              <a:spcAft>
                <a:spcPts val="0"/>
              </a:spcAft>
              <a:buSzPts val="2000"/>
              <a:buNone/>
            </a:pPr>
            <a:r>
              <a:t/>
            </a:r>
            <a:endParaRPr b="1"/>
          </a:p>
          <a:p>
            <a:pPr indent="0" lvl="0" marL="0" rtl="0" algn="l">
              <a:lnSpc>
                <a:spcPct val="90000"/>
              </a:lnSpc>
              <a:spcBef>
                <a:spcPts val="1400"/>
              </a:spcBef>
              <a:spcAft>
                <a:spcPts val="0"/>
              </a:spcAft>
              <a:buSzPts val="2000"/>
              <a:buNone/>
            </a:pPr>
            <a:r>
              <a:rPr b="1" lang="en-US"/>
              <a:t>Step 1: </a:t>
            </a:r>
            <a:r>
              <a:rPr lang="en-US"/>
              <a:t>Calculate your monthly debt</a:t>
            </a:r>
            <a:endParaRPr/>
          </a:p>
          <a:p>
            <a:pPr indent="0" lvl="0" marL="0" rtl="0" algn="l">
              <a:lnSpc>
                <a:spcPct val="90000"/>
              </a:lnSpc>
              <a:spcBef>
                <a:spcPts val="1400"/>
              </a:spcBef>
              <a:spcAft>
                <a:spcPts val="0"/>
              </a:spcAft>
              <a:buSzPts val="2000"/>
              <a:buNone/>
            </a:pPr>
            <a:r>
              <a:rPr b="1" lang="en-US"/>
              <a:t>Step 2: </a:t>
            </a:r>
            <a:r>
              <a:rPr lang="en-US"/>
              <a:t>Add up your total gross monthly income</a:t>
            </a:r>
            <a:endParaRPr/>
          </a:p>
          <a:p>
            <a:pPr indent="0" lvl="0" marL="0" rtl="0" algn="l">
              <a:lnSpc>
                <a:spcPct val="90000"/>
              </a:lnSpc>
              <a:spcBef>
                <a:spcPts val="1400"/>
              </a:spcBef>
              <a:spcAft>
                <a:spcPts val="0"/>
              </a:spcAft>
              <a:buSzPts val="2000"/>
              <a:buNone/>
            </a:pPr>
            <a:r>
              <a:rPr b="1" lang="en-US"/>
              <a:t>Step 3: </a:t>
            </a:r>
            <a:r>
              <a:rPr lang="en-US"/>
              <a:t>Divide your total monthly debt by your total 	monthly income</a:t>
            </a:r>
            <a:endParaRPr/>
          </a:p>
          <a:p>
            <a:pPr indent="0" lvl="0" marL="0" rtl="0" algn="l">
              <a:lnSpc>
                <a:spcPct val="90000"/>
              </a:lnSpc>
              <a:spcBef>
                <a:spcPts val="1400"/>
              </a:spcBef>
              <a:spcAft>
                <a:spcPts val="0"/>
              </a:spcAft>
              <a:buSzPts val="2000"/>
              <a:buNone/>
            </a:pPr>
            <a:r>
              <a:t/>
            </a:r>
            <a:endParaRPr/>
          </a:p>
        </p:txBody>
      </p:sp>
      <p:graphicFrame>
        <p:nvGraphicFramePr>
          <p:cNvPr id="185" name="Google Shape;185;p8"/>
          <p:cNvGraphicFramePr/>
          <p:nvPr/>
        </p:nvGraphicFramePr>
        <p:xfrm>
          <a:off x="7611761" y="2590847"/>
          <a:ext cx="3000000" cy="3000000"/>
        </p:xfrm>
        <a:graphic>
          <a:graphicData uri="http://schemas.openxmlformats.org/drawingml/2006/table">
            <a:tbl>
              <a:tblPr>
                <a:noFill/>
                <a:tableStyleId>{630648CA-6FD2-4B99-8BD4-CCE6050FB6A8}</a:tableStyleId>
              </a:tblPr>
              <a:tblGrid>
                <a:gridCol w="1299200"/>
                <a:gridCol w="2506675"/>
              </a:tblGrid>
              <a:tr h="794800">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Monthly debt:</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FEFEF"/>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69150">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Monthly income:</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FEFEF"/>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69150">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Debt to income ratio:</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FEFEF"/>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____%</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86" name="Google Shape;186;p8"/>
          <p:cNvSpPr/>
          <p:nvPr/>
        </p:nvSpPr>
        <p:spPr>
          <a:xfrm>
            <a:off x="3663247" y="4472102"/>
            <a:ext cx="12192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
        <p:nvSpPr>
          <p:cNvPr id="187" name="Google Shape;187;p8"/>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88" name="Google Shape;188;p8"/>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The Long-Term Strategy</a:t>
            </a:r>
            <a:endParaRPr>
              <a:solidFill>
                <a:schemeClr val="accent1"/>
              </a:solidFill>
            </a:endParaRPr>
          </a:p>
        </p:txBody>
      </p:sp>
      <p:sp>
        <p:nvSpPr>
          <p:cNvPr id="194" name="Google Shape;194;p9"/>
          <p:cNvSpPr txBox="1"/>
          <p:nvPr>
            <p:ph idx="1" type="body"/>
          </p:nvPr>
        </p:nvSpPr>
        <p:spPr>
          <a:xfrm>
            <a:off x="1097279" y="1845734"/>
            <a:ext cx="7273723"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n-US"/>
              <a:t>Order your debts by the longest term (length) of the debt and pay off whichever will cost more throughout the length of the debt. Work your way from most expensive to least.</a:t>
            </a:r>
            <a:endParaRPr/>
          </a:p>
          <a:p>
            <a:pPr indent="0" lvl="0" marL="0" rtl="0" algn="l">
              <a:lnSpc>
                <a:spcPct val="90000"/>
              </a:lnSpc>
              <a:spcBef>
                <a:spcPts val="1400"/>
              </a:spcBef>
              <a:spcAft>
                <a:spcPts val="0"/>
              </a:spcAft>
              <a:buSzPts val="2000"/>
              <a:buNone/>
            </a:pPr>
            <a:r>
              <a:rPr b="1" lang="en-US"/>
              <a:t>Goal: </a:t>
            </a:r>
            <a:r>
              <a:rPr lang="en-US"/>
              <a:t>Pay the least amount over the course of years, rather than worrying about month-to-month costs. This should reduce the overall interest you pay.</a:t>
            </a:r>
            <a:endParaRPr/>
          </a:p>
          <a:p>
            <a:pPr indent="0" lvl="0" marL="0" rtl="0" algn="l">
              <a:lnSpc>
                <a:spcPct val="90000"/>
              </a:lnSpc>
              <a:spcBef>
                <a:spcPts val="1400"/>
              </a:spcBef>
              <a:spcAft>
                <a:spcPts val="0"/>
              </a:spcAft>
              <a:buSzPts val="2000"/>
              <a:buNone/>
            </a:pPr>
            <a:r>
              <a:rPr b="1" lang="en-US">
                <a:solidFill>
                  <a:schemeClr val="dk2"/>
                </a:solidFill>
              </a:rPr>
              <a:t>The Long-Term Strategy &amp; Credit Card Debt: </a:t>
            </a:r>
            <a:endParaRPr/>
          </a:p>
          <a:p>
            <a:pPr indent="-182880" lvl="1" marL="384048" rtl="0" algn="l">
              <a:lnSpc>
                <a:spcPct val="90000"/>
              </a:lnSpc>
              <a:spcBef>
                <a:spcPts val="400"/>
              </a:spcBef>
              <a:spcAft>
                <a:spcPts val="0"/>
              </a:spcAft>
              <a:buSzPts val="1800"/>
              <a:buFont typeface="Noto Sans Symbols"/>
              <a:buChar char="▪"/>
            </a:pPr>
            <a:r>
              <a:rPr lang="en-US"/>
              <a:t>Paying credit card debt is a common example of the long-term strategy</a:t>
            </a:r>
            <a:endParaRPr/>
          </a:p>
          <a:p>
            <a:pPr indent="-182880" lvl="1" marL="384048" rtl="0" algn="l">
              <a:lnSpc>
                <a:spcPct val="90000"/>
              </a:lnSpc>
              <a:spcBef>
                <a:spcPts val="600"/>
              </a:spcBef>
              <a:spcAft>
                <a:spcPts val="0"/>
              </a:spcAft>
              <a:buSzPts val="1800"/>
              <a:buFont typeface="Noto Sans Symbols"/>
              <a:buChar char="▪"/>
            </a:pPr>
            <a:r>
              <a:rPr lang="en-US"/>
              <a:t>The key to paying down credit card debt: Pay as much over the minimum as possible so your payment goes towards the principal rather than interest </a:t>
            </a:r>
            <a:endParaRPr/>
          </a:p>
        </p:txBody>
      </p:sp>
      <p:pic>
        <p:nvPicPr>
          <p:cNvPr id="195" name="Google Shape;195;p9"/>
          <p:cNvPicPr preferRelativeResize="0"/>
          <p:nvPr/>
        </p:nvPicPr>
        <p:blipFill rotWithShape="1">
          <a:blip r:embed="rId3">
            <a:alphaModFix/>
          </a:blip>
          <a:srcRect b="0" l="0" r="0" t="0"/>
          <a:stretch/>
        </p:blipFill>
        <p:spPr>
          <a:xfrm>
            <a:off x="8666964" y="2876339"/>
            <a:ext cx="2324100" cy="1962150"/>
          </a:xfrm>
          <a:prstGeom prst="rect">
            <a:avLst/>
          </a:prstGeom>
          <a:noFill/>
          <a:ln>
            <a:noFill/>
          </a:ln>
        </p:spPr>
      </p:pic>
      <p:sp>
        <p:nvSpPr>
          <p:cNvPr id="196" name="Google Shape;196;p9"/>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97" name="Google Shape;197;p9"/>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0"/>
          <p:cNvSpPr txBox="1"/>
          <p:nvPr>
            <p:ph type="title"/>
          </p:nvPr>
        </p:nvSpPr>
        <p:spPr>
          <a:xfrm>
            <a:off x="1190719" y="370416"/>
            <a:ext cx="10357434"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Interest-Rate &amp; Month-to-Month Strategies</a:t>
            </a:r>
            <a:endParaRPr>
              <a:solidFill>
                <a:schemeClr val="accent1"/>
              </a:solidFill>
            </a:endParaRPr>
          </a:p>
        </p:txBody>
      </p:sp>
      <p:sp>
        <p:nvSpPr>
          <p:cNvPr id="203" name="Google Shape;203;p10"/>
          <p:cNvSpPr txBox="1"/>
          <p:nvPr>
            <p:ph idx="1" type="body"/>
          </p:nvPr>
        </p:nvSpPr>
        <p:spPr>
          <a:xfrm>
            <a:off x="1097280" y="1845734"/>
            <a:ext cx="7396272"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n-US">
                <a:solidFill>
                  <a:schemeClr val="dk2"/>
                </a:solidFill>
              </a:rPr>
              <a:t>The Interest Rate Strategy:</a:t>
            </a:r>
            <a:endParaRPr/>
          </a:p>
          <a:p>
            <a:pPr indent="0" lvl="0" marL="0" rtl="0" algn="l">
              <a:lnSpc>
                <a:spcPct val="90000"/>
              </a:lnSpc>
              <a:spcBef>
                <a:spcPts val="1400"/>
              </a:spcBef>
              <a:spcAft>
                <a:spcPts val="0"/>
              </a:spcAft>
              <a:buSzPts val="2000"/>
              <a:buNone/>
            </a:pPr>
            <a:r>
              <a:rPr lang="en-US"/>
              <a:t>Pay off the debts with the highest interest rates first, working your way from the bills with the highest rates to those with lower rates</a:t>
            </a:r>
            <a:endParaRPr/>
          </a:p>
          <a:p>
            <a:pPr indent="0" lvl="0" marL="0" rtl="0" algn="l">
              <a:lnSpc>
                <a:spcPct val="90000"/>
              </a:lnSpc>
              <a:spcBef>
                <a:spcPts val="1400"/>
              </a:spcBef>
              <a:spcAft>
                <a:spcPts val="0"/>
              </a:spcAft>
              <a:buSzPts val="2000"/>
              <a:buNone/>
            </a:pPr>
            <a:r>
              <a:rPr b="1" lang="en-US"/>
              <a:t>Goal: </a:t>
            </a:r>
            <a:r>
              <a:rPr lang="en-US"/>
              <a:t>Reduce the long-term effects of interest</a:t>
            </a:r>
            <a:endParaRPr b="1"/>
          </a:p>
          <a:p>
            <a:pPr indent="0" lvl="0" marL="0" rtl="0" algn="l">
              <a:lnSpc>
                <a:spcPct val="90000"/>
              </a:lnSpc>
              <a:spcBef>
                <a:spcPts val="1400"/>
              </a:spcBef>
              <a:spcAft>
                <a:spcPts val="0"/>
              </a:spcAft>
              <a:buSzPts val="2000"/>
              <a:buNone/>
            </a:pPr>
            <a:r>
              <a:rPr b="1" lang="en-US">
                <a:solidFill>
                  <a:schemeClr val="dk2"/>
                </a:solidFill>
              </a:rPr>
              <a:t>The Month to Month Strategy:</a:t>
            </a:r>
            <a:endParaRPr/>
          </a:p>
          <a:p>
            <a:pPr indent="0" lvl="0" marL="0" rtl="0" algn="l">
              <a:lnSpc>
                <a:spcPct val="90000"/>
              </a:lnSpc>
              <a:spcBef>
                <a:spcPts val="1400"/>
              </a:spcBef>
              <a:spcAft>
                <a:spcPts val="0"/>
              </a:spcAft>
              <a:buSzPts val="2000"/>
              <a:buNone/>
            </a:pPr>
            <a:r>
              <a:rPr lang="en-US"/>
              <a:t>Organize your monthly debts by whichever is easiest to pay off </a:t>
            </a:r>
            <a:endParaRPr/>
          </a:p>
          <a:p>
            <a:pPr indent="0" lvl="0" marL="0" rtl="0" algn="l">
              <a:lnSpc>
                <a:spcPct val="90000"/>
              </a:lnSpc>
              <a:spcBef>
                <a:spcPts val="1400"/>
              </a:spcBef>
              <a:spcAft>
                <a:spcPts val="0"/>
              </a:spcAft>
              <a:buSzPts val="2000"/>
              <a:buNone/>
            </a:pPr>
            <a:r>
              <a:rPr b="1" lang="en-US"/>
              <a:t>Goal: </a:t>
            </a:r>
            <a:r>
              <a:rPr lang="en-US"/>
              <a:t>Reduce the amount you pay each month</a:t>
            </a:r>
            <a:endParaRPr/>
          </a:p>
          <a:p>
            <a:pPr indent="-182880" lvl="1" marL="384048" rtl="0" algn="l">
              <a:lnSpc>
                <a:spcPct val="90000"/>
              </a:lnSpc>
              <a:spcBef>
                <a:spcPts val="400"/>
              </a:spcBef>
              <a:spcAft>
                <a:spcPts val="0"/>
              </a:spcAft>
              <a:buSzPts val="1800"/>
              <a:buFont typeface="Noto Sans Symbols"/>
              <a:buChar char="▪"/>
            </a:pPr>
            <a:r>
              <a:rPr lang="en-US"/>
              <a:t>Note: This is a short-term fix for larger debt problems</a:t>
            </a:r>
            <a:endParaRPr/>
          </a:p>
          <a:p>
            <a:pPr indent="0" lvl="0" marL="91440" rtl="0" algn="l">
              <a:lnSpc>
                <a:spcPct val="90000"/>
              </a:lnSpc>
              <a:spcBef>
                <a:spcPts val="1600"/>
              </a:spcBef>
              <a:spcAft>
                <a:spcPts val="0"/>
              </a:spcAft>
              <a:buSzPts val="2000"/>
              <a:buFont typeface="Courier New"/>
              <a:buNone/>
            </a:pPr>
            <a:r>
              <a:t/>
            </a:r>
            <a:endParaRPr/>
          </a:p>
        </p:txBody>
      </p:sp>
      <p:pic>
        <p:nvPicPr>
          <p:cNvPr id="204" name="Google Shape;204;p10"/>
          <p:cNvPicPr preferRelativeResize="0"/>
          <p:nvPr/>
        </p:nvPicPr>
        <p:blipFill rotWithShape="1">
          <a:blip r:embed="rId3">
            <a:alphaModFix/>
          </a:blip>
          <a:srcRect b="0" l="0" r="0" t="0"/>
          <a:stretch/>
        </p:blipFill>
        <p:spPr>
          <a:xfrm>
            <a:off x="8347900" y="2912045"/>
            <a:ext cx="3054915" cy="1832949"/>
          </a:xfrm>
          <a:prstGeom prst="rect">
            <a:avLst/>
          </a:prstGeom>
          <a:noFill/>
          <a:ln>
            <a:noFill/>
          </a:ln>
        </p:spPr>
      </p:pic>
      <p:sp>
        <p:nvSpPr>
          <p:cNvPr id="205" name="Google Shape;205;p10"/>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06" name="Google Shape;206;p10"/>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The “Snowball” Technique</a:t>
            </a:r>
            <a:endParaRPr>
              <a:solidFill>
                <a:schemeClr val="accent1"/>
              </a:solidFill>
            </a:endParaRPr>
          </a:p>
        </p:txBody>
      </p:sp>
      <p:sp>
        <p:nvSpPr>
          <p:cNvPr id="212" name="Google Shape;212;p11"/>
          <p:cNvSpPr txBox="1"/>
          <p:nvPr>
            <p:ph idx="1" type="body"/>
          </p:nvPr>
        </p:nvSpPr>
        <p:spPr>
          <a:xfrm>
            <a:off x="1097279" y="1845734"/>
            <a:ext cx="6199067"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n-US"/>
              <a:t>The Snowball Technique: </a:t>
            </a:r>
            <a:endParaRPr/>
          </a:p>
          <a:p>
            <a:pPr indent="0" lvl="0" marL="0" rtl="0" algn="l">
              <a:lnSpc>
                <a:spcPct val="90000"/>
              </a:lnSpc>
              <a:spcBef>
                <a:spcPts val="1400"/>
              </a:spcBef>
              <a:spcAft>
                <a:spcPts val="0"/>
              </a:spcAft>
              <a:buSzPts val="2000"/>
              <a:buNone/>
            </a:pPr>
            <a:r>
              <a:rPr lang="en-US"/>
              <a:t>Once you pay off a debt in full, take the money you would have put towards paying that debt each month and apply it to a different debt. </a:t>
            </a:r>
            <a:endParaRPr/>
          </a:p>
          <a:p>
            <a:pPr indent="0" lvl="0" marL="0" rtl="0" algn="l">
              <a:lnSpc>
                <a:spcPct val="90000"/>
              </a:lnSpc>
              <a:spcBef>
                <a:spcPts val="1400"/>
              </a:spcBef>
              <a:spcAft>
                <a:spcPts val="0"/>
              </a:spcAft>
              <a:buSzPts val="2000"/>
              <a:buNone/>
            </a:pPr>
            <a:r>
              <a:rPr lang="en-US"/>
              <a:t>Continue “snowballing” your debt payments until all debts are paid off.</a:t>
            </a:r>
            <a:endParaRPr/>
          </a:p>
          <a:p>
            <a:pPr indent="0" lvl="0" marL="0" rtl="0" algn="l">
              <a:lnSpc>
                <a:spcPct val="90000"/>
              </a:lnSpc>
              <a:spcBef>
                <a:spcPts val="1400"/>
              </a:spcBef>
              <a:spcAft>
                <a:spcPts val="0"/>
              </a:spcAft>
              <a:buSzPts val="2000"/>
              <a:buNone/>
            </a:pPr>
            <a:r>
              <a:rPr i="1" lang="en-US"/>
              <a:t>The best way to pay off debts quickly!</a:t>
            </a:r>
            <a:endParaRPr i="1"/>
          </a:p>
        </p:txBody>
      </p:sp>
      <p:pic>
        <p:nvPicPr>
          <p:cNvPr id="213" name="Google Shape;213;p11"/>
          <p:cNvPicPr preferRelativeResize="0"/>
          <p:nvPr/>
        </p:nvPicPr>
        <p:blipFill rotWithShape="1">
          <a:blip r:embed="rId3">
            <a:alphaModFix/>
          </a:blip>
          <a:srcRect b="0" l="0" r="0" t="0"/>
          <a:stretch/>
        </p:blipFill>
        <p:spPr>
          <a:xfrm>
            <a:off x="7807512" y="2426909"/>
            <a:ext cx="3348168" cy="2507895"/>
          </a:xfrm>
          <a:prstGeom prst="rect">
            <a:avLst/>
          </a:prstGeom>
          <a:noFill/>
          <a:ln>
            <a:noFill/>
          </a:ln>
        </p:spPr>
      </p:pic>
      <p:sp>
        <p:nvSpPr>
          <p:cNvPr id="214" name="Google Shape;214;p11"/>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15" name="Google Shape;215;p11"/>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2"/>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Additional Options for Paying Off Debt</a:t>
            </a:r>
            <a:endParaRPr>
              <a:solidFill>
                <a:schemeClr val="accent1"/>
              </a:solidFill>
            </a:endParaRPr>
          </a:p>
        </p:txBody>
      </p:sp>
      <p:sp>
        <p:nvSpPr>
          <p:cNvPr id="221" name="Google Shape;221;p12"/>
          <p:cNvSpPr txBox="1"/>
          <p:nvPr>
            <p:ph idx="1" type="body"/>
          </p:nvPr>
        </p:nvSpPr>
        <p:spPr>
          <a:xfrm>
            <a:off x="1097280" y="1845734"/>
            <a:ext cx="7280602" cy="4023360"/>
          </a:xfrm>
          <a:prstGeom prst="rect">
            <a:avLst/>
          </a:prstGeom>
          <a:noFill/>
          <a:ln>
            <a:noFill/>
          </a:ln>
        </p:spPr>
        <p:txBody>
          <a:bodyPr anchorCtr="0" anchor="t" bIns="45700" lIns="0" spcFirstLastPara="1" rIns="0" wrap="square" tIns="45700">
            <a:normAutofit fontScale="92500" lnSpcReduction="10000"/>
          </a:bodyPr>
          <a:lstStyle/>
          <a:p>
            <a:pPr indent="-457200" lvl="0" marL="457200" rtl="0" algn="l">
              <a:lnSpc>
                <a:spcPct val="90000"/>
              </a:lnSpc>
              <a:spcBef>
                <a:spcPts val="0"/>
              </a:spcBef>
              <a:spcAft>
                <a:spcPts val="0"/>
              </a:spcAft>
              <a:buSzPct val="100000"/>
              <a:buFont typeface="Calibri"/>
              <a:buAutoNum type="arabicPeriod"/>
            </a:pPr>
            <a:r>
              <a:rPr b="1" lang="en-US"/>
              <a:t>Debt consolidation loan</a:t>
            </a:r>
            <a:endParaRPr b="1"/>
          </a:p>
          <a:p>
            <a:pPr indent="-457200" lvl="1" marL="749808" rtl="0" algn="l">
              <a:lnSpc>
                <a:spcPct val="90000"/>
              </a:lnSpc>
              <a:spcBef>
                <a:spcPts val="400"/>
              </a:spcBef>
              <a:spcAft>
                <a:spcPts val="0"/>
              </a:spcAft>
              <a:buSzPct val="100000"/>
              <a:buFont typeface="Calibri"/>
              <a:buAutoNum type="alphaLcPeriod"/>
            </a:pPr>
            <a:r>
              <a:rPr lang="en-US"/>
              <a:t>Merging multiple loans into one – you make monthly payments to one lender and they pay off your existing debts</a:t>
            </a:r>
            <a:endParaRPr/>
          </a:p>
          <a:p>
            <a:pPr indent="-457200" lvl="0" marL="457200" rtl="0" algn="l">
              <a:lnSpc>
                <a:spcPct val="90000"/>
              </a:lnSpc>
              <a:spcBef>
                <a:spcPts val="1600"/>
              </a:spcBef>
              <a:spcAft>
                <a:spcPts val="0"/>
              </a:spcAft>
              <a:buSzPct val="100000"/>
              <a:buFont typeface="Calibri"/>
              <a:buAutoNum type="arabicPeriod"/>
            </a:pPr>
            <a:r>
              <a:rPr b="1" lang="en-US"/>
              <a:t>Taking out a second loan</a:t>
            </a:r>
            <a:endParaRPr/>
          </a:p>
          <a:p>
            <a:pPr indent="-457200" lvl="1" marL="749808" rtl="0" algn="l">
              <a:lnSpc>
                <a:spcPct val="90000"/>
              </a:lnSpc>
              <a:spcBef>
                <a:spcPts val="400"/>
              </a:spcBef>
              <a:spcAft>
                <a:spcPts val="0"/>
              </a:spcAft>
              <a:buSzPct val="100000"/>
              <a:buFont typeface="Calibri"/>
              <a:buAutoNum type="alphaLcPeriod"/>
            </a:pPr>
            <a:r>
              <a:rPr lang="en-US"/>
              <a:t>Get a new loan and use that to pay off an old one</a:t>
            </a:r>
            <a:endParaRPr/>
          </a:p>
          <a:p>
            <a:pPr indent="-457200" lvl="0" marL="457200" rtl="0" algn="l">
              <a:lnSpc>
                <a:spcPct val="90000"/>
              </a:lnSpc>
              <a:spcBef>
                <a:spcPts val="1600"/>
              </a:spcBef>
              <a:spcAft>
                <a:spcPts val="0"/>
              </a:spcAft>
              <a:buSzPct val="100000"/>
              <a:buFont typeface="Calibri"/>
              <a:buAutoNum type="arabicPeriod"/>
            </a:pPr>
            <a:r>
              <a:rPr b="1" lang="en-US"/>
              <a:t>Credit counseling</a:t>
            </a:r>
            <a:endParaRPr/>
          </a:p>
          <a:p>
            <a:pPr indent="-457200" lvl="1" marL="749808" rtl="0" algn="l">
              <a:lnSpc>
                <a:spcPct val="90000"/>
              </a:lnSpc>
              <a:spcBef>
                <a:spcPts val="400"/>
              </a:spcBef>
              <a:spcAft>
                <a:spcPts val="0"/>
              </a:spcAft>
              <a:buSzPct val="100000"/>
              <a:buFont typeface="Calibri"/>
              <a:buAutoNum type="alphaLcPeriod"/>
            </a:pPr>
            <a:r>
              <a:rPr lang="en-US"/>
              <a:t>Can help you to negotiate payments, fees, and interest rates with your creditors</a:t>
            </a:r>
            <a:endParaRPr/>
          </a:p>
          <a:p>
            <a:pPr indent="-457200" lvl="0" marL="457200" rtl="0" algn="l">
              <a:lnSpc>
                <a:spcPct val="90000"/>
              </a:lnSpc>
              <a:spcBef>
                <a:spcPts val="1600"/>
              </a:spcBef>
              <a:spcAft>
                <a:spcPts val="0"/>
              </a:spcAft>
              <a:buSzPct val="100000"/>
              <a:buFont typeface="Calibri"/>
              <a:buAutoNum type="arabicPeriod"/>
            </a:pPr>
            <a:r>
              <a:rPr b="1" lang="en-US"/>
              <a:t>Debt settlement</a:t>
            </a:r>
            <a:endParaRPr/>
          </a:p>
          <a:p>
            <a:pPr indent="-342900" lvl="1" marL="635508" rtl="0" algn="l">
              <a:lnSpc>
                <a:spcPct val="90000"/>
              </a:lnSpc>
              <a:spcBef>
                <a:spcPts val="400"/>
              </a:spcBef>
              <a:spcAft>
                <a:spcPts val="0"/>
              </a:spcAft>
              <a:buSzPct val="100000"/>
              <a:buFont typeface="Calibri"/>
              <a:buAutoNum type="alphaLcPeriod"/>
            </a:pPr>
            <a:r>
              <a:rPr lang="en-US"/>
              <a:t>Negotiating with a creditor to reduce the amount of the principal you still owe</a:t>
            </a:r>
            <a:endParaRPr/>
          </a:p>
          <a:p>
            <a:pPr indent="-457200" lvl="0" marL="457200" rtl="0" algn="l">
              <a:lnSpc>
                <a:spcPct val="90000"/>
              </a:lnSpc>
              <a:spcBef>
                <a:spcPts val="1600"/>
              </a:spcBef>
              <a:spcAft>
                <a:spcPts val="0"/>
              </a:spcAft>
              <a:buSzPct val="100000"/>
              <a:buFont typeface="Calibri"/>
              <a:buAutoNum type="arabicPeriod"/>
            </a:pPr>
            <a:r>
              <a:rPr b="1" lang="en-US"/>
              <a:t>File for Bankruptcy</a:t>
            </a:r>
            <a:endParaRPr b="1"/>
          </a:p>
          <a:p>
            <a:pPr indent="-457200" lvl="1" marL="749808" rtl="0" algn="l">
              <a:lnSpc>
                <a:spcPct val="90000"/>
              </a:lnSpc>
              <a:spcBef>
                <a:spcPts val="400"/>
              </a:spcBef>
              <a:spcAft>
                <a:spcPts val="0"/>
              </a:spcAft>
              <a:buSzPct val="100000"/>
              <a:buFont typeface="Calibri"/>
              <a:buAutoNum type="alphaLcPeriod"/>
            </a:pPr>
            <a:r>
              <a:rPr lang="en-US"/>
              <a:t>Petition in court for your debts to be discharged</a:t>
            </a:r>
            <a:endParaRPr/>
          </a:p>
        </p:txBody>
      </p:sp>
      <p:pic>
        <p:nvPicPr>
          <p:cNvPr id="222" name="Google Shape;222;p12"/>
          <p:cNvPicPr preferRelativeResize="0"/>
          <p:nvPr/>
        </p:nvPicPr>
        <p:blipFill rotWithShape="1">
          <a:blip r:embed="rId3">
            <a:alphaModFix/>
          </a:blip>
          <a:srcRect b="0" l="0" r="0" t="0"/>
          <a:stretch/>
        </p:blipFill>
        <p:spPr>
          <a:xfrm>
            <a:off x="8350667" y="2328055"/>
            <a:ext cx="3099586" cy="3058441"/>
          </a:xfrm>
          <a:prstGeom prst="rect">
            <a:avLst/>
          </a:prstGeom>
          <a:noFill/>
          <a:ln>
            <a:noFill/>
          </a:ln>
        </p:spPr>
      </p:pic>
      <p:sp>
        <p:nvSpPr>
          <p:cNvPr id="223" name="Google Shape;223;p12"/>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24" name="Google Shape;224;p12"/>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Pros &amp; Cons of Bankruptcy</a:t>
            </a:r>
            <a:endParaRPr>
              <a:solidFill>
                <a:schemeClr val="accent1"/>
              </a:solidFill>
            </a:endParaRPr>
          </a:p>
        </p:txBody>
      </p:sp>
      <p:sp>
        <p:nvSpPr>
          <p:cNvPr id="230" name="Google Shape;230;p13"/>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US"/>
              <a:t>BENEFITS</a:t>
            </a:r>
            <a:endParaRPr/>
          </a:p>
        </p:txBody>
      </p:sp>
      <p:sp>
        <p:nvSpPr>
          <p:cNvPr id="231" name="Google Shape;231;p13"/>
          <p:cNvSpPr txBox="1"/>
          <p:nvPr>
            <p:ph idx="2" type="body"/>
          </p:nvPr>
        </p:nvSpPr>
        <p:spPr>
          <a:xfrm>
            <a:off x="1097280" y="2582334"/>
            <a:ext cx="4937760" cy="3286760"/>
          </a:xfrm>
          <a:prstGeom prst="rect">
            <a:avLst/>
          </a:prstGeom>
          <a:noFill/>
          <a:ln>
            <a:noFill/>
          </a:ln>
        </p:spPr>
        <p:txBody>
          <a:bodyPr anchorCtr="0" anchor="t" bIns="45700" lIns="0" spcFirstLastPara="1" rIns="0" wrap="square" tIns="45700">
            <a:normAutofit/>
          </a:bodyPr>
          <a:lstStyle/>
          <a:p>
            <a:pPr indent="-457200" lvl="0" marL="457200" rtl="0" algn="l">
              <a:lnSpc>
                <a:spcPct val="90000"/>
              </a:lnSpc>
              <a:spcBef>
                <a:spcPts val="0"/>
              </a:spcBef>
              <a:spcAft>
                <a:spcPts val="0"/>
              </a:spcAft>
              <a:buSzPts val="2000"/>
              <a:buFont typeface="Calibri"/>
              <a:buAutoNum type="arabicPeriod"/>
            </a:pPr>
            <a:r>
              <a:rPr lang="en-US"/>
              <a:t>Stops all collection actions by creditors</a:t>
            </a:r>
            <a:endParaRPr/>
          </a:p>
          <a:p>
            <a:pPr indent="-457200" lvl="0" marL="457200" rtl="0" algn="l">
              <a:lnSpc>
                <a:spcPct val="90000"/>
              </a:lnSpc>
              <a:spcBef>
                <a:spcPts val="1400"/>
              </a:spcBef>
              <a:spcAft>
                <a:spcPts val="0"/>
              </a:spcAft>
              <a:buSzPts val="2000"/>
              <a:buFont typeface="Calibri"/>
              <a:buAutoNum type="arabicPeriod"/>
            </a:pPr>
            <a:r>
              <a:rPr lang="en-US"/>
              <a:t>Most states exempt your home, car, and other essential assets</a:t>
            </a:r>
            <a:endParaRPr/>
          </a:p>
          <a:p>
            <a:pPr indent="-457200" lvl="0" marL="457200" rtl="0" algn="l">
              <a:lnSpc>
                <a:spcPct val="90000"/>
              </a:lnSpc>
              <a:spcBef>
                <a:spcPts val="1400"/>
              </a:spcBef>
              <a:spcAft>
                <a:spcPts val="0"/>
              </a:spcAft>
              <a:buSzPts val="2000"/>
              <a:buFont typeface="Calibri"/>
              <a:buAutoNum type="arabicPeriod"/>
            </a:pPr>
            <a:r>
              <a:rPr lang="en-US"/>
              <a:t>Can get you started on rebuilding your credit sooner</a:t>
            </a:r>
            <a:endParaRPr/>
          </a:p>
          <a:p>
            <a:pPr indent="-457200" lvl="0" marL="457200" rtl="0" algn="l">
              <a:lnSpc>
                <a:spcPct val="90000"/>
              </a:lnSpc>
              <a:spcBef>
                <a:spcPts val="1400"/>
              </a:spcBef>
              <a:spcAft>
                <a:spcPts val="0"/>
              </a:spcAft>
              <a:buSzPts val="2000"/>
              <a:buFont typeface="Calibri"/>
              <a:buAutoNum type="arabicPeriod"/>
            </a:pPr>
            <a:r>
              <a:rPr lang="en-US"/>
              <a:t>Can prevent your lenders from aggressive collection action</a:t>
            </a:r>
            <a:endParaRPr/>
          </a:p>
        </p:txBody>
      </p:sp>
      <p:sp>
        <p:nvSpPr>
          <p:cNvPr id="232" name="Google Shape;232;p13"/>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US"/>
              <a:t>DRAWBACKS</a:t>
            </a:r>
            <a:endParaRPr/>
          </a:p>
        </p:txBody>
      </p:sp>
      <p:sp>
        <p:nvSpPr>
          <p:cNvPr id="233" name="Google Shape;233;p13"/>
          <p:cNvSpPr txBox="1"/>
          <p:nvPr>
            <p:ph idx="4" type="body"/>
          </p:nvPr>
        </p:nvSpPr>
        <p:spPr>
          <a:xfrm>
            <a:off x="6217920" y="2582334"/>
            <a:ext cx="4937760" cy="3286760"/>
          </a:xfrm>
          <a:prstGeom prst="rect">
            <a:avLst/>
          </a:prstGeom>
          <a:noFill/>
          <a:ln>
            <a:noFill/>
          </a:ln>
        </p:spPr>
        <p:txBody>
          <a:bodyPr anchorCtr="0" anchor="t" bIns="45700" lIns="0" spcFirstLastPara="1" rIns="0" wrap="square" tIns="45700">
            <a:normAutofit/>
          </a:bodyPr>
          <a:lstStyle/>
          <a:p>
            <a:pPr indent="-457200" lvl="0" marL="457200" rtl="0" algn="l">
              <a:lnSpc>
                <a:spcPct val="90000"/>
              </a:lnSpc>
              <a:spcBef>
                <a:spcPts val="0"/>
              </a:spcBef>
              <a:spcAft>
                <a:spcPts val="0"/>
              </a:spcAft>
              <a:buSzPts val="2000"/>
              <a:buFont typeface="Calibri"/>
              <a:buAutoNum type="arabicPeriod"/>
            </a:pPr>
            <a:r>
              <a:rPr lang="en-US"/>
              <a:t>You will lose all your credit cards</a:t>
            </a:r>
            <a:endParaRPr/>
          </a:p>
          <a:p>
            <a:pPr indent="-457200" lvl="0" marL="457200" rtl="0" algn="l">
              <a:lnSpc>
                <a:spcPct val="90000"/>
              </a:lnSpc>
              <a:spcBef>
                <a:spcPts val="1400"/>
              </a:spcBef>
              <a:spcAft>
                <a:spcPts val="0"/>
              </a:spcAft>
              <a:buSzPts val="2000"/>
              <a:buFont typeface="Calibri"/>
              <a:buAutoNum type="arabicPeriod"/>
            </a:pPr>
            <a:r>
              <a:rPr lang="en-US"/>
              <a:t>You will likely lose luxury possessions</a:t>
            </a:r>
            <a:endParaRPr/>
          </a:p>
          <a:p>
            <a:pPr indent="-457200" lvl="0" marL="457200" rtl="0" algn="l">
              <a:lnSpc>
                <a:spcPct val="90000"/>
              </a:lnSpc>
              <a:spcBef>
                <a:spcPts val="1400"/>
              </a:spcBef>
              <a:spcAft>
                <a:spcPts val="0"/>
              </a:spcAft>
              <a:buSzPts val="2000"/>
              <a:buFont typeface="Calibri"/>
              <a:buAutoNum type="arabicPeriod"/>
            </a:pPr>
            <a:r>
              <a:rPr lang="en-US"/>
              <a:t>It will be nearly impossible to get a mortgage for 5 years</a:t>
            </a:r>
            <a:endParaRPr/>
          </a:p>
          <a:p>
            <a:pPr indent="-457200" lvl="0" marL="457200" rtl="0" algn="l">
              <a:lnSpc>
                <a:spcPct val="90000"/>
              </a:lnSpc>
              <a:spcBef>
                <a:spcPts val="1400"/>
              </a:spcBef>
              <a:spcAft>
                <a:spcPts val="0"/>
              </a:spcAft>
              <a:buSzPts val="2000"/>
              <a:buFont typeface="Calibri"/>
              <a:buAutoNum type="arabicPeriod"/>
            </a:pPr>
            <a:r>
              <a:rPr lang="en-US"/>
              <a:t>Stays on your credit report for 10 years, which can make it difficult to get a credit card or loan</a:t>
            </a:r>
            <a:endParaRPr/>
          </a:p>
          <a:p>
            <a:pPr indent="-457200" lvl="0" marL="457200" rtl="0" algn="l">
              <a:lnSpc>
                <a:spcPct val="90000"/>
              </a:lnSpc>
              <a:spcBef>
                <a:spcPts val="1400"/>
              </a:spcBef>
              <a:spcAft>
                <a:spcPts val="0"/>
              </a:spcAft>
              <a:buSzPts val="2000"/>
              <a:buFont typeface="Calibri"/>
              <a:buAutoNum type="arabicPeriod"/>
            </a:pPr>
            <a:r>
              <a:rPr lang="en-US"/>
              <a:t>Not all debts may be discharged in a bankruptcy</a:t>
            </a:r>
            <a:endParaRPr/>
          </a:p>
        </p:txBody>
      </p:sp>
      <p:sp>
        <p:nvSpPr>
          <p:cNvPr id="234" name="Google Shape;234;p13"/>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35" name="Google Shape;235;p13"/>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4"/>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Action Plan for Paying Off Debts</a:t>
            </a:r>
            <a:endParaRPr>
              <a:solidFill>
                <a:schemeClr val="accent1"/>
              </a:solidFill>
            </a:endParaRPr>
          </a:p>
        </p:txBody>
      </p:sp>
      <p:graphicFrame>
        <p:nvGraphicFramePr>
          <p:cNvPr id="241" name="Google Shape;241;p14"/>
          <p:cNvGraphicFramePr/>
          <p:nvPr/>
        </p:nvGraphicFramePr>
        <p:xfrm>
          <a:off x="2472981" y="1841156"/>
          <a:ext cx="3000000" cy="3000000"/>
        </p:xfrm>
        <a:graphic>
          <a:graphicData uri="http://schemas.openxmlformats.org/drawingml/2006/table">
            <a:tbl>
              <a:tblPr>
                <a:noFill/>
                <a:tableStyleId>{630648CA-6FD2-4B99-8BD4-CCE6050FB6A8}</a:tableStyleId>
              </a:tblPr>
              <a:tblGrid>
                <a:gridCol w="493950"/>
                <a:gridCol w="1439650"/>
                <a:gridCol w="1638975"/>
                <a:gridCol w="1439650"/>
                <a:gridCol w="2236975"/>
              </a:tblGrid>
              <a:tr h="364950">
                <a:tc gridSpan="4">
                  <a:txBody>
                    <a:bodyPr/>
                    <a:lstStyle/>
                    <a:p>
                      <a:pPr indent="0" lvl="0" marL="0" marR="0" rtl="0" algn="l">
                        <a:spcBef>
                          <a:spcPts val="0"/>
                        </a:spcBef>
                        <a:spcAft>
                          <a:spcPts val="0"/>
                        </a:spcAft>
                        <a:buNone/>
                      </a:pPr>
                      <a:r>
                        <a:rPr b="1" i="0" lang="en-US" sz="1100" u="none" cap="none" strike="noStrike">
                          <a:solidFill>
                            <a:srgbClr val="000000"/>
                          </a:solidFill>
                          <a:latin typeface="Georgia"/>
                          <a:ea typeface="Georgia"/>
                          <a:cs typeface="Georgia"/>
                          <a:sym typeface="Georgia"/>
                        </a:rPr>
                        <a:t>Action Plan</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c hMerge="1"/>
                <a:tc hMerge="1"/>
                <a:tc hMerge="1"/>
                <a:tc>
                  <a:txBody>
                    <a:bodyPr/>
                    <a:lstStyle/>
                    <a:p>
                      <a:pPr indent="0" lvl="0" marL="0" marR="0" rtl="0" algn="l">
                        <a:spcBef>
                          <a:spcPts val="0"/>
                        </a:spcBef>
                        <a:spcAft>
                          <a:spcPts val="0"/>
                        </a:spcAft>
                        <a:buNone/>
                      </a:pP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r>
              <a:tr h="385750">
                <a:tc>
                  <a:txBody>
                    <a:bodyPr/>
                    <a:lstStyle/>
                    <a:p>
                      <a:pPr indent="0" lvl="0" marL="0" marR="0" rtl="0" algn="l">
                        <a:spcBef>
                          <a:spcPts val="0"/>
                        </a:spcBef>
                        <a:spcAft>
                          <a:spcPts val="0"/>
                        </a:spcAft>
                        <a:buNone/>
                      </a:pP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c>
                  <a:txBody>
                    <a:bodyPr/>
                    <a:lstStyle/>
                    <a:p>
                      <a:pPr indent="0" lvl="0" marL="0" marR="0" rtl="0" algn="l">
                        <a:spcBef>
                          <a:spcPts val="0"/>
                        </a:spcBef>
                        <a:spcAft>
                          <a:spcPts val="0"/>
                        </a:spcAft>
                        <a:buNone/>
                      </a:pPr>
                      <a:r>
                        <a:rPr b="1" i="0" lang="en-US" sz="1100" u="none" cap="none" strike="noStrike">
                          <a:solidFill>
                            <a:srgbClr val="000000"/>
                          </a:solidFill>
                          <a:latin typeface="Georgia"/>
                          <a:ea typeface="Georgia"/>
                          <a:cs typeface="Georgia"/>
                          <a:sym typeface="Georgia"/>
                        </a:rPr>
                        <a:t>Which Monthly Debt?</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c>
                  <a:txBody>
                    <a:bodyPr/>
                    <a:lstStyle/>
                    <a:p>
                      <a:pPr indent="0" lvl="0" marL="0" marR="0" rtl="0" algn="l">
                        <a:spcBef>
                          <a:spcPts val="0"/>
                        </a:spcBef>
                        <a:spcAft>
                          <a:spcPts val="0"/>
                        </a:spcAft>
                        <a:buNone/>
                      </a:pPr>
                      <a:r>
                        <a:rPr b="1" i="0" lang="en-US" sz="1100" u="none" cap="none" strike="noStrike">
                          <a:solidFill>
                            <a:srgbClr val="000000"/>
                          </a:solidFill>
                          <a:latin typeface="Georgia"/>
                          <a:ea typeface="Georgia"/>
                          <a:cs typeface="Georgia"/>
                          <a:sym typeface="Georgia"/>
                        </a:rPr>
                        <a:t>Payment Option:</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c>
                  <a:txBody>
                    <a:bodyPr/>
                    <a:lstStyle/>
                    <a:p>
                      <a:pPr indent="0" lvl="0" marL="0" marR="0" rtl="0" algn="l">
                        <a:spcBef>
                          <a:spcPts val="0"/>
                        </a:spcBef>
                        <a:spcAft>
                          <a:spcPts val="0"/>
                        </a:spcAft>
                        <a:buNone/>
                      </a:pPr>
                      <a:r>
                        <a:rPr b="1" i="0" lang="en-US" sz="1100" u="none" cap="none" strike="noStrike">
                          <a:solidFill>
                            <a:srgbClr val="000000"/>
                          </a:solidFill>
                          <a:latin typeface="Georgia"/>
                          <a:ea typeface="Georgia"/>
                          <a:cs typeface="Georgia"/>
                          <a:sym typeface="Georgia"/>
                        </a:rPr>
                        <a:t>When Will It Be Paid Off?</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c>
                  <a:txBody>
                    <a:bodyPr/>
                    <a:lstStyle/>
                    <a:p>
                      <a:pPr indent="0" lvl="0" marL="0" marR="0" rtl="0" algn="l">
                        <a:spcBef>
                          <a:spcPts val="0"/>
                        </a:spcBef>
                        <a:spcAft>
                          <a:spcPts val="0"/>
                        </a:spcAft>
                        <a:buNone/>
                      </a:pPr>
                      <a:r>
                        <a:rPr b="1" i="0" lang="en-US" sz="1100" u="none" cap="none" strike="noStrike">
                          <a:solidFill>
                            <a:srgbClr val="000000"/>
                          </a:solidFill>
                          <a:latin typeface="Georgia"/>
                          <a:ea typeface="Georgia"/>
                          <a:cs typeface="Georgia"/>
                          <a:sym typeface="Georgia"/>
                        </a:rPr>
                        <a:t>How Will It Be Paid Off?</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r>
              <a:tr h="1166400">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1</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Credit card #1</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Long-term strategy + snowball technique</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In 12 months</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Pay over the minimum balance each month so the payment goes to the principal, rather than just interest. Once my credit card is paid off, I’ll put the money I would have paid each month for that bill towards my car loan.</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52075">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2</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Car loan</a:t>
                      </a:r>
                      <a:endParaRPr sz="1100" u="none" cap="none" strike="noStrike">
                        <a:latin typeface="Georgia"/>
                        <a:ea typeface="Georgia"/>
                        <a:cs typeface="Georgia"/>
                        <a:sym typeface="Georgia"/>
                      </a:endParaRPr>
                    </a:p>
                    <a:p>
                      <a:pPr indent="0" lvl="0" marL="0" marR="0" rtl="0" algn="l">
                        <a:spcBef>
                          <a:spcPts val="0"/>
                        </a:spcBef>
                        <a:spcAft>
                          <a:spcPts val="0"/>
                        </a:spcAft>
                        <a:buNone/>
                      </a:pPr>
                      <a:br>
                        <a:rPr lang="en-US" sz="1100" u="none" cap="none" strike="noStrike">
                          <a:latin typeface="Georgia"/>
                          <a:ea typeface="Georgia"/>
                          <a:cs typeface="Georgia"/>
                          <a:sym typeface="Georgia"/>
                        </a:rPr>
                      </a:b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Georgia"/>
                        <a:buNone/>
                      </a:pPr>
                      <a:r>
                        <a:rPr b="0" i="0" lang="en-US" sz="1100" u="none" cap="none" strike="noStrike">
                          <a:solidFill>
                            <a:srgbClr val="000000"/>
                          </a:solidFill>
                          <a:latin typeface="Georgia"/>
                          <a:ea typeface="Georgia"/>
                          <a:cs typeface="Georgia"/>
                          <a:sym typeface="Georgia"/>
                        </a:rPr>
                        <a:t>Long-term strategy + snowball technique</a:t>
                      </a:r>
                      <a:endParaRPr sz="1100" u="none" cap="none" strike="noStrike">
                        <a:latin typeface="Georgia"/>
                        <a:ea typeface="Georgia"/>
                        <a:cs typeface="Georgia"/>
                        <a:sym typeface="Georgia"/>
                      </a:endParaRPr>
                    </a:p>
                    <a:p>
                      <a:pPr indent="0" lvl="0" marL="0" marR="0" rtl="0" algn="l">
                        <a:spcBef>
                          <a:spcPts val="0"/>
                        </a:spcBef>
                        <a:spcAft>
                          <a:spcPts val="0"/>
                        </a:spcAft>
                        <a:buNone/>
                      </a:pP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100" u="none" cap="none" strike="noStrike">
                          <a:latin typeface="Georgia"/>
                          <a:ea typeface="Georgia"/>
                          <a:cs typeface="Georgia"/>
                          <a:sym typeface="Georgia"/>
                        </a:rPr>
                        <a:t>In 18 months</a:t>
                      </a: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6375">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3</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100" u="none" cap="none" strike="noStrike">
                          <a:latin typeface="Georgia"/>
                          <a:ea typeface="Georgia"/>
                          <a:cs typeface="Georgia"/>
                          <a:sym typeface="Georgia"/>
                        </a:rPr>
                        <a:t>Credit card #2</a:t>
                      </a:r>
                      <a:br>
                        <a:rPr lang="en-US" sz="1100" u="none" cap="none" strike="noStrike">
                          <a:latin typeface="Georgia"/>
                          <a:ea typeface="Georgia"/>
                          <a:cs typeface="Georgia"/>
                          <a:sym typeface="Georgia"/>
                        </a:rPr>
                      </a:b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6375">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4</a:t>
                      </a: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br>
                        <a:rPr lang="en-US" sz="1100" u="none" cap="none" strike="noStrike">
                          <a:latin typeface="Georgia"/>
                          <a:ea typeface="Georgia"/>
                          <a:cs typeface="Georgia"/>
                          <a:sym typeface="Georgia"/>
                        </a:rPr>
                      </a:br>
                      <a:br>
                        <a:rPr lang="en-US" sz="1100" u="none" cap="none" strike="noStrike">
                          <a:latin typeface="Georgia"/>
                          <a:ea typeface="Georgia"/>
                          <a:cs typeface="Georgia"/>
                          <a:sym typeface="Georgia"/>
                        </a:rPr>
                      </a:b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br>
                        <a:rPr lang="en-US" sz="1100" u="none" cap="none" strike="noStrike">
                          <a:latin typeface="Georgia"/>
                          <a:ea typeface="Georgia"/>
                          <a:cs typeface="Georgia"/>
                          <a:sym typeface="Georgia"/>
                        </a:rPr>
                      </a:br>
                      <a:endParaRPr sz="1100" u="none" cap="none" strike="noStrike">
                        <a:latin typeface="Georgia"/>
                        <a:ea typeface="Georgia"/>
                        <a:cs typeface="Georgia"/>
                        <a:sym typeface="Georgia"/>
                      </a:endParaRPr>
                    </a:p>
                  </a:txBody>
                  <a:tcPr marT="27550" marB="27550" marR="41325" marL="413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42" name="Google Shape;242;p14"/>
          <p:cNvSpPr/>
          <p:nvPr/>
        </p:nvSpPr>
        <p:spPr>
          <a:xfrm>
            <a:off x="-13703861" y="0"/>
            <a:ext cx="29401586"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4"/>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44" name="Google Shape;244;p14"/>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5"/>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Wrap-Up</a:t>
            </a:r>
            <a:endParaRPr>
              <a:solidFill>
                <a:schemeClr val="accent1"/>
              </a:solidFill>
            </a:endParaRPr>
          </a:p>
        </p:txBody>
      </p:sp>
      <p:sp>
        <p:nvSpPr>
          <p:cNvPr id="250" name="Google Shape;250;p15"/>
          <p:cNvSpPr txBox="1"/>
          <p:nvPr>
            <p:ph idx="1" type="body"/>
          </p:nvPr>
        </p:nvSpPr>
        <p:spPr>
          <a:xfrm>
            <a:off x="1097279" y="1845734"/>
            <a:ext cx="7366237" cy="4130860"/>
          </a:xfrm>
          <a:prstGeom prst="rect">
            <a:avLst/>
          </a:prstGeom>
          <a:noFill/>
          <a:ln>
            <a:noFill/>
          </a:ln>
        </p:spPr>
        <p:txBody>
          <a:bodyPr anchorCtr="0" anchor="t" bIns="45700" lIns="0" spcFirstLastPara="1" rIns="0" wrap="square" tIns="45700">
            <a:normAutofit/>
          </a:bodyPr>
          <a:lstStyle/>
          <a:p>
            <a:pPr indent="-457200" lvl="0" marL="457200" rtl="0" algn="l">
              <a:lnSpc>
                <a:spcPct val="90000"/>
              </a:lnSpc>
              <a:spcBef>
                <a:spcPts val="0"/>
              </a:spcBef>
              <a:spcAft>
                <a:spcPts val="0"/>
              </a:spcAft>
              <a:buSzPts val="2000"/>
              <a:buFont typeface="Calibri"/>
              <a:buAutoNum type="arabicPeriod"/>
            </a:pPr>
            <a:r>
              <a:rPr lang="en-US"/>
              <a:t>Thank you all for your participation today!</a:t>
            </a:r>
            <a:endParaRPr/>
          </a:p>
          <a:p>
            <a:pPr indent="-457200" lvl="0" marL="457200" rtl="0" algn="l">
              <a:lnSpc>
                <a:spcPct val="90000"/>
              </a:lnSpc>
              <a:spcBef>
                <a:spcPts val="1400"/>
              </a:spcBef>
              <a:spcAft>
                <a:spcPts val="0"/>
              </a:spcAft>
              <a:buSzPts val="2000"/>
              <a:buFont typeface="Calibri"/>
              <a:buAutoNum type="arabicPeriod"/>
            </a:pPr>
            <a:r>
              <a:rPr lang="en-US"/>
              <a:t>Are there any questions?</a:t>
            </a:r>
            <a:endParaRPr/>
          </a:p>
          <a:p>
            <a:pPr indent="-457200" lvl="0" marL="457200" rtl="0" algn="l">
              <a:lnSpc>
                <a:spcPct val="90000"/>
              </a:lnSpc>
              <a:spcBef>
                <a:spcPts val="1400"/>
              </a:spcBef>
              <a:spcAft>
                <a:spcPts val="0"/>
              </a:spcAft>
              <a:buSzPts val="2000"/>
              <a:buFont typeface="Calibri"/>
              <a:buAutoNum type="arabicPeriod"/>
            </a:pPr>
            <a:r>
              <a:rPr b="1" lang="en-US">
                <a:solidFill>
                  <a:schemeClr val="accent2"/>
                </a:solidFill>
              </a:rPr>
              <a:t>Homework: </a:t>
            </a:r>
            <a:endParaRPr/>
          </a:p>
          <a:p>
            <a:pPr indent="-457200" lvl="1" marL="749808" rtl="0" algn="l">
              <a:lnSpc>
                <a:spcPct val="90000"/>
              </a:lnSpc>
              <a:spcBef>
                <a:spcPts val="400"/>
              </a:spcBef>
              <a:spcAft>
                <a:spcPts val="0"/>
              </a:spcAft>
              <a:buSzPts val="1800"/>
              <a:buFont typeface="Calibri"/>
              <a:buAutoNum type="alphaLcPeriod"/>
            </a:pPr>
            <a:r>
              <a:rPr lang="en-US"/>
              <a:t>Choose </a:t>
            </a:r>
            <a:r>
              <a:rPr b="1" lang="en-US"/>
              <a:t>one</a:t>
            </a:r>
            <a:r>
              <a:rPr lang="en-US"/>
              <a:t> </a:t>
            </a:r>
            <a:r>
              <a:rPr b="1" lang="en-US"/>
              <a:t>more </a:t>
            </a:r>
            <a:r>
              <a:rPr lang="en-US"/>
              <a:t>money saving idea and commit to it for the week. Keep track of which ideas are going well and which are not. </a:t>
            </a:r>
            <a:endParaRPr/>
          </a:p>
          <a:p>
            <a:pPr indent="-457200" lvl="1" marL="749808" rtl="0" algn="l">
              <a:lnSpc>
                <a:spcPct val="90000"/>
              </a:lnSpc>
              <a:spcBef>
                <a:spcPts val="600"/>
              </a:spcBef>
              <a:spcAft>
                <a:spcPts val="0"/>
              </a:spcAft>
              <a:buSzPts val="1800"/>
              <a:buFont typeface="Calibri"/>
              <a:buAutoNum type="alphaLcPeriod"/>
            </a:pPr>
            <a:r>
              <a:rPr lang="en-US"/>
              <a:t>Commit to using your </a:t>
            </a:r>
            <a:r>
              <a:rPr b="1" lang="en-US"/>
              <a:t>personalized budget </a:t>
            </a:r>
            <a:r>
              <a:rPr lang="en-US"/>
              <a:t>for the next week.</a:t>
            </a:r>
            <a:endParaRPr/>
          </a:p>
        </p:txBody>
      </p:sp>
      <p:pic>
        <p:nvPicPr>
          <p:cNvPr id="251" name="Google Shape;251;p15"/>
          <p:cNvPicPr preferRelativeResize="0"/>
          <p:nvPr/>
        </p:nvPicPr>
        <p:blipFill rotWithShape="1">
          <a:blip r:embed="rId3">
            <a:alphaModFix/>
          </a:blip>
          <a:srcRect b="0" l="0" r="0" t="0"/>
          <a:stretch/>
        </p:blipFill>
        <p:spPr>
          <a:xfrm>
            <a:off x="8463516" y="2515069"/>
            <a:ext cx="2989521" cy="2044305"/>
          </a:xfrm>
          <a:prstGeom prst="rect">
            <a:avLst/>
          </a:prstGeom>
          <a:noFill/>
          <a:ln>
            <a:noFill/>
          </a:ln>
        </p:spPr>
      </p:pic>
      <p:sp>
        <p:nvSpPr>
          <p:cNvPr id="252" name="Google Shape;252;p15"/>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53" name="Google Shape;253;p15"/>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Custom 1">
      <a:dk1>
        <a:srgbClr val="000000"/>
      </a:dk1>
      <a:lt1>
        <a:srgbClr val="FFFFFF"/>
      </a:lt1>
      <a:dk2>
        <a:srgbClr val="024B73"/>
      </a:dk2>
      <a:lt2>
        <a:srgbClr val="9DC541"/>
      </a:lt2>
      <a:accent1>
        <a:srgbClr val="564191"/>
      </a:accent1>
      <a:accent2>
        <a:srgbClr val="9DC541"/>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2021-11-09T00:18:20Z</dcterms:created>
  <dc:creator>MHAOLADMIN</dc:creator>
</cp:coreProperties>
</file>