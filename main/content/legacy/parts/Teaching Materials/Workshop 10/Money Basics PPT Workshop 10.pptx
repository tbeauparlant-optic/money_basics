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9388475" cy="7102475"/>
  <p:embeddedFontLst>
    <p:embeddedFont>
      <p:font typeface="Bebas Neu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iHpPf0eHDF7mQwqhHgrrFT9dPW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BFE733-8119-4F80-9D50-EE24E548D105}">
  <a:tblStyle styleId="{13BFE733-8119-4F80-9D50-EE24E548D1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BebasNeu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7964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7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17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26" name="Google Shape;2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2" name="Google Shape;3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0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0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20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48" name="Google Shape;4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1"/>
          <p:cNvSpPr txBox="1"/>
          <p:nvPr>
            <p:ph idx="2" type="body"/>
          </p:nvPr>
        </p:nvSpPr>
        <p:spPr>
          <a:xfrm>
            <a:off x="109728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1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57" name="Google Shape;5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2" name="Google Shape;6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3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8" name="Google Shape;6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4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4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" type="body"/>
          </p:nvPr>
        </p:nvSpPr>
        <p:spPr>
          <a:xfrm>
            <a:off x="4613650" y="731520"/>
            <a:ext cx="6679191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65513" y="6459787"/>
            <a:ext cx="26185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5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5"/>
          <p:cNvSpPr txBox="1"/>
          <p:nvPr>
            <p:ph type="title"/>
          </p:nvPr>
        </p:nvSpPr>
        <p:spPr>
          <a:xfrm>
            <a:off x="1097280" y="50749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25"/>
          <p:cNvPicPr preferRelativeResize="0"/>
          <p:nvPr>
            <p:ph idx="2" type="pic"/>
          </p:nvPr>
        </p:nvPicPr>
        <p:blipFill/>
        <p:spPr>
          <a:xfrm>
            <a:off x="17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25"/>
          <p:cNvSpPr txBox="1"/>
          <p:nvPr>
            <p:ph idx="1" type="body"/>
          </p:nvPr>
        </p:nvSpPr>
        <p:spPr>
          <a:xfrm>
            <a:off x="1097279" y="5907024"/>
            <a:ext cx="10119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5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" type="body"/>
          </p:nvPr>
        </p:nvSpPr>
        <p:spPr>
          <a:xfrm rot="5400000">
            <a:off x="4114799" y="-1171787"/>
            <a:ext cx="4023360" cy="10058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7"/>
          <p:cNvSpPr txBox="1"/>
          <p:nvPr>
            <p:ph type="title"/>
          </p:nvPr>
        </p:nvSpPr>
        <p:spPr>
          <a:xfrm rot="5400000">
            <a:off x="7160640" y="1979041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" type="body"/>
          </p:nvPr>
        </p:nvSpPr>
        <p:spPr>
          <a:xfrm rot="5400000">
            <a:off x="1826641" y="-573661"/>
            <a:ext cx="575742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/>
          <p:nvPr>
            <p:ph type="title"/>
          </p:nvPr>
        </p:nvSpPr>
        <p:spPr>
          <a:xfrm>
            <a:off x="609601" y="274638"/>
            <a:ext cx="10970684" cy="1141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Bebas Neue"/>
              <a:buNone/>
              <a:defRPr b="0" sz="3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30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3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6"/>
          <p:cNvSpPr/>
          <p:nvPr/>
        </p:nvSpPr>
        <p:spPr>
          <a:xfrm>
            <a:off x="1" y="6334316"/>
            <a:ext cx="12192000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  <a:defRPr b="0" i="0" sz="4800" u="none" cap="none" strike="noStrike">
                <a:solidFill>
                  <a:srgbClr val="3F3F3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6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17" name="Google Shape;17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365" y="2472262"/>
            <a:ext cx="5043119" cy="378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-877516" y="2523558"/>
            <a:ext cx="10113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WELCOME BACK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MONEY BASICS</a:t>
            </a:r>
            <a:endParaRPr i="0" sz="6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625130" y="4513846"/>
            <a:ext cx="68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Facilitated by: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1 name]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2 name]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ctrTitle"/>
          </p:nvPr>
        </p:nvSpPr>
        <p:spPr>
          <a:xfrm>
            <a:off x="1068387" y="768379"/>
            <a:ext cx="1052658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</a:pPr>
            <a:r>
              <a:rPr lang="en-US"/>
              <a:t>Savings Accounts &amp; Savings Goals</a:t>
            </a:r>
            <a:endParaRPr/>
          </a:p>
        </p:txBody>
      </p:sp>
      <p:sp>
        <p:nvSpPr>
          <p:cNvPr id="132" name="Google Shape;13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Workshop 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PG. 170 IN STUDENT GUIDE</a:t>
            </a:r>
            <a:endParaRPr/>
          </a:p>
        </p:txBody>
      </p:sp>
      <p:sp>
        <p:nvSpPr>
          <p:cNvPr id="133" name="Google Shape;133;p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Welcome Back!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939114" y="1845734"/>
            <a:ext cx="10775091" cy="4221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Updates &amp; Sharing: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How did the money saving homework go?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How are your budgets going?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Did you identify any purchases or goals you’d like to start saving for?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Today’s Agenda: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Learn about savings accounts, how they are insured, how we can earn interest on our savings, and the different types available.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Learn about the different types of retirement accounts available, and the time frame and investments associated with them.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Learn about asset building, paying special attention to Individual Development accounts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Estimate how much money we can save each month with our money saving ideas and create a plan to save money to one or two specific goals.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Community Agreements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6" name="Google Shape;146;p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Learning Objectives</a:t>
            </a:r>
            <a:endParaRPr/>
          </a:p>
        </p:txBody>
      </p:sp>
      <p:sp>
        <p:nvSpPr>
          <p:cNvPr id="152" name="Google Shape;152;p5"/>
          <p:cNvSpPr txBox="1"/>
          <p:nvPr>
            <p:ph idx="1" type="body"/>
          </p:nvPr>
        </p:nvSpPr>
        <p:spPr>
          <a:xfrm>
            <a:off x="1097281" y="1878764"/>
            <a:ext cx="7886082" cy="3720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i="1" lang="en-US" sz="1800"/>
              <a:t>Upon conclusion of Workshop 10, participants will: </a:t>
            </a:r>
            <a:endParaRPr sz="1800"/>
          </a:p>
          <a:p>
            <a:pPr indent="-351472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Know the most common types of savings accounts and what they each offer, including ABLE accounts</a:t>
            </a:r>
            <a:endParaRPr sz="1800"/>
          </a:p>
          <a:p>
            <a:pPr indent="-351472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Have a basic understanding of asset building, particularly Individual Development Accounts and how to access these resources in the community</a:t>
            </a:r>
            <a:endParaRPr/>
          </a:p>
          <a:p>
            <a:pPr indent="-351472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Know additional tips for saving money</a:t>
            </a:r>
            <a:endParaRPr/>
          </a:p>
          <a:p>
            <a:pPr indent="-351472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Have created a plan for saving toward a small goal.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</p:txBody>
      </p:sp>
      <p:sp>
        <p:nvSpPr>
          <p:cNvPr id="153" name="Google Shape;153;p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4" name="Google Shape;154;p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3427" y="2295970"/>
            <a:ext cx="2337847" cy="2337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Savings Accounts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1" name="Google Shape;161;p6"/>
          <p:cNvSpPr txBox="1"/>
          <p:nvPr>
            <p:ph idx="1" type="body"/>
          </p:nvPr>
        </p:nvSpPr>
        <p:spPr>
          <a:xfrm>
            <a:off x="1097280" y="1845734"/>
            <a:ext cx="650212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Most common bank account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Money is safe and insured (FDIC)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Money will earn a small amount of interest each month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Low (or no) minimum balance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Interest: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Money the bank pays you so that they can use your money to provide loans for other people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Compound interest: accumulated interest or “interest on interest”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br>
              <a:rPr lang="en-US"/>
            </a:br>
            <a:endParaRPr/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8790" y="2669060"/>
            <a:ext cx="4201296" cy="2100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Different Types of Savings Accounts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Regular savings accounts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Greatest flexibility and freedom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Lower interest rates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Certificates of Deposit (CD)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Higher interest rates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Early withdrawal fees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Money market accounts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Higher interest rates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Higher maintaining balance, limited access to funds</a:t>
            </a:r>
            <a:endParaRPr/>
          </a:p>
        </p:txBody>
      </p:sp>
      <p:sp>
        <p:nvSpPr>
          <p:cNvPr id="169" name="Google Shape;169;p7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ABLE accounts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Tax-exempt savings accounts for individuals with disabilities and their families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Make it possible for individuals with disabilities to save for the future without taking away their benefits</a:t>
            </a:r>
            <a:endParaRPr/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8342" y="3867664"/>
            <a:ext cx="2997657" cy="1618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Retirement Plans &amp; Investments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6" name="Google Shape;176;p8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/>
              <a:t>Employer-provided Retirement Plans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401(k)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403(b)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Pensions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SEP IRA, SIMPLE IRA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/>
              <a:t>Individual Retirement Arrangements (IRAs)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Traditional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Roth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/>
              <a:t>Deferred Annuities</a:t>
            </a:r>
            <a:endParaRPr/>
          </a:p>
          <a:p>
            <a:pPr indent="0" lvl="1" marL="20116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Types of Investments: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Stocks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Bonds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Mutual funds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Savings accounts/CDs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663247" y="447210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9382" y="3887262"/>
            <a:ext cx="314325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Asset-Building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5" name="Google Shape;185;p9"/>
          <p:cNvSpPr txBox="1"/>
          <p:nvPr>
            <p:ph idx="1" type="body"/>
          </p:nvPr>
        </p:nvSpPr>
        <p:spPr>
          <a:xfrm>
            <a:off x="1097279" y="1845734"/>
            <a:ext cx="10258579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 way for individuals, families, and communities to gather a variety of resources and skills to help them move towards greater economic well-being.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Asset building strategies: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Financial education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Savings accounts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Healthy management of credit and debit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Tax credits and assistance with filing taxes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Accessing federal and state resources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Individual Development Accounts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i="1" lang="en-US"/>
              <a:t>What we have been doing in this course!</a:t>
            </a:r>
            <a:endParaRPr/>
          </a:p>
          <a:p>
            <a:pPr indent="0" lvl="1" marL="20116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3380" y="3003607"/>
            <a:ext cx="4692478" cy="1532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Individual Development Accounts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2" name="Google Shape;192;p10"/>
          <p:cNvSpPr txBox="1"/>
          <p:nvPr>
            <p:ph idx="1" type="body"/>
          </p:nvPr>
        </p:nvSpPr>
        <p:spPr>
          <a:xfrm>
            <a:off x="1097280" y="2001345"/>
            <a:ext cx="5298665" cy="381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Special savings accounts that </a:t>
            </a:r>
            <a:r>
              <a:rPr b="1" lang="en-US"/>
              <a:t>match </a:t>
            </a:r>
            <a:r>
              <a:rPr lang="en-US"/>
              <a:t>the deposits of lower income people and families.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In addition to earning match dollars, individuals learn about budgeting and saving and receive additional training before they purchase an asset.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Savings go towards an asset-building purpose: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Education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Job training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Home purchase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Small business costs</a:t>
            </a:r>
            <a:br>
              <a:rPr lang="en-US"/>
            </a:br>
            <a:endParaRPr/>
          </a:p>
        </p:txBody>
      </p:sp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5945" y="2434281"/>
            <a:ext cx="6019113" cy="338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Saving Towards a Goal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9" name="Google Shape;199;p11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Revisit your Financial Dream/Goal and Life One Year From Now PDP worksheets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Think about one or two goals (achievable purchases you’ve been thinking about or hoping for) that require you to save money</a:t>
            </a:r>
            <a:endParaRPr/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653" y="3524134"/>
            <a:ext cx="4298896" cy="181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Money Saving Tips Revisited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6" name="Google Shape;206;p12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Estimate the amount of money you are able to save each month using each of the money saving tips you’ve found useful the past few weeks.</a:t>
            </a:r>
            <a:endParaRPr/>
          </a:p>
        </p:txBody>
      </p:sp>
      <p:graphicFrame>
        <p:nvGraphicFramePr>
          <p:cNvPr id="207" name="Google Shape;207;p12"/>
          <p:cNvGraphicFramePr/>
          <p:nvPr/>
        </p:nvGraphicFramePr>
        <p:xfrm>
          <a:off x="2421924" y="2965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{13BFE733-8119-4F80-9D50-EE24E548D105}</a:tableStyleId>
              </a:tblPr>
              <a:tblGrid>
                <a:gridCol w="5500650"/>
                <a:gridCol w="2444750"/>
              </a:tblGrid>
              <a:tr h="272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Money Saving Tip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Money Saved Each Month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</a:tr>
              <a:tr h="272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Using my SNAP card at the supermarket and farmers market.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$ 200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Cooking at home and making my own coffee instead of going out.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$ 100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Total: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much can I expect to save after six months?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much can I expect to save in one year?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1325" marB="21325" marR="31975" marL="319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12"/>
          <p:cNvSpPr/>
          <p:nvPr/>
        </p:nvSpPr>
        <p:spPr>
          <a:xfrm>
            <a:off x="5018088" y="1846263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How to Save Money on a Limited Income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4" name="Google Shape;214;p13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Stick to your personalized, working budget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Use the money saving tips and the potential savings you identified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t/>
            </a:r>
            <a:endParaRPr/>
          </a:p>
        </p:txBody>
      </p:sp>
      <p:graphicFrame>
        <p:nvGraphicFramePr>
          <p:cNvPr id="215" name="Google Shape;215;p13"/>
          <p:cNvGraphicFramePr/>
          <p:nvPr/>
        </p:nvGraphicFramePr>
        <p:xfrm>
          <a:off x="3748723" y="3255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{13BFE733-8119-4F80-9D50-EE24E548D105}</a:tableStyleId>
              </a:tblPr>
              <a:tblGrid>
                <a:gridCol w="2232650"/>
                <a:gridCol w="25222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Goal: 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Buy a bike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Timeline: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months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Amount needed: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much do I need to save each month?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13"/>
          <p:cNvSpPr/>
          <p:nvPr/>
        </p:nvSpPr>
        <p:spPr>
          <a:xfrm>
            <a:off x="3748088" y="3255963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Additional Saving Ideas: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2" name="Google Shape;222;p14"/>
          <p:cNvSpPr txBox="1"/>
          <p:nvPr>
            <p:ph idx="1" type="body"/>
          </p:nvPr>
        </p:nvSpPr>
        <p:spPr>
          <a:xfrm>
            <a:off x="1097279" y="1845734"/>
            <a:ext cx="6452699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Make saving money feel like a reward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Save your change every day. Keep it in a jar or container in your home or car. 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Put small amounts at a time into savings. It’s usually much easier to put aside two or three dollars than larger sums of money.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Once it is set aside, don’t think about it, except how it applies toward your goal(s).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Put any extra income you generate into savings. Now could be a great time to open a savings account if you haven’t already!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23" name="Google Shape;2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3973" y="1975810"/>
            <a:ext cx="3437238" cy="343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Wrap-Up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9" name="Google Shape;229;p15"/>
          <p:cNvSpPr txBox="1"/>
          <p:nvPr>
            <p:ph idx="1" type="body"/>
          </p:nvPr>
        </p:nvSpPr>
        <p:spPr>
          <a:xfrm>
            <a:off x="1097279" y="1845734"/>
            <a:ext cx="7366237" cy="41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Thank you all for your participation today!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Are there any questions?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>
                <a:solidFill>
                  <a:schemeClr val="accent2"/>
                </a:solidFill>
              </a:rPr>
              <a:t>Homework: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Choose </a:t>
            </a:r>
            <a:r>
              <a:rPr b="1" lang="en-US"/>
              <a:t>one</a:t>
            </a:r>
            <a:r>
              <a:rPr lang="en-US"/>
              <a:t> </a:t>
            </a:r>
            <a:r>
              <a:rPr b="1" lang="en-US"/>
              <a:t>or more </a:t>
            </a:r>
            <a:r>
              <a:rPr lang="en-US"/>
              <a:t>money saving ideas and commit to the idea(s). Keep track of which ideas are going well and which are not.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Commit to using your </a:t>
            </a:r>
            <a:r>
              <a:rPr b="1" lang="en-US"/>
              <a:t>personalized budget </a:t>
            </a:r>
            <a:r>
              <a:rPr lang="en-US"/>
              <a:t>for the next week.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Begin saving for your financial goal(s) by following your </a:t>
            </a:r>
            <a:r>
              <a:rPr b="1" lang="en-US"/>
              <a:t>savings plan</a:t>
            </a:r>
            <a:r>
              <a:rPr lang="en-US"/>
              <a:t>.</a:t>
            </a:r>
            <a:endParaRPr/>
          </a:p>
        </p:txBody>
      </p:sp>
      <p:pic>
        <p:nvPicPr>
          <p:cNvPr id="230" name="Google Shape;2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9440" y="2889011"/>
            <a:ext cx="2989521" cy="204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024B73"/>
      </a:dk2>
      <a:lt2>
        <a:srgbClr val="9DC541"/>
      </a:lt2>
      <a:accent1>
        <a:srgbClr val="564191"/>
      </a:accent1>
      <a:accent2>
        <a:srgbClr val="9DC541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2021-11-09T00:18:20Z</dcterms:created>
  <dc:creator>MHAOLADMIN</dc:creator>
</cp:coreProperties>
</file>