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9388475" cy="7102475"/>
  <p:embeddedFontLst>
    <p:embeddedFont>
      <p:font typeface="Bebas Neue"/>
      <p:regular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0" roundtripDataSignature="AMtx7mjBvMZG3ebDWw9hSg0klkaCeFac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6692627-9E18-4BD5-ABD2-8DBCCBEE1CFC}">
  <a:tblStyle styleId="{26692627-9E18-4BD5-ABD2-8DBCCBEE1CF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8EE"/>
          </a:solidFill>
        </a:fill>
      </a:tcStyle>
    </a:wholeTbl>
    <a:band1H>
      <a:tcTxStyle/>
      <a:tcStyle>
        <a:fill>
          <a:solidFill>
            <a:srgbClr val="D0CDDB"/>
          </a:solidFill>
        </a:fill>
      </a:tcStyle>
    </a:band1H>
    <a:band2H>
      <a:tcTxStyle/>
    </a:band2H>
    <a:band1V>
      <a:tcTxStyle/>
      <a:tcStyle>
        <a:fill>
          <a:solidFill>
            <a:srgbClr val="D0CDDB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BebasNeue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0"/>
            <a:ext cx="4068339" cy="356357"/>
          </a:xfrm>
          <a:prstGeom prst="rect">
            <a:avLst/>
          </a:prstGeom>
          <a:noFill/>
          <a:ln>
            <a:noFill/>
          </a:ln>
        </p:spPr>
        <p:txBody>
          <a:bodyPr anchorCtr="0" anchor="t" bIns="46650" lIns="93325" spcFirstLastPara="1" rIns="93325" wrap="square" tIns="466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317964" y="0"/>
            <a:ext cx="4068339" cy="356357"/>
          </a:xfrm>
          <a:prstGeom prst="rect">
            <a:avLst/>
          </a:prstGeom>
          <a:noFill/>
          <a:ln>
            <a:noFill/>
          </a:ln>
        </p:spPr>
        <p:txBody>
          <a:bodyPr anchorCtr="0" anchor="t" bIns="46650" lIns="93325" spcFirstLastPara="1" rIns="93325" wrap="square" tIns="4665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650" lIns="93325" spcFirstLastPara="1" rIns="93325" wrap="square" tIns="4665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6746121"/>
            <a:ext cx="4068339" cy="356356"/>
          </a:xfrm>
          <a:prstGeom prst="rect">
            <a:avLst/>
          </a:prstGeom>
          <a:noFill/>
          <a:ln>
            <a:noFill/>
          </a:ln>
        </p:spPr>
        <p:txBody>
          <a:bodyPr anchorCtr="0" anchor="b" bIns="46650" lIns="93325" spcFirstLastPara="1" rIns="93325" wrap="square" tIns="466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317964" y="6746121"/>
            <a:ext cx="4068339" cy="356356"/>
          </a:xfrm>
          <a:prstGeom prst="rect">
            <a:avLst/>
          </a:prstGeom>
          <a:noFill/>
          <a:ln>
            <a:noFill/>
          </a:ln>
        </p:spPr>
        <p:txBody>
          <a:bodyPr anchorCtr="0" anchor="b" bIns="46650" lIns="93325" spcFirstLastPara="1" rIns="93325" wrap="square" tIns="466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650" lIns="93325" spcFirstLastPara="1" rIns="93325" wrap="square" tIns="466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:notes"/>
          <p:cNvSpPr txBox="1"/>
          <p:nvPr>
            <p:ph idx="12" type="sldNum"/>
          </p:nvPr>
        </p:nvSpPr>
        <p:spPr>
          <a:xfrm>
            <a:off x="5317964" y="6746121"/>
            <a:ext cx="4068339" cy="356356"/>
          </a:xfrm>
          <a:prstGeom prst="rect">
            <a:avLst/>
          </a:prstGeom>
          <a:noFill/>
          <a:ln>
            <a:noFill/>
          </a:ln>
        </p:spPr>
        <p:txBody>
          <a:bodyPr anchorCtr="0" anchor="b" bIns="46650" lIns="93325" spcFirstLastPara="1" rIns="93325" wrap="square" tIns="46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3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5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5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ebas Neue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15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5" name="Google Shape;25;p15"/>
          <p:cNvCxnSpPr/>
          <p:nvPr/>
        </p:nvCxnSpPr>
        <p:spPr>
          <a:xfrm>
            <a:off x="1207659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picture containing text, clipart&#10;&#10;Description automatically generated" id="26" name="Google Shape;26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clipart&#10;&#10;Description automatically generated" id="32" name="Google Shape;3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7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ebas Neue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0" name="Google Shape;40;p17"/>
          <p:cNvCxnSpPr/>
          <p:nvPr/>
        </p:nvCxnSpPr>
        <p:spPr>
          <a:xfrm>
            <a:off x="1207659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picture containing text, clipart&#10;&#10;Description automatically generated" id="41" name="Google Shape;4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8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" type="body"/>
          </p:nvPr>
        </p:nvSpPr>
        <p:spPr>
          <a:xfrm>
            <a:off x="1097280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5" name="Google Shape;45;p18"/>
          <p:cNvSpPr txBox="1"/>
          <p:nvPr>
            <p:ph idx="2" type="body"/>
          </p:nvPr>
        </p:nvSpPr>
        <p:spPr>
          <a:xfrm>
            <a:off x="6217920" y="1845737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clipart&#10;&#10;Description automatically generated" id="48" name="Google Shape;4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19"/>
          <p:cNvSpPr txBox="1"/>
          <p:nvPr>
            <p:ph idx="2" type="body"/>
          </p:nvPr>
        </p:nvSpPr>
        <p:spPr>
          <a:xfrm>
            <a:off x="109728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19"/>
          <p:cNvSpPr txBox="1"/>
          <p:nvPr>
            <p:ph idx="4" type="body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clipart&#10;&#10;Description automatically generated" id="57" name="Google Shape;57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0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clipart&#10;&#10;Description automatically generated" id="62" name="Google Shape;6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1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1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clipart&#10;&#10;Description automatically generated" id="68" name="Google Shape;6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2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2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2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ebas Neue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" type="body"/>
          </p:nvPr>
        </p:nvSpPr>
        <p:spPr>
          <a:xfrm>
            <a:off x="4613650" y="731520"/>
            <a:ext cx="6679191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22"/>
          <p:cNvSpPr txBox="1"/>
          <p:nvPr>
            <p:ph idx="10" type="dt"/>
          </p:nvPr>
        </p:nvSpPr>
        <p:spPr>
          <a:xfrm>
            <a:off x="465513" y="6459787"/>
            <a:ext cx="261851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22"/>
          <p:cNvSpPr txBox="1"/>
          <p:nvPr>
            <p:ph idx="11" type="ftr"/>
          </p:nvPr>
        </p:nvSpPr>
        <p:spPr>
          <a:xfrm>
            <a:off x="4800600" y="6459787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50" u="none" cap="none" strike="noStrike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050" u="none" cap="none" strike="noStrike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050" u="none" cap="none" strike="noStrike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050" u="none" cap="none" strike="noStrike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050" u="none" cap="none" strike="noStrike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050" u="none" cap="none" strike="noStrike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050" u="none" cap="none" strike="noStrike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050" u="none" cap="none" strike="noStrike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050" u="none" cap="none" strike="noStrike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3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3"/>
          <p:cNvSpPr txBox="1"/>
          <p:nvPr>
            <p:ph type="title"/>
          </p:nvPr>
        </p:nvSpPr>
        <p:spPr>
          <a:xfrm>
            <a:off x="1097280" y="5074920"/>
            <a:ext cx="10119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ebas Neue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2" name="Google Shape;82;p23"/>
          <p:cNvPicPr preferRelativeResize="0"/>
          <p:nvPr>
            <p:ph idx="2" type="pic"/>
          </p:nvPr>
        </p:nvPicPr>
        <p:blipFill/>
        <p:spPr>
          <a:xfrm>
            <a:off x="17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83" name="Google Shape;83;p23"/>
          <p:cNvSpPr txBox="1"/>
          <p:nvPr>
            <p:ph idx="1" type="body"/>
          </p:nvPr>
        </p:nvSpPr>
        <p:spPr>
          <a:xfrm>
            <a:off x="1097279" y="5907024"/>
            <a:ext cx="10119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4" name="Google Shape;84;p23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23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4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4"/>
          <p:cNvSpPr txBox="1"/>
          <p:nvPr>
            <p:ph idx="1" type="body"/>
          </p:nvPr>
        </p:nvSpPr>
        <p:spPr>
          <a:xfrm rot="5400000">
            <a:off x="4114799" y="-1171787"/>
            <a:ext cx="4023360" cy="10058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0" name="Google Shape;90;p24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24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5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5"/>
          <p:cNvSpPr txBox="1"/>
          <p:nvPr>
            <p:ph type="title"/>
          </p:nvPr>
        </p:nvSpPr>
        <p:spPr>
          <a:xfrm rot="5400000">
            <a:off x="7160640" y="1979041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" type="body"/>
          </p:nvPr>
        </p:nvSpPr>
        <p:spPr>
          <a:xfrm rot="5400000">
            <a:off x="1826641" y="-573661"/>
            <a:ext cx="575742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25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/>
          <p:nvPr>
            <p:ph type="title"/>
          </p:nvPr>
        </p:nvSpPr>
        <p:spPr>
          <a:xfrm>
            <a:off x="609601" y="274638"/>
            <a:ext cx="10970684" cy="11414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6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26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6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7"/>
          <p:cNvSpPr txBox="1"/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7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27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/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300"/>
              <a:buFont typeface="Bebas Neue"/>
              <a:buNone/>
              <a:defRPr b="0" sz="33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8"/>
          <p:cNvSpPr txBox="1"/>
          <p:nvPr>
            <p:ph idx="1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350"/>
              <a:buNone/>
              <a:defRPr sz="135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4" name="Google Shape;114;p28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" name="Google Shape;115;p28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8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4"/>
          <p:cNvSpPr/>
          <p:nvPr/>
        </p:nvSpPr>
        <p:spPr>
          <a:xfrm>
            <a:off x="1" y="6334316"/>
            <a:ext cx="12192000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4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Bebas Neue"/>
              <a:buNone/>
              <a:defRPr b="0" i="0" sz="4800" u="none" cap="none" strike="noStrike">
                <a:solidFill>
                  <a:srgbClr val="3F3F3F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4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4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6" name="Google Shape;16;p14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picture containing text, clipart&#10;&#10;Description automatically generated" id="17" name="Google Shape;17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2075" y="2327294"/>
            <a:ext cx="5236409" cy="3927307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"/>
          <p:cNvSpPr txBox="1"/>
          <p:nvPr/>
        </p:nvSpPr>
        <p:spPr>
          <a:xfrm>
            <a:off x="-1002747" y="2472261"/>
            <a:ext cx="101139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0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WELCOME BACK 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000" u="none" cap="none" strike="noStrik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rPr>
              <a:t>MONEY BASICS</a:t>
            </a:r>
            <a:endParaRPr i="0" sz="60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"/>
          <p:cNvSpPr txBox="1"/>
          <p:nvPr/>
        </p:nvSpPr>
        <p:spPr>
          <a:xfrm>
            <a:off x="625130" y="4513846"/>
            <a:ext cx="6858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Facilitated by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[Facilitator 1 name]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[Facilitator 2 name</a:t>
            </a:r>
            <a:r>
              <a:rPr lang="en-US" sz="1800"/>
              <a:t>]</a:t>
            </a:r>
            <a:endParaRPr b="0" i="0" sz="1800" u="sng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26" name="Google Shape;126;p1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ebas Neue"/>
              <a:buNone/>
            </a:pPr>
            <a:r>
              <a:rPr lang="en-US"/>
              <a:t>Setting Financial Goals</a:t>
            </a:r>
            <a:endParaRPr/>
          </a:p>
        </p:txBody>
      </p:sp>
      <p:sp>
        <p:nvSpPr>
          <p:cNvPr id="132" name="Google Shape;132;p2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Workshop 2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/>
              <a:t>PG. 30  IN STUDENT GUIDE</a:t>
            </a:r>
            <a:endParaRPr/>
          </a:p>
        </p:txBody>
      </p:sp>
      <p:sp>
        <p:nvSpPr>
          <p:cNvPr id="133" name="Google Shape;133;p2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34" name="Google Shape;134;p2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Welcome Back!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40" name="Google Shape;140;p3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Updates &amp; Sharing:</a:t>
            </a:r>
            <a:endParaRPr/>
          </a:p>
          <a:p>
            <a:pPr indent="-342900" lvl="1" marL="63550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/>
              <a:t>How did the money saving homework go?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Today’s Agenda:</a:t>
            </a:r>
            <a:endParaRPr/>
          </a:p>
          <a:p>
            <a:pPr indent="-342900" lvl="1" marL="54406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/>
              <a:t>Learn about person-directed planning and how it can be a useful tool.</a:t>
            </a:r>
            <a:endParaRPr/>
          </a:p>
          <a:p>
            <a:pPr indent="-342900" lvl="1" marL="54406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/>
              <a:t>Create your own unique person-centered plan to achieve your financial goals, which will include: </a:t>
            </a:r>
            <a:endParaRPr/>
          </a:p>
          <a:p>
            <a:pPr indent="-342900" lvl="2" marL="7269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Calibri"/>
              <a:buAutoNum type="alphaLcPeriod"/>
            </a:pPr>
            <a:r>
              <a:rPr lang="en-US" sz="1600"/>
              <a:t>Your life now</a:t>
            </a:r>
            <a:endParaRPr/>
          </a:p>
          <a:p>
            <a:pPr indent="-342900" lvl="2" marL="7269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Calibri"/>
              <a:buAutoNum type="alphaLcPeriod"/>
            </a:pPr>
            <a:r>
              <a:rPr lang="en-US" sz="1600"/>
              <a:t>What works and what doesn’t when it comes to your finances</a:t>
            </a:r>
            <a:endParaRPr/>
          </a:p>
          <a:p>
            <a:pPr indent="-342900" lvl="2" marL="7269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Calibri"/>
              <a:buAutoNum type="alphaLcPeriod"/>
            </a:pPr>
            <a:r>
              <a:rPr lang="en-US" sz="1600"/>
              <a:t>Your strengths, gifts and capacities</a:t>
            </a:r>
            <a:endParaRPr/>
          </a:p>
          <a:p>
            <a:pPr indent="-342900" lvl="2" marL="7269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Calibri"/>
              <a:buAutoNum type="alphaLcPeriod"/>
            </a:pPr>
            <a:r>
              <a:rPr lang="en-US" sz="1600"/>
              <a:t>Your financial dreams and goals</a:t>
            </a:r>
            <a:endParaRPr/>
          </a:p>
          <a:p>
            <a:pPr indent="-342900" lvl="2" marL="7269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Calibri"/>
              <a:buAutoNum type="alphaLcPeriod"/>
            </a:pPr>
            <a:r>
              <a:rPr lang="en-US" sz="1600"/>
              <a:t>Your life one year from now</a:t>
            </a:r>
            <a:endParaRPr/>
          </a:p>
          <a:p>
            <a:pPr indent="-342900" lvl="2" marL="7269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Calibri"/>
              <a:buAutoNum type="alphaLcPeriod"/>
            </a:pPr>
            <a:r>
              <a:rPr lang="en-US" sz="1600"/>
              <a:t>An action plan to achieve these financial/life goals</a:t>
            </a:r>
            <a:endParaRPr/>
          </a:p>
          <a:p>
            <a:pPr indent="-254000" lvl="2" marL="7269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1" name="Google Shape;141;p3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42" name="Google Shape;142;p3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Community Agreements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48" name="Google Shape;148;p4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50" name="Google Shape;150;p4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Learning Objectives</a:t>
            </a:r>
            <a:endParaRPr/>
          </a:p>
        </p:txBody>
      </p:sp>
      <p:sp>
        <p:nvSpPr>
          <p:cNvPr id="156" name="Google Shape;156;p5"/>
          <p:cNvSpPr txBox="1"/>
          <p:nvPr>
            <p:ph idx="1" type="body"/>
          </p:nvPr>
        </p:nvSpPr>
        <p:spPr>
          <a:xfrm>
            <a:off x="1097280" y="1876834"/>
            <a:ext cx="10205458" cy="1829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en-US" sz="1800"/>
              <a:t>Upon conclusion of Workshop 2, participants will: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/>
              <a:t>Have a basic understanding of person-centered planning and why it can be useful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/>
              <a:t>Create their own Person-Directed Plan (for their Financial Dream/Goal)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/>
              <a:t>Create an action plan for achieving their financial goals</a:t>
            </a:r>
            <a:endParaRPr/>
          </a:p>
        </p:txBody>
      </p:sp>
      <p:sp>
        <p:nvSpPr>
          <p:cNvPr id="157" name="Google Shape;157;p5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58" name="Google Shape;158;p5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9" name="Google Shape;15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0356" y="3706664"/>
            <a:ext cx="2337847" cy="2337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Person-Directed Planning (PDP)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65" name="Google Shape;165;p6"/>
          <p:cNvSpPr txBox="1"/>
          <p:nvPr>
            <p:ph idx="1" type="body"/>
          </p:nvPr>
        </p:nvSpPr>
        <p:spPr>
          <a:xfrm>
            <a:off x="1307345" y="1858091"/>
            <a:ext cx="7188882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solidFill>
                  <a:schemeClr val="dk1"/>
                </a:solidFill>
              </a:rPr>
              <a:t>What is person-directed planning?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 tool for making life changes and achieving life goals.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Focuses on your strengths and helps you to identify your long-term goals and the short-term steps you can take to get there.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solidFill>
                  <a:schemeClr val="dk1"/>
                </a:solidFill>
              </a:rPr>
              <a:t>The rules: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 Be gentle with yourself. 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 Dream big without barriers! Imagine your life in 1 year or 10 and identify the steps needed to move toward these dreams.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 Be open to the ideas of those around you. </a:t>
            </a:r>
            <a:endParaRPr/>
          </a:p>
        </p:txBody>
      </p:sp>
      <p:pic>
        <p:nvPicPr>
          <p:cNvPr id="166" name="Google Shape;16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6227" y="2651225"/>
            <a:ext cx="3418937" cy="192315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6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68" name="Google Shape;168;p6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Person-Directed Planning Worksheets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74" name="Google Shape;174;p7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In pairs or small groups, complete the </a:t>
            </a:r>
            <a:r>
              <a:rPr b="1" lang="en-US">
                <a:solidFill>
                  <a:schemeClr val="dk1"/>
                </a:solidFill>
              </a:rPr>
              <a:t>financial PDP worksheets </a:t>
            </a:r>
            <a:r>
              <a:rPr lang="en-US"/>
              <a:t>in your Student Guidebook: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Life now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What works/What doesn’t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Strengths, gifts, capacities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Financial Dream/Goal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Life one year from now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Action Plan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75" name="Google Shape;17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8805" y="2842054"/>
            <a:ext cx="3041891" cy="224078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7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77" name="Google Shape;177;p7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Bebas Neue"/>
              <a:buNone/>
            </a:pPr>
            <a:r>
              <a:rPr lang="en-US"/>
              <a:t>Example of a </a:t>
            </a:r>
            <a:r>
              <a:rPr lang="en-US">
                <a:solidFill>
                  <a:schemeClr val="dk2"/>
                </a:solidFill>
              </a:rPr>
              <a:t>Life Now </a:t>
            </a:r>
            <a:r>
              <a:rPr lang="en-US"/>
              <a:t>Worksheet:</a:t>
            </a:r>
            <a:endParaRPr/>
          </a:p>
        </p:txBody>
      </p:sp>
      <p:graphicFrame>
        <p:nvGraphicFramePr>
          <p:cNvPr id="183" name="Google Shape;183;p8"/>
          <p:cNvGraphicFramePr/>
          <p:nvPr/>
        </p:nvGraphicFramePr>
        <p:xfrm>
          <a:off x="3299381" y="1979629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{26692627-9E18-4BD5-ABD2-8DBCCBEE1CFC}</a:tableStyleId>
              </a:tblPr>
              <a:tblGrid>
                <a:gridCol w="5637225"/>
              </a:tblGrid>
              <a:tr h="55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Life NOW</a:t>
                      </a:r>
                      <a:endParaRPr b="1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</a:tr>
              <a:tr h="293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 live on SSI.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 live in a group home.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 have a checking account with $16.00 in it.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 don’t have any savings.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 don’t have a job.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My case manager makes most of my financial decisions.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 get nervous when I think about money.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  <p:sp>
        <p:nvSpPr>
          <p:cNvPr id="184" name="Google Shape;184;p8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85" name="Google Shape;185;p8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Bebas Neue"/>
              <a:buNone/>
            </a:pPr>
            <a:r>
              <a:rPr lang="en-US"/>
              <a:t>Example of a </a:t>
            </a:r>
            <a:r>
              <a:rPr lang="en-US">
                <a:solidFill>
                  <a:schemeClr val="dk2"/>
                </a:solidFill>
              </a:rPr>
              <a:t>What Works/What Doesn’t</a:t>
            </a:r>
            <a:r>
              <a:rPr lang="en-US"/>
              <a:t> Worksheet: </a:t>
            </a:r>
            <a:endParaRPr/>
          </a:p>
        </p:txBody>
      </p:sp>
      <p:graphicFrame>
        <p:nvGraphicFramePr>
          <p:cNvPr id="191" name="Google Shape;191;p9"/>
          <p:cNvGraphicFramePr/>
          <p:nvPr/>
        </p:nvGraphicFramePr>
        <p:xfrm>
          <a:off x="3176833" y="2064471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{26692627-9E18-4BD5-ABD2-8DBCCBEE1CFC}</a:tableStyleId>
              </a:tblPr>
              <a:tblGrid>
                <a:gridCol w="2856675"/>
                <a:gridCol w="3082200"/>
              </a:tblGrid>
              <a:tr h="556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Works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Doesn’t Work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</a:tr>
              <a:tr h="256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 am careful with my money.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 don’t lend friends any money.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 don’t borrow money from friends.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 am on time with making my loan payments every month.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When I am manic, sometimes I buy things I can’t afford.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 don’t have anything in savings.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 don’t have enough money to really do what I want to do.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  <p:sp>
        <p:nvSpPr>
          <p:cNvPr id="192" name="Google Shape;192;p9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93" name="Google Shape;193;p9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 txBox="1"/>
          <p:nvPr>
            <p:ph type="title"/>
          </p:nvPr>
        </p:nvSpPr>
        <p:spPr>
          <a:xfrm>
            <a:off x="1097279" y="286605"/>
            <a:ext cx="10678709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Bebas Neue"/>
              <a:buNone/>
            </a:pPr>
            <a:r>
              <a:rPr lang="en-US" sz="4400"/>
              <a:t>Example of a </a:t>
            </a:r>
            <a:r>
              <a:rPr lang="en-US" sz="4400">
                <a:solidFill>
                  <a:schemeClr val="dk2"/>
                </a:solidFill>
              </a:rPr>
              <a:t>Strengths, Gifts, Capacities </a:t>
            </a:r>
            <a:r>
              <a:rPr lang="en-US" sz="4400"/>
              <a:t>Worksheet</a:t>
            </a:r>
            <a:endParaRPr sz="4400"/>
          </a:p>
        </p:txBody>
      </p:sp>
      <p:graphicFrame>
        <p:nvGraphicFramePr>
          <p:cNvPr id="199" name="Google Shape;199;p10"/>
          <p:cNvGraphicFramePr/>
          <p:nvPr/>
        </p:nvGraphicFramePr>
        <p:xfrm>
          <a:off x="3412503" y="1998483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{26692627-9E18-4BD5-ABD2-8DBCCBEE1CFC}</a:tableStyleId>
              </a:tblPr>
              <a:tblGrid>
                <a:gridCol w="5099900"/>
              </a:tblGrid>
              <a:tr h="420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Strengths, Gifts, &amp; Capacities</a:t>
                      </a:r>
                      <a:endParaRPr b="1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</a:tr>
              <a:tr h="261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 have a great memory.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 am good with numbers.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 have a great sense of humor.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 keep organized records.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 am always on time for appointments.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 am very good with animals.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 stay active and am on three committees.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  <p:sp>
        <p:nvSpPr>
          <p:cNvPr id="200" name="Google Shape;200;p10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201" name="Google Shape;201;p10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Bebas Neue"/>
              <a:buNone/>
            </a:pPr>
            <a:r>
              <a:rPr lang="en-US"/>
              <a:t>Example of a </a:t>
            </a:r>
            <a:r>
              <a:rPr lang="en-US">
                <a:solidFill>
                  <a:schemeClr val="dk2"/>
                </a:solidFill>
              </a:rPr>
              <a:t>Financial Dream </a:t>
            </a:r>
            <a:r>
              <a:rPr lang="en-US"/>
              <a:t>Worksheet</a:t>
            </a:r>
            <a:endParaRPr/>
          </a:p>
        </p:txBody>
      </p:sp>
      <p:graphicFrame>
        <p:nvGraphicFramePr>
          <p:cNvPr id="207" name="Google Shape;207;p11"/>
          <p:cNvGraphicFramePr/>
          <p:nvPr/>
        </p:nvGraphicFramePr>
        <p:xfrm>
          <a:off x="3553905" y="190906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{26692627-9E18-4BD5-ABD2-8DBCCBEE1CFC}</a:tableStyleId>
              </a:tblPr>
              <a:tblGrid>
                <a:gridCol w="4439650"/>
              </a:tblGrid>
              <a:tr h="292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My Financial Dream/Goal</a:t>
                      </a:r>
                      <a:endParaRPr b="1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</a:tr>
              <a:tr h="380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 have a full-time job in an office.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 own a nice house in a good neighborhood.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 have my own dog.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 have a good car.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I plan trips to Hawaii and The Bahamas.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 have a credit card in my own name.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 have at least $5000.00 in savings.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 have a good retirement plan.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 go out to eat at a nice restaurant at least twice a month.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 have a hot tub.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  <p:sp>
        <p:nvSpPr>
          <p:cNvPr id="208" name="Google Shape;208;p11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209" name="Google Shape;209;p11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Discussion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15" name="Google Shape;215;p12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Any thoughts/questions/comments about the PDP process?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Share one item from your </a:t>
            </a:r>
            <a:r>
              <a:rPr lang="en-US">
                <a:solidFill>
                  <a:schemeClr val="accent2"/>
                </a:solidFill>
              </a:rPr>
              <a:t>Financial Dream </a:t>
            </a:r>
            <a:r>
              <a:rPr lang="en-US"/>
              <a:t>and/or </a:t>
            </a:r>
            <a:r>
              <a:rPr lang="en-US">
                <a:solidFill>
                  <a:schemeClr val="accent2"/>
                </a:solidFill>
              </a:rPr>
              <a:t>Action Plan </a:t>
            </a:r>
            <a:r>
              <a:rPr lang="en-US"/>
              <a:t>worksheets.</a:t>
            </a:r>
            <a:endParaRPr/>
          </a:p>
        </p:txBody>
      </p:sp>
      <p:pic>
        <p:nvPicPr>
          <p:cNvPr id="216" name="Google Shape;21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6775" y="3073138"/>
            <a:ext cx="6688834" cy="250753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2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218" name="Google Shape;218;p12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Wrap-Up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24" name="Google Shape;224;p13"/>
          <p:cNvSpPr txBox="1"/>
          <p:nvPr>
            <p:ph idx="1" type="body"/>
          </p:nvPr>
        </p:nvSpPr>
        <p:spPr>
          <a:xfrm>
            <a:off x="1097279" y="1845734"/>
            <a:ext cx="7366237" cy="41308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Thank you all for your participation today!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Are there any questions?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b="1" lang="en-US">
                <a:solidFill>
                  <a:schemeClr val="accent2"/>
                </a:solidFill>
              </a:rPr>
              <a:t>Homework: </a:t>
            </a:r>
            <a:endParaRPr/>
          </a:p>
          <a:p>
            <a:pPr indent="-457200" lvl="1" marL="74980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alibri"/>
              <a:buAutoNum type="alphaLcPeriod"/>
            </a:pPr>
            <a:r>
              <a:rPr lang="en-US"/>
              <a:t>Choose </a:t>
            </a:r>
            <a:r>
              <a:rPr b="1" lang="en-US"/>
              <a:t>one</a:t>
            </a:r>
            <a:r>
              <a:rPr lang="en-US"/>
              <a:t> </a:t>
            </a:r>
            <a:r>
              <a:rPr b="1" lang="en-US"/>
              <a:t>more </a:t>
            </a:r>
            <a:r>
              <a:rPr lang="en-US"/>
              <a:t>money saving idea and commit to it for the week.</a:t>
            </a:r>
            <a:endParaRPr/>
          </a:p>
          <a:p>
            <a:pPr indent="-457200" lvl="1" marL="74980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alibri"/>
              <a:buAutoNum type="alphaLcPeriod"/>
            </a:pPr>
            <a:r>
              <a:rPr lang="en-US"/>
              <a:t>Keep track of which ideas are going well and which are not. </a:t>
            </a:r>
            <a:r>
              <a:rPr lang="en-US"/>
              <a:t>Continue your money saving idea from last week if it was helpful. </a:t>
            </a:r>
            <a:endParaRPr/>
          </a:p>
          <a:p>
            <a:pPr indent="-457200" lvl="1" marL="74980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alibri"/>
              <a:buAutoNum type="alphaLcPeriod"/>
            </a:pPr>
            <a:r>
              <a:rPr lang="en-US"/>
              <a:t>Gather all of your </a:t>
            </a:r>
            <a:r>
              <a:rPr b="1" lang="en-US"/>
              <a:t>expenses</a:t>
            </a:r>
            <a:r>
              <a:rPr lang="en-US"/>
              <a:t> (bills, grocery costs, medicine etc.) and bring this list to next class to help you create a personalized budget.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225" name="Google Shape;22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62370" y="2626280"/>
            <a:ext cx="2989521" cy="204430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3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227" name="Google Shape;227;p13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Custom 1">
      <a:dk1>
        <a:srgbClr val="000000"/>
      </a:dk1>
      <a:lt1>
        <a:srgbClr val="FFFFFF"/>
      </a:lt1>
      <a:dk2>
        <a:srgbClr val="024B73"/>
      </a:dk2>
      <a:lt2>
        <a:srgbClr val="9DC541"/>
      </a:lt2>
      <a:accent1>
        <a:srgbClr val="564191"/>
      </a:accent1>
      <a:accent2>
        <a:srgbClr val="9DC541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2021-11-09T00:18:20Z</dcterms:created>
  <dc:creator>MHAOLADMIN</dc:creator>
</cp:coreProperties>
</file>