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9388475" cy="7102475"/>
  <p:embeddedFontLst>
    <p:embeddedFont>
      <p:font typeface="Bebas Neu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3" roundtripDataSignature="AMtx7mj8RW1IlSYNoh87D7CFzn2mGxXA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A24135-C0FF-4F58-B6E8-59F9E1323971}">
  <a:tblStyle styleId="{B6A24135-C0FF-4F58-B6E8-59F9E132397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BebasNeue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7964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8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18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26" name="Google Shape;2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2" name="Google Shape;3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9" name="Google Shape;3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1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21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48" name="Google Shape;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109728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2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57" name="Google Shape;5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2" name="Google Shape;6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4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8" name="Google Shape;6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" type="body"/>
          </p:nvPr>
        </p:nvSpPr>
        <p:spPr>
          <a:xfrm>
            <a:off x="4613650" y="731520"/>
            <a:ext cx="6679191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65513" y="6459787"/>
            <a:ext cx="26185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6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6"/>
          <p:cNvSpPr txBox="1"/>
          <p:nvPr>
            <p:ph type="title"/>
          </p:nvPr>
        </p:nvSpPr>
        <p:spPr>
          <a:xfrm>
            <a:off x="1097280" y="50749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26"/>
          <p:cNvPicPr preferRelativeResize="0"/>
          <p:nvPr>
            <p:ph idx="2" type="pic"/>
          </p:nvPr>
        </p:nvPicPr>
        <p:blipFill/>
        <p:spPr>
          <a:xfrm>
            <a:off x="17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26"/>
          <p:cNvSpPr txBox="1"/>
          <p:nvPr>
            <p:ph idx="1" type="body"/>
          </p:nvPr>
        </p:nvSpPr>
        <p:spPr>
          <a:xfrm>
            <a:off x="1097279" y="5907024"/>
            <a:ext cx="10119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6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" type="body"/>
          </p:nvPr>
        </p:nvSpPr>
        <p:spPr>
          <a:xfrm rot="5400000">
            <a:off x="4114799" y="-1171787"/>
            <a:ext cx="4023360" cy="10058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7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8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8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8"/>
          <p:cNvSpPr txBox="1"/>
          <p:nvPr>
            <p:ph type="title"/>
          </p:nvPr>
        </p:nvSpPr>
        <p:spPr>
          <a:xfrm rot="5400000">
            <a:off x="7160640" y="1979041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idx="1" type="body"/>
          </p:nvPr>
        </p:nvSpPr>
        <p:spPr>
          <a:xfrm rot="5400000">
            <a:off x="1826641" y="-573661"/>
            <a:ext cx="575742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 txBox="1"/>
          <p:nvPr>
            <p:ph type="title"/>
          </p:nvPr>
        </p:nvSpPr>
        <p:spPr>
          <a:xfrm>
            <a:off x="609601" y="274638"/>
            <a:ext cx="10970684" cy="1141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3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1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Bebas Neue"/>
              <a:buNone/>
              <a:defRPr b="0" sz="3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31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3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7"/>
          <p:cNvSpPr/>
          <p:nvPr/>
        </p:nvSpPr>
        <p:spPr>
          <a:xfrm>
            <a:off x="1" y="6334316"/>
            <a:ext cx="12192000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  <a:defRPr b="0" i="0" sz="4800" u="none" cap="none" strike="noStrike">
                <a:solidFill>
                  <a:srgbClr val="3F3F3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17" name="Google Shape;17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065" y="2586786"/>
            <a:ext cx="4890420" cy="366781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-988726" y="2415416"/>
            <a:ext cx="10113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WELCOME BACK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MONEY BASICS</a:t>
            </a:r>
            <a:endParaRPr i="0" sz="6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625130" y="4513846"/>
            <a:ext cx="68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Facilitated by: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name 1]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name 2]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ctrTitle"/>
          </p:nvPr>
        </p:nvSpPr>
        <p:spPr>
          <a:xfrm>
            <a:off x="1068387" y="768379"/>
            <a:ext cx="1052658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</a:pPr>
            <a:r>
              <a:rPr lang="en-US"/>
              <a:t>Mental Health, Relationships &amp; Money; Financial Crisis Plan</a:t>
            </a:r>
            <a:endParaRPr/>
          </a:p>
        </p:txBody>
      </p:sp>
      <p:sp>
        <p:nvSpPr>
          <p:cNvPr id="132" name="Google Shape;13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Workshop 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PG. 132 IN STUDENT GUIDE</a:t>
            </a:r>
            <a:endParaRPr/>
          </a:p>
        </p:txBody>
      </p:sp>
      <p:sp>
        <p:nvSpPr>
          <p:cNvPr id="133" name="Google Shape;133;p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Welcome Back!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939114" y="1845734"/>
            <a:ext cx="10775091" cy="4221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Updates &amp; Sharing: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How did the money saving homework go?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How are your budgets going?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Today’s Agenda: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the relationship between mental health challenges, financial insecurity, and living in poverty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the financial costs of substance use and gambling addictions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the relationship between physical health issues and financial issues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Create a Financial Crisis Plan and Payment Tracking Plan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how financial issues can affect relationships and how to communicate about money with your partner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what financial abuse is, how to identify warning signs, and resources for getting out of an abusive relationship</a:t>
            </a:r>
            <a:endParaRPr/>
          </a:p>
        </p:txBody>
      </p:sp>
      <p:sp>
        <p:nvSpPr>
          <p:cNvPr id="141" name="Google Shape;141;p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42" name="Google Shape;142;p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Community Agreements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0" name="Google Shape;150;p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Learning Objectives</a:t>
            </a:r>
            <a:endParaRPr/>
          </a:p>
        </p:txBody>
      </p:sp>
      <p:sp>
        <p:nvSpPr>
          <p:cNvPr id="156" name="Google Shape;156;p5"/>
          <p:cNvSpPr txBox="1"/>
          <p:nvPr>
            <p:ph idx="1" type="body"/>
          </p:nvPr>
        </p:nvSpPr>
        <p:spPr>
          <a:xfrm>
            <a:off x="1097280" y="1878764"/>
            <a:ext cx="8056147" cy="3720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 fontScale="92500" lnSpcReduction="20000"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  <a:p>
            <a:pPr indent="-105727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i="1" lang="en-US" sz="1800"/>
              <a:t>Upon conclusion of Workshop 8, participants will: </a:t>
            </a:r>
            <a:endParaRPr sz="1800"/>
          </a:p>
          <a:p>
            <a:pPr indent="-334327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1800"/>
              <a:t>Possess greater insight on how their mental health challenges and/or addictions/ substance use challenges affect their finances</a:t>
            </a:r>
            <a:endParaRPr/>
          </a:p>
          <a:p>
            <a:pPr indent="-334327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1800"/>
              <a:t>Possess a greater insight on how financial difficulties affect their mental health </a:t>
            </a:r>
            <a:endParaRPr/>
          </a:p>
          <a:p>
            <a:pPr indent="-334327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1800"/>
              <a:t>Have created (or started) a Financial Crisis Plan that works for their own unique situations</a:t>
            </a:r>
            <a:endParaRPr/>
          </a:p>
          <a:p>
            <a:pPr indent="-334327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1800"/>
              <a:t>Understand relationship issues and finances</a:t>
            </a:r>
            <a:endParaRPr/>
          </a:p>
          <a:p>
            <a:pPr indent="-334327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1800"/>
              <a:t>Know the warning signs of financial abuse and tips/resources to get out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 sz="1800"/>
          </a:p>
        </p:txBody>
      </p:sp>
      <p:sp>
        <p:nvSpPr>
          <p:cNvPr id="157" name="Google Shape;157;p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8" name="Google Shape;158;p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3427" y="2295970"/>
            <a:ext cx="2337847" cy="2337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The Relationship Between Mental Health Challenges &amp; Money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5" name="Google Shape;165;p6"/>
          <p:cNvSpPr txBox="1"/>
          <p:nvPr>
            <p:ph idx="1" type="body"/>
          </p:nvPr>
        </p:nvSpPr>
        <p:spPr>
          <a:xfrm>
            <a:off x="1097280" y="1845734"/>
            <a:ext cx="6477412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Reciprocal link: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 person’s mental health issues may affect their finances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 person’s financial situation may affect their mental health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Sometimes treatment for mental health issues can lead to financial struggles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Current and past lived experience of poverty, including housing and food insecurity, can impact a person’s mental, physical, and emotional well-being</a:t>
            </a:r>
            <a:br>
              <a:rPr lang="en-US"/>
            </a:b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t/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1898" y="2755558"/>
            <a:ext cx="3528626" cy="17643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68" name="Google Shape;168;p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Financial Costs of Addiction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4" name="Google Shape;174;p7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Costs of Substance Use Disorders: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Money spent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Loss of productivity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Lifestyle changes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Illness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Insurance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Legal bills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Loss of earned income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General money problems</a:t>
            </a:r>
            <a:endParaRPr/>
          </a:p>
        </p:txBody>
      </p:sp>
      <p:sp>
        <p:nvSpPr>
          <p:cNvPr id="175" name="Google Shape;175;p7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Costs of Problem Gambling: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Increased debt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Higher chance of bankruptcy and foreclosure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Recovery costs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Physical Health &amp; Financial Issues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1097279" y="1845734"/>
            <a:ext cx="9541889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i="1" lang="en-US"/>
              <a:t>What are some physical health issues that may be caused by financial insecurity or stress?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i="1" lang="en-US"/>
              <a:t>What are some ways physical health issues may lead to financial problems?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663247" y="447210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2128" y="3441346"/>
            <a:ext cx="3681269" cy="206151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88" name="Google Shape;188;p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Tips to Reduce Financial Stress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4" name="Google Shape;194;p9"/>
          <p:cNvSpPr txBox="1"/>
          <p:nvPr>
            <p:ph idx="1" type="body"/>
          </p:nvPr>
        </p:nvSpPr>
        <p:spPr>
          <a:xfrm>
            <a:off x="1097280" y="1845734"/>
            <a:ext cx="7243532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If possible, find additional sources of income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Stick to your budget and make adjustments when needed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Organize your debts and follow your personalized debt-reduction plan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Write down what aspects of your finances cause you stress and brainstorm possible solutions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Practice self-care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Seek support from family, friends, mentors, counselors, partners etc.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Make time to relax and have fun</a:t>
            </a:r>
            <a:endParaRPr/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072" y="3039762"/>
            <a:ext cx="3283449" cy="1551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97" name="Google Shape;197;p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Creating a Financial Crisis Plan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3" name="Google Shape;203;p1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Step 1: </a:t>
            </a:r>
            <a:r>
              <a:rPr lang="en-US"/>
              <a:t>How financial issues affect me 🡪 Never, rarely, sometimes, often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Step 2: </a:t>
            </a:r>
            <a:r>
              <a:rPr lang="en-US"/>
              <a:t>How mental health, addiction, recovery, and/or physical health issues affect my finances 🡪 Never, rarely, sometimes, often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Step 3: </a:t>
            </a:r>
            <a:r>
              <a:rPr lang="en-US"/>
              <a:t>Create your Financial Crisis Plan 🡪 “When I do this, I will do this instead”</a:t>
            </a:r>
            <a:br>
              <a:rPr lang="en-US"/>
            </a:br>
            <a:endParaRPr/>
          </a:p>
        </p:txBody>
      </p:sp>
      <p:pic>
        <p:nvPicPr>
          <p:cNvPr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5078" y="3878755"/>
            <a:ext cx="5197791" cy="199033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06" name="Google Shape;206;p1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Financial Crisis Plan: Example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12" name="Google Shape;212;p11"/>
          <p:cNvGraphicFramePr/>
          <p:nvPr/>
        </p:nvGraphicFramePr>
        <p:xfrm>
          <a:off x="1097280" y="184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{B6A24135-C0FF-4F58-B6E8-59F9E1323971}</a:tableStyleId>
              </a:tblPr>
              <a:tblGrid>
                <a:gridCol w="4899275"/>
                <a:gridCol w="5157150"/>
              </a:tblGrid>
              <a:tr h="37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When I do this (or experience this):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 will do this: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</a:tr>
              <a:tr h="85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My medication makes it hard for me to read the fine print on contracts and bills.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 will have a friend help me read my bills and contracts.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When I get depressed, I stop caring about my finances.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My friend will support me while I write checks for my bills.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When I am hospitalized, I can’t access my finances.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My friend will bring my billing statements, my checkbook, and stamps to me in the hospital. 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Rather than doing this: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 will do this instead: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</a:tr>
              <a:tr h="69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 lose my bills in piles of paperwork throughout my apartment.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 will keep my unpaid billing statements in one place where I can easily find them.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6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 avoid opening my mail.</a:t>
                      </a: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 will have my friend sit with me twice a week while I open my mail.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32100" marB="32100" marR="88650" marL="886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3" name="Google Shape;213;p11"/>
          <p:cNvSpPr/>
          <p:nvPr/>
        </p:nvSpPr>
        <p:spPr>
          <a:xfrm>
            <a:off x="-2664095" y="185351"/>
            <a:ext cx="228372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15" name="Google Shape;215;p1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Payment Tracking Plan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221" name="Google Shape;221;p12"/>
          <p:cNvGraphicFramePr/>
          <p:nvPr/>
        </p:nvGraphicFramePr>
        <p:xfrm>
          <a:off x="3200400" y="20239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{B6A24135-C0FF-4F58-B6E8-59F9E1323971}</a:tableStyleId>
              </a:tblPr>
              <a:tblGrid>
                <a:gridCol w="1781300"/>
                <a:gridCol w="1948625"/>
                <a:gridCol w="1417175"/>
                <a:gridCol w="944775"/>
              </a:tblGrid>
              <a:tr h="577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Company Name:</a:t>
                      </a:r>
                      <a:endParaRPr sz="18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Account Information:</a:t>
                      </a:r>
                      <a:endParaRPr sz="18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Payment Method:</a:t>
                      </a:r>
                      <a:endParaRPr sz="18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Due:</a:t>
                      </a:r>
                      <a:endParaRPr sz="18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D2D2"/>
                    </a:solidFill>
                  </a:tcPr>
                </a:tc>
              </a:tr>
              <a:tr h="86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Power Company</a:t>
                      </a: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123456789</a:t>
                      </a: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Automatic bill pay with my debit card</a:t>
                      </a:r>
                      <a:endParaRPr sz="12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5th of the month</a:t>
                      </a: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00" u="none" cap="none" strike="noStrike"/>
                      </a:br>
                      <a:endParaRPr sz="1200" u="none" cap="none" strike="noStrike"/>
                    </a:p>
                  </a:txBody>
                  <a:tcPr marT="45725" marB="457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1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24" name="Google Shape;224;p1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Identifying Someone to Support You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0" name="Google Shape;230;p13"/>
          <p:cNvSpPr txBox="1"/>
          <p:nvPr>
            <p:ph idx="1" type="body"/>
          </p:nvPr>
        </p:nvSpPr>
        <p:spPr>
          <a:xfrm>
            <a:off x="1097279" y="1845734"/>
            <a:ext cx="608199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Finding a Support Person </a:t>
            </a:r>
            <a:r>
              <a:rPr lang="en-US"/>
              <a:t>(friend, mentor, family member etc.):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Is this someone you know well and trust?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How reliable is this person?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How much assistance do you think you will need?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How will you let this person know what you need from them?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Representative Payees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You have the right to view your financial records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Your payee may </a:t>
            </a:r>
            <a:r>
              <a:rPr b="1" lang="en-US"/>
              <a:t>not</a:t>
            </a:r>
            <a:r>
              <a:rPr lang="en-US"/>
              <a:t> control wages you earn beyond SSI / SSD benefits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t/>
            </a:r>
            <a:endParaRPr/>
          </a:p>
        </p:txBody>
      </p:sp>
      <p:pic>
        <p:nvPicPr>
          <p:cNvPr id="231" name="Google Shape;2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460530"/>
            <a:ext cx="4469540" cy="256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33" name="Google Shape;233;p1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Relationship Issues &amp; Financial Issues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9" name="Google Shape;239;p14"/>
          <p:cNvSpPr txBox="1"/>
          <p:nvPr>
            <p:ph idx="1" type="body"/>
          </p:nvPr>
        </p:nvSpPr>
        <p:spPr>
          <a:xfrm>
            <a:off x="1097279" y="1845734"/>
            <a:ext cx="681104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Some money-related issues that can come up in a  relationships include: 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Different thoughts about spending and saving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The complications of sharing accounts and expenses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An inequality of money</a:t>
            </a:r>
            <a:endParaRPr/>
          </a:p>
          <a:p>
            <a:pPr indent="0" lvl="1" marL="2011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0" lvl="1" marL="2011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accent1"/>
                </a:solidFill>
              </a:rPr>
              <a:t>Discussion: </a:t>
            </a:r>
            <a:endParaRPr/>
          </a:p>
          <a:p>
            <a:pPr indent="0" lvl="1" marL="2011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What are some ways in which financial stress has affected your relationships?</a:t>
            </a:r>
            <a:endParaRPr/>
          </a:p>
          <a:p>
            <a:pPr indent="0" lvl="1" marL="2011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/>
          </a:p>
          <a:p>
            <a:pPr indent="0" lvl="1" marL="2011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What are some tips for communicating about financial issues effectively with your partner?</a:t>
            </a:r>
            <a:endParaRPr i="1"/>
          </a:p>
        </p:txBody>
      </p:sp>
      <p:pic>
        <p:nvPicPr>
          <p:cNvPr id="240" name="Google Shape;2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5862" y="2508422"/>
            <a:ext cx="3447854" cy="258256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42" name="Google Shape;242;p1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Financial Abuse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8" name="Google Shape;248;p15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Involves controlling a person’s ability to acquire and keep financial resources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Form of manipulation and maintaining power and control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Traps a survivor in an abusive relationship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Warning signs: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Your name is not on shared accounts or purchases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Your partner controls or uses your income and assets without permission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Your partner criticizes your job or discourages you from pursuing new career opportunities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Your partner criticizes your financial decisions and makes you account for all the money you spend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Resources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1600"/>
              <a:t>National Hotline:1-800-799-SAFE (7233)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1600"/>
              <a:t>Local organizations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249" name="Google Shape;249;p1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50" name="Google Shape;250;p1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Wrap-Up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6" name="Google Shape;256;p16"/>
          <p:cNvSpPr txBox="1"/>
          <p:nvPr>
            <p:ph idx="1" type="body"/>
          </p:nvPr>
        </p:nvSpPr>
        <p:spPr>
          <a:xfrm>
            <a:off x="1097279" y="1845734"/>
            <a:ext cx="7366237" cy="41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Thank you all for your participation today!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Are there any questions?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>
                <a:solidFill>
                  <a:schemeClr val="accent2"/>
                </a:solidFill>
              </a:rPr>
              <a:t>Homework: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Choose </a:t>
            </a:r>
            <a:r>
              <a:rPr b="1" lang="en-US"/>
              <a:t>one</a:t>
            </a:r>
            <a:r>
              <a:rPr lang="en-US"/>
              <a:t> </a:t>
            </a:r>
            <a:r>
              <a:rPr b="1" lang="en-US"/>
              <a:t>more </a:t>
            </a:r>
            <a:r>
              <a:rPr lang="en-US"/>
              <a:t>money saving idea and commit to it for the week. Keep track of which ideas are going well and which are not.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Commit to using your </a:t>
            </a:r>
            <a:r>
              <a:rPr b="1" lang="en-US"/>
              <a:t>personalized budget </a:t>
            </a:r>
            <a:r>
              <a:rPr lang="en-US"/>
              <a:t>for the next week.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Complete your</a:t>
            </a:r>
            <a:r>
              <a:rPr b="1" lang="en-US"/>
              <a:t> Financial Crisis Plan</a:t>
            </a:r>
            <a:r>
              <a:rPr lang="en-US"/>
              <a:t> (if you haven’t already) and</a:t>
            </a:r>
            <a:r>
              <a:rPr b="1" lang="en-US"/>
              <a:t> </a:t>
            </a:r>
            <a:r>
              <a:rPr lang="en-US"/>
              <a:t>share</a:t>
            </a:r>
            <a:r>
              <a:rPr b="1" lang="en-US"/>
              <a:t> </a:t>
            </a:r>
            <a:r>
              <a:rPr lang="en-US"/>
              <a:t>it</a:t>
            </a:r>
            <a:r>
              <a:rPr b="1" lang="en-US"/>
              <a:t> </a:t>
            </a:r>
            <a:r>
              <a:rPr lang="en-US"/>
              <a:t>with someone you trust.</a:t>
            </a:r>
            <a:endParaRPr/>
          </a:p>
          <a:p>
            <a:pPr indent="-3429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57" name="Google Shape;2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8294" y="2663350"/>
            <a:ext cx="2989521" cy="204430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59" name="Google Shape;259;p1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024B73"/>
      </a:dk2>
      <a:lt2>
        <a:srgbClr val="9DC541"/>
      </a:lt2>
      <a:accent1>
        <a:srgbClr val="564191"/>
      </a:accent1>
      <a:accent2>
        <a:srgbClr val="9DC541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2021-11-09T00:18:20Z</dcterms:created>
  <dc:creator>MHAOLADMIN</dc:creator>
</cp:coreProperties>
</file>