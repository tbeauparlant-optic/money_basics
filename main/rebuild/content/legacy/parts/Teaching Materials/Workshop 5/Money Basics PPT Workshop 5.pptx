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9388475" cy="7102475"/>
  <p:embeddedFontLst>
    <p:embeddedFont>
      <p:font typeface="Bebas Neue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4" roundtripDataSignature="AMtx7mhnKsREa+DLAB3vSMtxBRRJz8L2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BebasNeue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4068339" cy="35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317964" y="0"/>
            <a:ext cx="4068339" cy="35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317964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:notes"/>
          <p:cNvSpPr txBox="1"/>
          <p:nvPr>
            <p:ph idx="12" type="sldNum"/>
          </p:nvPr>
        </p:nvSpPr>
        <p:spPr>
          <a:xfrm>
            <a:off x="5317964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6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8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0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0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p20"/>
          <p:cNvCxnSpPr/>
          <p:nvPr/>
        </p:nvCxnSpPr>
        <p:spPr>
          <a:xfrm>
            <a:off x="1207659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26" name="Google Shape;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32" name="Google Shape;3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109728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22"/>
          <p:cNvSpPr txBox="1"/>
          <p:nvPr>
            <p:ph idx="4" type="body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41" name="Google Shape;4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1097280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2" type="body"/>
          </p:nvPr>
        </p:nvSpPr>
        <p:spPr>
          <a:xfrm>
            <a:off x="6217920" y="1845737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48" name="Google Shape;4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4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24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6" name="Google Shape;56;p24"/>
          <p:cNvCxnSpPr/>
          <p:nvPr/>
        </p:nvCxnSpPr>
        <p:spPr>
          <a:xfrm>
            <a:off x="1207659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57" name="Google Shape;5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62" name="Google Shape;6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6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68" name="Google Shape;6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7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7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ebas Neu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" type="body"/>
          </p:nvPr>
        </p:nvSpPr>
        <p:spPr>
          <a:xfrm>
            <a:off x="4613650" y="731520"/>
            <a:ext cx="6679191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465513" y="6459787"/>
            <a:ext cx="261851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800600" y="6459787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8"/>
          <p:cNvSpPr txBox="1"/>
          <p:nvPr>
            <p:ph type="title"/>
          </p:nvPr>
        </p:nvSpPr>
        <p:spPr>
          <a:xfrm>
            <a:off x="1097280" y="5074920"/>
            <a:ext cx="1011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ebas Neu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2" name="Google Shape;82;p28"/>
          <p:cNvPicPr preferRelativeResize="0"/>
          <p:nvPr>
            <p:ph idx="2" type="pic"/>
          </p:nvPr>
        </p:nvPicPr>
        <p:blipFill/>
        <p:spPr>
          <a:xfrm>
            <a:off x="17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3" name="Google Shape;83;p28"/>
          <p:cNvSpPr txBox="1"/>
          <p:nvPr>
            <p:ph idx="1" type="body"/>
          </p:nvPr>
        </p:nvSpPr>
        <p:spPr>
          <a:xfrm>
            <a:off x="1097279" y="5907024"/>
            <a:ext cx="10119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28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8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9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1" type="body"/>
          </p:nvPr>
        </p:nvSpPr>
        <p:spPr>
          <a:xfrm rot="5400000">
            <a:off x="4114799" y="-1171787"/>
            <a:ext cx="4023360" cy="10058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29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29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9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0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0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0"/>
          <p:cNvSpPr txBox="1"/>
          <p:nvPr>
            <p:ph type="title"/>
          </p:nvPr>
        </p:nvSpPr>
        <p:spPr>
          <a:xfrm rot="5400000">
            <a:off x="7160640" y="1979041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0"/>
          <p:cNvSpPr txBox="1"/>
          <p:nvPr>
            <p:ph idx="1" type="body"/>
          </p:nvPr>
        </p:nvSpPr>
        <p:spPr>
          <a:xfrm rot="5400000">
            <a:off x="1826641" y="-573661"/>
            <a:ext cx="575742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30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3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1"/>
          <p:cNvSpPr txBox="1"/>
          <p:nvPr>
            <p:ph type="title"/>
          </p:nvPr>
        </p:nvSpPr>
        <p:spPr>
          <a:xfrm>
            <a:off x="609601" y="274638"/>
            <a:ext cx="10970684" cy="1141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1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3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2"/>
          <p:cNvSpPr txBox="1"/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2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3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3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300"/>
              <a:buFont typeface="Bebas Neue"/>
              <a:buNone/>
              <a:defRPr b="0" sz="3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3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4" name="Google Shape;114;p33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3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9"/>
          <p:cNvSpPr/>
          <p:nvPr/>
        </p:nvSpPr>
        <p:spPr>
          <a:xfrm>
            <a:off x="1" y="6334316"/>
            <a:ext cx="12192000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9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Bebas Neue"/>
              <a:buNone/>
              <a:defRPr b="0" i="0" sz="4800" u="none" cap="none" strike="noStrike">
                <a:solidFill>
                  <a:srgbClr val="3F3F3F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9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19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17" name="Google Shape;17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0955" y="2404558"/>
            <a:ext cx="5037946" cy="377846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"/>
          <p:cNvSpPr txBox="1"/>
          <p:nvPr/>
        </p:nvSpPr>
        <p:spPr>
          <a:xfrm>
            <a:off x="-875409" y="2404558"/>
            <a:ext cx="10113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WELCOME BACK 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rPr>
              <a:t>MONEY BASICS</a:t>
            </a:r>
            <a:endParaRPr i="0" sz="6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478464" y="4481934"/>
            <a:ext cx="6858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Facilitated by: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[Facilitator 1 name]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[Facilitator 2 name]</a:t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26" name="Google Shape;126;p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</a:pPr>
            <a:r>
              <a:rPr lang="en-US"/>
              <a:t>Debit, ATMs, Online Banking &amp; Money Safety</a:t>
            </a:r>
            <a:endParaRPr/>
          </a:p>
        </p:txBody>
      </p:sp>
      <p:sp>
        <p:nvSpPr>
          <p:cNvPr id="132" name="Google Shape;132;p2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Workshop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/>
              <a:t>PG. 80 IN STUDENT GUIDE</a:t>
            </a:r>
            <a:endParaRPr/>
          </a:p>
        </p:txBody>
      </p:sp>
      <p:sp>
        <p:nvSpPr>
          <p:cNvPr id="133" name="Google Shape;133;p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34" name="Google Shape;134;p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Welcome Back!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0" name="Google Shape;140;p3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/>
              <a:t>Updates &amp; Sharing: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 sz="2200"/>
              <a:t>How did the money saving homework go?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 sz="2200"/>
              <a:t>How are your budgets going?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 sz="2200"/>
              <a:t>What bank fees did you find?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b="1" lang="en-US"/>
              <a:t>Today’s Agenda: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Learn about debit cards -- how they work, common questions, and how to prevent debit card fraud. 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Learn about ATMs and ATM Safety.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Learn about online banks, their pros and cons, and mobile banking options. 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Learn about direct deposit, Social Security payment options, and online bill payments.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Learn about money safety tips, how to protect yourself from identity fraud, and what to do if your identity or banking information has been stolen.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41" name="Google Shape;141;p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42" name="Google Shape;142;p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Community Agreements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8" name="Google Shape;148;p4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50" name="Google Shape;150;p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Learning Objectives</a:t>
            </a:r>
            <a:endParaRPr/>
          </a:p>
        </p:txBody>
      </p:sp>
      <p:sp>
        <p:nvSpPr>
          <p:cNvPr id="156" name="Google Shape;156;p5"/>
          <p:cNvSpPr txBox="1"/>
          <p:nvPr>
            <p:ph idx="1" type="body"/>
          </p:nvPr>
        </p:nvSpPr>
        <p:spPr>
          <a:xfrm>
            <a:off x="1097279" y="1845734"/>
            <a:ext cx="7198309" cy="402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-1143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i="1" lang="en-US" sz="1800"/>
              <a:t>Upon conclusion of Workshop 5, participants will: </a:t>
            </a:r>
            <a:endParaRPr sz="1800"/>
          </a:p>
          <a:p>
            <a:pPr indent="-457200" lvl="1" marL="7498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Understand how debit cards work and how to safely use them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Know how to use an ATM and know basic safety tips/how to recognize potentially dangerous situations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Have an understanding of online banking and available online options, Direct Deposit, and how to utilize online tools and services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Have an understanding of mobile banking apps and mobile money transfer apps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Know how to utilize online and automatic bill paying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Know key money safety tips and tips to minimize the risk of identity theft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57" name="Google Shape;157;p5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58" name="Google Shape;158;p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9" name="Google Shape;1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20773" y="2324453"/>
            <a:ext cx="2341067" cy="2341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Debit Cards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65" name="Google Shape;165;p6"/>
          <p:cNvSpPr txBox="1"/>
          <p:nvPr>
            <p:ph idx="1" type="body"/>
          </p:nvPr>
        </p:nvSpPr>
        <p:spPr>
          <a:xfrm>
            <a:off x="1097279" y="1845734"/>
            <a:ext cx="6798689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How do debit cards work?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Debit cards run through scanners at stores that enable your financial institution to 1) verify electronically that the funds are available and 2) approve the transaction.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Debit cards also can be used at ATMs and stores to withdraw cash from your account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FAQs about debit cards: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Common costs and fees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Rewards and incentives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55402" y="1845734"/>
            <a:ext cx="2657475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53329" y="3740067"/>
            <a:ext cx="2261622" cy="197213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69" name="Google Shape;169;p6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Money Safety Part 1: Debit Card Fraud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75" name="Google Shape;175;p7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Tips to avoid the risk of debit card fraud: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Memorize your PIN instead of writing it down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Never give out your PIN and other banking information over the Internet unless you initiated the contact or you can verify the person is who they say they are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Don’t share your debit card PIN, security code, and other account information with friends or relatives, including friends made over the Internet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When pumping gas or making purchases, always stand so no one can see you enter your PIN on the keypad.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Be careful when using your debit card for online shopping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Check your bank statements periodically for any discripencies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77" name="Google Shape;177;p7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How to Use an ATM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83" name="Google Shape;183;p8"/>
          <p:cNvSpPr txBox="1"/>
          <p:nvPr>
            <p:ph idx="1" type="body"/>
          </p:nvPr>
        </p:nvSpPr>
        <p:spPr>
          <a:xfrm>
            <a:off x="1097280" y="1845734"/>
            <a:ext cx="6709798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Insert or swipe your card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Enter your PIN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Accept charges (if the ATM is unaffiliated with your bank)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Choose a transaction: Withdrawal or Deposit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Request or decline a receipt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Remove your card and your money (if you made a withdrawal)</a:t>
            </a:r>
            <a:endParaRPr/>
          </a:p>
        </p:txBody>
      </p:sp>
      <p:pic>
        <p:nvPicPr>
          <p:cNvPr id="184" name="Google Shape;1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7077" y="1737362"/>
            <a:ext cx="3620452" cy="402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86" name="Google Shape;186;p8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Activity: ATM Safety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192" name="Google Shape;192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00" y="2495742"/>
            <a:ext cx="2695839" cy="270787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 txBox="1"/>
          <p:nvPr/>
        </p:nvSpPr>
        <p:spPr>
          <a:xfrm>
            <a:off x="1097281" y="1998482"/>
            <a:ext cx="7584806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Scenarios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 person attempting to use an ATM in a dark or secluded place.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While one person is using the ATM, another person shows up and begins peering over their shoulder.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The person who is about to use the ATM pulls out a piece of paper to read his or her PIN.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While one person is using the ATM, another person is persistent in offering to help.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Just as one person is about to use the ATM, they notice it looks different than it should.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After making a cash withdrawal ($200-$300), the person counts the cash in front of another nearby stranger.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95" name="Google Shape;195;p9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Money Safety Part 2: ATM Safety Tips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1" name="Google Shape;201;p10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85000" lnSpcReduction="10000"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Use an ATM in the center of a well-lit, public location. Bring another person with you, if possible.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Maintain awareness and be wary of people trying to help you with your transaction.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Don’t use an unusual-looking ATM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Don’t allow people to look over your shoulder as you enter your PIN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Don’t bring any valuables to your ATM transaction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Never count your cash in public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At a drive-up ATM, keep your engine running and your doors locked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Prepare your deposit paperwork ahead of time 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Closely monitor your bank statements and balance and report any problems to your bank immediately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AutoNum type="arabicPeriod"/>
            </a:pPr>
            <a:r>
              <a:rPr lang="en-US"/>
              <a:t>If you are involved in a confrontation, comply</a:t>
            </a:r>
            <a:endParaRPr/>
          </a:p>
          <a:p>
            <a:pPr indent="-34925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03" name="Google Shape;203;p1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Online Banking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9" name="Google Shape;209;p11"/>
          <p:cNvSpPr txBox="1"/>
          <p:nvPr>
            <p:ph idx="1" type="body"/>
          </p:nvPr>
        </p:nvSpPr>
        <p:spPr>
          <a:xfrm>
            <a:off x="1097280" y="1737362"/>
            <a:ext cx="5850275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Your bank’s website or mobile app can allow you to: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Check your balance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View all transactions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Transfer money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Deposit checks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Open a new account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lang="en-US"/>
              <a:t>Other services by websites and apps to help with your financial needs include:</a:t>
            </a:r>
            <a:endParaRPr/>
          </a:p>
          <a:p>
            <a:pPr indent="-342900" lvl="1" marL="54406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Budgeting</a:t>
            </a:r>
            <a:endParaRPr/>
          </a:p>
          <a:p>
            <a:pPr indent="-342900" lvl="1" marL="5440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Paying bills</a:t>
            </a:r>
            <a:endParaRPr/>
          </a:p>
          <a:p>
            <a:pPr indent="-342900" lvl="1" marL="5440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Sending and receiving money</a:t>
            </a:r>
            <a:endParaRPr/>
          </a:p>
          <a:p>
            <a:pPr indent="-342900" lvl="1" marL="5440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Investing</a:t>
            </a:r>
            <a:endParaRPr/>
          </a:p>
        </p:txBody>
      </p:sp>
      <p:pic>
        <p:nvPicPr>
          <p:cNvPr id="210" name="Google Shape;2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080" y="2573519"/>
            <a:ext cx="3657600" cy="210064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12" name="Google Shape;212;p1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Virtual Banks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18" name="Google Shape;218;p12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PROS:</a:t>
            </a:r>
            <a:endParaRPr/>
          </a:p>
        </p:txBody>
      </p:sp>
      <p:sp>
        <p:nvSpPr>
          <p:cNvPr id="219" name="Google Shape;219;p12"/>
          <p:cNvSpPr txBox="1"/>
          <p:nvPr>
            <p:ph idx="2" type="body"/>
          </p:nvPr>
        </p:nvSpPr>
        <p:spPr>
          <a:xfrm>
            <a:off x="109728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/>
              <a:t> Lower fees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/>
              <a:t> Better interest rates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/>
              <a:t> Convenience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/>
              <a:t> Accessibility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/>
              <a:t> Efficiency</a:t>
            </a:r>
            <a:endParaRPr/>
          </a:p>
        </p:txBody>
      </p:sp>
      <p:sp>
        <p:nvSpPr>
          <p:cNvPr id="220" name="Google Shape;220;p12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CONS:</a:t>
            </a:r>
            <a:endParaRPr/>
          </a:p>
        </p:txBody>
      </p:sp>
      <p:sp>
        <p:nvSpPr>
          <p:cNvPr id="221" name="Google Shape;221;p12"/>
          <p:cNvSpPr txBox="1"/>
          <p:nvPr>
            <p:ph idx="4" type="body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/>
              <a:t> Start-up time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/>
              <a:t> Difficulty depositing cash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/>
              <a:t> Fewer options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/>
              <a:t> Learning curve</a:t>
            </a:r>
            <a:endParaRPr/>
          </a:p>
        </p:txBody>
      </p:sp>
      <p:pic>
        <p:nvPicPr>
          <p:cNvPr id="222" name="Google Shape;22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9197" y="4509244"/>
            <a:ext cx="1905737" cy="1553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4306" y="4485981"/>
            <a:ext cx="28575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25" name="Google Shape;225;p1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5378" y="4415040"/>
            <a:ext cx="1233436" cy="62650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3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Additional Online &amp; Mobile Financial Services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2" name="Google Shape;232;p13"/>
          <p:cNvSpPr txBox="1"/>
          <p:nvPr>
            <p:ph idx="1" type="body"/>
          </p:nvPr>
        </p:nvSpPr>
        <p:spPr>
          <a:xfrm>
            <a:off x="1097280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solidFill>
                  <a:schemeClr val="dk2"/>
                </a:solidFill>
              </a:rPr>
              <a:t>Smartphone Applications: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Money Transfer apps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 Venmo, CashApp, Paypal, Zelle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Investment apps</a:t>
            </a:r>
            <a:endParaRPr/>
          </a:p>
          <a:p>
            <a:pPr indent="-285750" lvl="1" marL="57835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RobinHood, Acorns, E*Trade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Budgeting apps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Mint, PocketGuard, TrueBill</a:t>
            </a:r>
            <a:endParaRPr/>
          </a:p>
          <a:p>
            <a:pPr indent="-68579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t/>
            </a:r>
            <a:endParaRPr/>
          </a:p>
        </p:txBody>
      </p:sp>
      <p:sp>
        <p:nvSpPr>
          <p:cNvPr id="233" name="Google Shape;233;p13"/>
          <p:cNvSpPr txBox="1"/>
          <p:nvPr>
            <p:ph idx="2" type="body"/>
          </p:nvPr>
        </p:nvSpPr>
        <p:spPr>
          <a:xfrm>
            <a:off x="6217920" y="1845737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lang="en-US">
                <a:solidFill>
                  <a:schemeClr val="dk2"/>
                </a:solidFill>
              </a:rPr>
              <a:t>Automatic Bill Pay: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lang="en-US">
                <a:solidFill>
                  <a:schemeClr val="dk2"/>
                </a:solidFill>
              </a:rPr>
              <a:t> </a:t>
            </a:r>
            <a:r>
              <a:rPr lang="en-US">
                <a:solidFill>
                  <a:srgbClr val="595959"/>
                </a:solidFill>
              </a:rPr>
              <a:t>You agree to let a company take money out of your account each month to pay your bill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>
                <a:solidFill>
                  <a:srgbClr val="595959"/>
                </a:solidFill>
              </a:rPr>
              <a:t> Convenient and the best way to ensure you pay your bills on time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Make sure: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There are no fees attached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You have enough money in your account to cover the payment</a:t>
            </a:r>
            <a:endParaRPr/>
          </a:p>
        </p:txBody>
      </p:sp>
      <p:pic>
        <p:nvPicPr>
          <p:cNvPr id="234" name="Google Shape;23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4275" y="2449198"/>
            <a:ext cx="530066" cy="53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15409" y="3410465"/>
            <a:ext cx="573374" cy="57337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37" name="Google Shape;237;p1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Direct Deposit &amp; SSI Payments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43" name="Google Shape;243;p14"/>
          <p:cNvSpPr txBox="1"/>
          <p:nvPr>
            <p:ph idx="1" type="body"/>
          </p:nvPr>
        </p:nvSpPr>
        <p:spPr>
          <a:xfrm>
            <a:off x="1097279" y="1845734"/>
            <a:ext cx="5995499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Direct Deposit/ACH Payments: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Your employer can deposit your paycheck directly into your bank account, instead of writing you a check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 All you need to do is provide your account number and bank’s routing number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Social Security Payments: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You can also receive Social Security payments using direct deposit or the Direct Express debit card</a:t>
            </a:r>
            <a:endParaRPr/>
          </a:p>
        </p:txBody>
      </p:sp>
      <p:pic>
        <p:nvPicPr>
          <p:cNvPr id="244" name="Google Shape;2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3113" y="1955751"/>
            <a:ext cx="3355942" cy="206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7730" y="4238831"/>
            <a:ext cx="2647950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4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47" name="Google Shape;247;p1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Money Safety Part 3: Safely Banking Online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53" name="Google Shape;253;p15"/>
          <p:cNvSpPr txBox="1"/>
          <p:nvPr>
            <p:ph idx="1" type="body"/>
          </p:nvPr>
        </p:nvSpPr>
        <p:spPr>
          <a:xfrm>
            <a:off x="1097280" y="1845734"/>
            <a:ext cx="6366202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Tips for safe banking over the Internet: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Read key information on the bank’s website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Make sure you are on the bank’s official website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Make sure the bank is insured under the FDIC. Look for this logo: </a:t>
            </a:r>
            <a:endParaRPr/>
          </a:p>
        </p:txBody>
      </p:sp>
      <p:pic>
        <p:nvPicPr>
          <p:cNvPr id="254" name="Google Shape;25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8620" y="3952719"/>
            <a:ext cx="1834221" cy="782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6508" y="2375554"/>
            <a:ext cx="3529172" cy="235962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5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57" name="Google Shape;257;p1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Money Safety Part 4: Identity Theft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63" name="Google Shape;263;p16"/>
          <p:cNvSpPr txBox="1"/>
          <p:nvPr>
            <p:ph idx="1" type="body"/>
          </p:nvPr>
        </p:nvSpPr>
        <p:spPr>
          <a:xfrm>
            <a:off x="1097280" y="1883441"/>
            <a:ext cx="6971682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Tips to avoid identity theft: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Protect your personal information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Review your account transactions and statements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Practice phone and internet safety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Take immediate action: report and freeze your accounts</a:t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Additional money safety tips: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Don’t carry large amounts of cash on you or in your home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Be watchful of your surroundings and do not show money you have on hand</a:t>
            </a:r>
            <a:endParaRPr/>
          </a:p>
        </p:txBody>
      </p:sp>
      <p:pic>
        <p:nvPicPr>
          <p:cNvPr id="264" name="Google Shape;26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4184" y="2369058"/>
            <a:ext cx="4217710" cy="231742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6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66" name="Google Shape;266;p16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Discussion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72" name="Google Shape;272;p17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i="1" lang="en-US"/>
              <a:t>Are there any questions or comments about money safety?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i="1" lang="en-US"/>
              <a:t>Do you have any additional money safety tips or suggestions?</a:t>
            </a:r>
            <a:endParaRPr i="1"/>
          </a:p>
        </p:txBody>
      </p:sp>
      <p:pic>
        <p:nvPicPr>
          <p:cNvPr id="273" name="Google Shape;2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6066" y="3034002"/>
            <a:ext cx="6687892" cy="250567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7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75" name="Google Shape;275;p17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8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Wrap-Up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81" name="Google Shape;281;p18"/>
          <p:cNvSpPr txBox="1"/>
          <p:nvPr>
            <p:ph idx="1" type="body"/>
          </p:nvPr>
        </p:nvSpPr>
        <p:spPr>
          <a:xfrm>
            <a:off x="1097279" y="1845734"/>
            <a:ext cx="7198309" cy="4064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Thank you all for your participation!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Are there any questions?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b="1" lang="en-US">
                <a:solidFill>
                  <a:schemeClr val="accent2"/>
                </a:solidFill>
              </a:rPr>
              <a:t>Homework: 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Choose </a:t>
            </a:r>
            <a:r>
              <a:rPr b="1" lang="en-US"/>
              <a:t>one</a:t>
            </a:r>
            <a:r>
              <a:rPr lang="en-US"/>
              <a:t> </a:t>
            </a:r>
            <a:r>
              <a:rPr b="1" lang="en-US"/>
              <a:t>more </a:t>
            </a:r>
            <a:r>
              <a:rPr lang="en-US"/>
              <a:t>money saving idea and commit to it for the week. Keep track of which ideas are going well and which are not. 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Continue using your </a:t>
            </a:r>
            <a:r>
              <a:rPr b="1" lang="en-US"/>
              <a:t>budget</a:t>
            </a:r>
            <a:r>
              <a:rPr lang="en-US"/>
              <a:t> for the next week and revise it if needed.</a:t>
            </a:r>
            <a:endParaRPr/>
          </a:p>
          <a:p>
            <a:pPr indent="-3429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82" name="Google Shape;2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3516" y="2515069"/>
            <a:ext cx="2989521" cy="204430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8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84" name="Google Shape;284;p18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024B73"/>
      </a:dk2>
      <a:lt2>
        <a:srgbClr val="9DC541"/>
      </a:lt2>
      <a:accent1>
        <a:srgbClr val="564191"/>
      </a:accent1>
      <a:accent2>
        <a:srgbClr val="9DC541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2021-11-09T00:18:20Z</dcterms:created>
  <dc:creator>MHAOLADMIN</dc:creator>
</cp:coreProperties>
</file>